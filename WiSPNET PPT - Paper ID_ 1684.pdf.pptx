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883" r:id="rId3"/>
    <p:sldId id="885" r:id="rId4"/>
    <p:sldId id="891" r:id="rId5"/>
    <p:sldId id="886" r:id="rId6"/>
    <p:sldId id="895" r:id="rId7"/>
    <p:sldId id="896" r:id="rId8"/>
    <p:sldId id="890" r:id="rId9"/>
    <p:sldId id="893" r:id="rId10"/>
    <p:sldId id="894" r:id="rId11"/>
    <p:sldId id="897" r:id="rId12"/>
    <p:sldId id="888" r:id="rId13"/>
    <p:sldId id="889" r:id="rId14"/>
    <p:sldId id="898" r:id="rId15"/>
    <p:sldId id="88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196AEC-2A16-450D-9E3B-1A7EEF59C0A4}" type="datetimeFigureOut">
              <a:rPr lang="en-IN" smtClean="0"/>
              <a:t>30-09-2026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CBFB30-0EE4-412B-93B0-CFB355802477}" type="slidenum">
              <a:rPr lang="en-IN" smtClean="0"/>
              <a:t>‹#›</a:t>
            </a:fld>
            <a:endParaRPr lang="en-IN"/>
          </a:p>
        </p:txBody>
      </p:sp>
    </p:spTree>
    <p:extLst>
      <p:ext uri="{BB962C8B-B14F-4D97-AF65-F5344CB8AC3E}">
        <p14:creationId xmlns:p14="http://schemas.microsoft.com/office/powerpoint/2010/main" val="4851123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7CBFB30-0EE4-412B-93B0-CFB355802477}" type="slidenum">
              <a:rPr lang="en-IN" smtClean="0"/>
              <a:t>3</a:t>
            </a:fld>
            <a:endParaRPr lang="en-IN"/>
          </a:p>
        </p:txBody>
      </p:sp>
    </p:spTree>
    <p:extLst>
      <p:ext uri="{BB962C8B-B14F-4D97-AF65-F5344CB8AC3E}">
        <p14:creationId xmlns:p14="http://schemas.microsoft.com/office/powerpoint/2010/main" val="229245866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A55B7-551F-4D93-B120-ABCC696A15A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2048763-C926-579F-AC26-F459F73DE0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7289F0B-B7E9-D065-998A-7EB7D7E2CE0A}"/>
              </a:ext>
            </a:extLst>
          </p:cNvPr>
          <p:cNvSpPr>
            <a:spLocks noGrp="1"/>
          </p:cNvSpPr>
          <p:nvPr>
            <p:ph type="dt" sz="half" idx="10"/>
          </p:nvPr>
        </p:nvSpPr>
        <p:spPr/>
        <p:txBody>
          <a:bodyPr/>
          <a:lstStyle>
            <a:lvl1pPr algn="ctr">
              <a:defRPr/>
            </a:lvl1pPr>
          </a:lstStyle>
          <a:p>
            <a:fld id="{A724E691-64B5-4217-96C6-4C4BDE895E8B}" type="datetime1">
              <a:rPr lang="en-IN" smtClean="0"/>
              <a:t>30-09-2026</a:t>
            </a:fld>
            <a:endParaRPr lang="en-IN" dirty="0"/>
          </a:p>
        </p:txBody>
      </p:sp>
      <p:sp>
        <p:nvSpPr>
          <p:cNvPr id="5" name="Footer Placeholder 4">
            <a:extLst>
              <a:ext uri="{FF2B5EF4-FFF2-40B4-BE49-F238E27FC236}">
                <a16:creationId xmlns:a16="http://schemas.microsoft.com/office/drawing/2014/main" id="{7E28DDE8-68A8-54F7-546C-64D9DB99F76E}"/>
              </a:ext>
            </a:extLst>
          </p:cNvPr>
          <p:cNvSpPr>
            <a:spLocks noGrp="1"/>
          </p:cNvSpPr>
          <p:nvPr>
            <p:ph type="ftr" sz="quarter" idx="11"/>
          </p:nvPr>
        </p:nvSpPr>
        <p:spPr/>
        <p:txBody>
          <a:bodyPr/>
          <a:lstStyle/>
          <a:p>
            <a:r>
              <a:rPr lang="en-IN"/>
              <a:t>Your Organization NAme</a:t>
            </a:r>
          </a:p>
        </p:txBody>
      </p:sp>
      <p:sp>
        <p:nvSpPr>
          <p:cNvPr id="6" name="Slide Number Placeholder 5">
            <a:extLst>
              <a:ext uri="{FF2B5EF4-FFF2-40B4-BE49-F238E27FC236}">
                <a16:creationId xmlns:a16="http://schemas.microsoft.com/office/drawing/2014/main" id="{BF206EC8-35B1-976C-3815-6F295055408C}"/>
              </a:ext>
            </a:extLst>
          </p:cNvPr>
          <p:cNvSpPr>
            <a:spLocks noGrp="1"/>
          </p:cNvSpPr>
          <p:nvPr>
            <p:ph type="sldNum" sz="quarter" idx="12"/>
          </p:nvPr>
        </p:nvSpPr>
        <p:spPr/>
        <p:txBody>
          <a:bodyPr/>
          <a:lstStyle/>
          <a:p>
            <a:pPr algn="ctr"/>
            <a:fld id="{5065FCC5-0D2C-40B6-BCDE-2689FBEDE705}" type="slidenum">
              <a:rPr lang="en-IN" smtClean="0"/>
              <a:pPr algn="ctr"/>
              <a:t>‹#›</a:t>
            </a:fld>
            <a:endParaRPr lang="en-IN" dirty="0"/>
          </a:p>
        </p:txBody>
      </p:sp>
      <p:pic>
        <p:nvPicPr>
          <p:cNvPr id="7" name="Picture 6">
            <a:extLst>
              <a:ext uri="{FF2B5EF4-FFF2-40B4-BE49-F238E27FC236}">
                <a16:creationId xmlns:a16="http://schemas.microsoft.com/office/drawing/2014/main" id="{6E31058E-3B59-A476-7B57-90BF9E12C691}"/>
              </a:ext>
            </a:extLst>
          </p:cNvPr>
          <p:cNvPicPr>
            <a:picLocks noChangeAspect="1"/>
          </p:cNvPicPr>
          <p:nvPr userDrawn="1"/>
        </p:nvPicPr>
        <p:blipFill>
          <a:blip r:embed="rId2"/>
          <a:srcRect t="19940" b="22741"/>
          <a:stretch/>
        </p:blipFill>
        <p:spPr>
          <a:xfrm>
            <a:off x="10600957" y="5858418"/>
            <a:ext cx="1505686" cy="863057"/>
          </a:xfrm>
          <a:prstGeom prst="rect">
            <a:avLst/>
          </a:prstGeom>
        </p:spPr>
      </p:pic>
      <p:pic>
        <p:nvPicPr>
          <p:cNvPr id="8" name="Picture 7">
            <a:extLst>
              <a:ext uri="{FF2B5EF4-FFF2-40B4-BE49-F238E27FC236}">
                <a16:creationId xmlns:a16="http://schemas.microsoft.com/office/drawing/2014/main" id="{995D4615-3CEC-E9E9-DA5C-59EC92B73B6E}"/>
              </a:ext>
            </a:extLst>
          </p:cNvPr>
          <p:cNvPicPr>
            <a:picLocks noChangeAspect="1"/>
          </p:cNvPicPr>
          <p:nvPr userDrawn="1"/>
        </p:nvPicPr>
        <p:blipFill>
          <a:blip r:embed="rId3"/>
          <a:srcRect t="14545" b="20001"/>
          <a:stretch/>
        </p:blipFill>
        <p:spPr>
          <a:xfrm>
            <a:off x="14741" y="5725371"/>
            <a:ext cx="1009111" cy="1110099"/>
          </a:xfrm>
          <a:prstGeom prst="rect">
            <a:avLst/>
          </a:prstGeom>
        </p:spPr>
      </p:pic>
    </p:spTree>
    <p:extLst>
      <p:ext uri="{BB962C8B-B14F-4D97-AF65-F5344CB8AC3E}">
        <p14:creationId xmlns:p14="http://schemas.microsoft.com/office/powerpoint/2010/main" val="24505768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47A01-71CA-B1B5-88F4-289AD90F420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B90888F-7273-AD0F-E048-2F955F99A77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3110A16-E5A7-37AB-6DF7-5D27E879FB11}"/>
              </a:ext>
            </a:extLst>
          </p:cNvPr>
          <p:cNvSpPr>
            <a:spLocks noGrp="1"/>
          </p:cNvSpPr>
          <p:nvPr>
            <p:ph type="dt" sz="half" idx="10"/>
          </p:nvPr>
        </p:nvSpPr>
        <p:spPr/>
        <p:txBody>
          <a:bodyPr/>
          <a:lstStyle>
            <a:lvl1pPr algn="ctr">
              <a:defRPr/>
            </a:lvl1pPr>
          </a:lstStyle>
          <a:p>
            <a:fld id="{2FC80965-0283-4134-999A-F6B426BE88FB}" type="datetime1">
              <a:rPr lang="en-IN" smtClean="0"/>
              <a:t>30-09-2026</a:t>
            </a:fld>
            <a:endParaRPr lang="en-IN" dirty="0"/>
          </a:p>
        </p:txBody>
      </p:sp>
      <p:sp>
        <p:nvSpPr>
          <p:cNvPr id="5" name="Footer Placeholder 4">
            <a:extLst>
              <a:ext uri="{FF2B5EF4-FFF2-40B4-BE49-F238E27FC236}">
                <a16:creationId xmlns:a16="http://schemas.microsoft.com/office/drawing/2014/main" id="{3E297526-EE96-56BC-6440-453F5D325068}"/>
              </a:ext>
            </a:extLst>
          </p:cNvPr>
          <p:cNvSpPr>
            <a:spLocks noGrp="1"/>
          </p:cNvSpPr>
          <p:nvPr>
            <p:ph type="ftr" sz="quarter" idx="11"/>
          </p:nvPr>
        </p:nvSpPr>
        <p:spPr/>
        <p:txBody>
          <a:bodyPr/>
          <a:lstStyle/>
          <a:p>
            <a:r>
              <a:rPr lang="en-IN"/>
              <a:t>Your Organization NAme</a:t>
            </a:r>
          </a:p>
        </p:txBody>
      </p:sp>
      <p:sp>
        <p:nvSpPr>
          <p:cNvPr id="6" name="Slide Number Placeholder 5">
            <a:extLst>
              <a:ext uri="{FF2B5EF4-FFF2-40B4-BE49-F238E27FC236}">
                <a16:creationId xmlns:a16="http://schemas.microsoft.com/office/drawing/2014/main" id="{15D25F80-8CC5-8755-F2F6-EB6E2225464A}"/>
              </a:ext>
            </a:extLst>
          </p:cNvPr>
          <p:cNvSpPr>
            <a:spLocks noGrp="1"/>
          </p:cNvSpPr>
          <p:nvPr>
            <p:ph type="sldNum" sz="quarter" idx="12"/>
          </p:nvPr>
        </p:nvSpPr>
        <p:spPr/>
        <p:txBody>
          <a:bodyPr/>
          <a:lstStyle/>
          <a:p>
            <a:pPr algn="ctr"/>
            <a:fld id="{5065FCC5-0D2C-40B6-BCDE-2689FBEDE705}" type="slidenum">
              <a:rPr lang="en-IN" smtClean="0"/>
              <a:pPr algn="ctr"/>
              <a:t>‹#›</a:t>
            </a:fld>
            <a:endParaRPr lang="en-IN" dirty="0"/>
          </a:p>
        </p:txBody>
      </p:sp>
      <p:pic>
        <p:nvPicPr>
          <p:cNvPr id="7" name="Picture 6">
            <a:extLst>
              <a:ext uri="{FF2B5EF4-FFF2-40B4-BE49-F238E27FC236}">
                <a16:creationId xmlns:a16="http://schemas.microsoft.com/office/drawing/2014/main" id="{F735AC59-5320-74C9-6F0A-067904791722}"/>
              </a:ext>
            </a:extLst>
          </p:cNvPr>
          <p:cNvPicPr>
            <a:picLocks noChangeAspect="1"/>
          </p:cNvPicPr>
          <p:nvPr userDrawn="1"/>
        </p:nvPicPr>
        <p:blipFill>
          <a:blip r:embed="rId2"/>
          <a:srcRect t="19940" b="22741"/>
          <a:stretch/>
        </p:blipFill>
        <p:spPr>
          <a:xfrm>
            <a:off x="10600957" y="5858418"/>
            <a:ext cx="1505686" cy="863057"/>
          </a:xfrm>
          <a:prstGeom prst="rect">
            <a:avLst/>
          </a:prstGeom>
        </p:spPr>
      </p:pic>
      <p:pic>
        <p:nvPicPr>
          <p:cNvPr id="8" name="Picture 7">
            <a:extLst>
              <a:ext uri="{FF2B5EF4-FFF2-40B4-BE49-F238E27FC236}">
                <a16:creationId xmlns:a16="http://schemas.microsoft.com/office/drawing/2014/main" id="{7DF59DA3-B16B-A1DA-49BA-C3E82716CF22}"/>
              </a:ext>
            </a:extLst>
          </p:cNvPr>
          <p:cNvPicPr>
            <a:picLocks noChangeAspect="1"/>
          </p:cNvPicPr>
          <p:nvPr userDrawn="1"/>
        </p:nvPicPr>
        <p:blipFill>
          <a:blip r:embed="rId3"/>
          <a:srcRect t="14545" b="20001"/>
          <a:stretch/>
        </p:blipFill>
        <p:spPr>
          <a:xfrm>
            <a:off x="14741" y="5725371"/>
            <a:ext cx="1009111" cy="1110099"/>
          </a:xfrm>
          <a:prstGeom prst="rect">
            <a:avLst/>
          </a:prstGeom>
        </p:spPr>
      </p:pic>
    </p:spTree>
    <p:extLst>
      <p:ext uri="{BB962C8B-B14F-4D97-AF65-F5344CB8AC3E}">
        <p14:creationId xmlns:p14="http://schemas.microsoft.com/office/powerpoint/2010/main" val="28158238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30D30-F228-7F53-2E77-3154F1C80CA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1BA44D6-7B0A-3507-5C89-57DA5576943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B10EB67-C602-D33C-7CA5-960D2C6D3231}"/>
              </a:ext>
            </a:extLst>
          </p:cNvPr>
          <p:cNvSpPr>
            <a:spLocks noGrp="1"/>
          </p:cNvSpPr>
          <p:nvPr>
            <p:ph type="dt" sz="half" idx="10"/>
          </p:nvPr>
        </p:nvSpPr>
        <p:spPr/>
        <p:txBody>
          <a:bodyPr/>
          <a:lstStyle/>
          <a:p>
            <a:pPr algn="ctr"/>
            <a:fld id="{8448291A-E74F-49DA-8689-894CF3737800}" type="datetime1">
              <a:rPr lang="en-IN" smtClean="0"/>
              <a:t>30-09-2026</a:t>
            </a:fld>
            <a:endParaRPr lang="en-IN" dirty="0"/>
          </a:p>
        </p:txBody>
      </p:sp>
      <p:sp>
        <p:nvSpPr>
          <p:cNvPr id="5" name="Footer Placeholder 4">
            <a:extLst>
              <a:ext uri="{FF2B5EF4-FFF2-40B4-BE49-F238E27FC236}">
                <a16:creationId xmlns:a16="http://schemas.microsoft.com/office/drawing/2014/main" id="{DC6CA9B4-3FBE-A137-3AAD-9D6D37A37322}"/>
              </a:ext>
            </a:extLst>
          </p:cNvPr>
          <p:cNvSpPr>
            <a:spLocks noGrp="1"/>
          </p:cNvSpPr>
          <p:nvPr>
            <p:ph type="ftr" sz="quarter" idx="11"/>
          </p:nvPr>
        </p:nvSpPr>
        <p:spPr/>
        <p:txBody>
          <a:bodyPr/>
          <a:lstStyle/>
          <a:p>
            <a:r>
              <a:rPr lang="en-IN"/>
              <a:t>Your Organization NAme</a:t>
            </a:r>
          </a:p>
        </p:txBody>
      </p:sp>
      <p:sp>
        <p:nvSpPr>
          <p:cNvPr id="6" name="Slide Number Placeholder 5">
            <a:extLst>
              <a:ext uri="{FF2B5EF4-FFF2-40B4-BE49-F238E27FC236}">
                <a16:creationId xmlns:a16="http://schemas.microsoft.com/office/drawing/2014/main" id="{76F94A36-3C01-0509-0D94-9C86E4F90A90}"/>
              </a:ext>
            </a:extLst>
          </p:cNvPr>
          <p:cNvSpPr>
            <a:spLocks noGrp="1"/>
          </p:cNvSpPr>
          <p:nvPr>
            <p:ph type="sldNum" sz="quarter" idx="12"/>
          </p:nvPr>
        </p:nvSpPr>
        <p:spPr/>
        <p:txBody>
          <a:bodyPr/>
          <a:lstStyle/>
          <a:p>
            <a:pPr algn="ctr"/>
            <a:fld id="{5065FCC5-0D2C-40B6-BCDE-2689FBEDE705}" type="slidenum">
              <a:rPr lang="en-IN" smtClean="0"/>
              <a:pPr algn="ctr"/>
              <a:t>‹#›</a:t>
            </a:fld>
            <a:endParaRPr lang="en-IN" dirty="0"/>
          </a:p>
        </p:txBody>
      </p:sp>
      <p:pic>
        <p:nvPicPr>
          <p:cNvPr id="7" name="Picture 6">
            <a:extLst>
              <a:ext uri="{FF2B5EF4-FFF2-40B4-BE49-F238E27FC236}">
                <a16:creationId xmlns:a16="http://schemas.microsoft.com/office/drawing/2014/main" id="{3E5A60E3-91DA-92DD-997A-4DDC439A20AF}"/>
              </a:ext>
            </a:extLst>
          </p:cNvPr>
          <p:cNvPicPr>
            <a:picLocks noChangeAspect="1"/>
          </p:cNvPicPr>
          <p:nvPr userDrawn="1"/>
        </p:nvPicPr>
        <p:blipFill>
          <a:blip r:embed="rId2"/>
          <a:srcRect t="19940" b="22741"/>
          <a:stretch/>
        </p:blipFill>
        <p:spPr>
          <a:xfrm>
            <a:off x="10600957" y="5858418"/>
            <a:ext cx="1505686" cy="863057"/>
          </a:xfrm>
          <a:prstGeom prst="rect">
            <a:avLst/>
          </a:prstGeom>
        </p:spPr>
      </p:pic>
      <p:pic>
        <p:nvPicPr>
          <p:cNvPr id="8" name="Picture 7">
            <a:extLst>
              <a:ext uri="{FF2B5EF4-FFF2-40B4-BE49-F238E27FC236}">
                <a16:creationId xmlns:a16="http://schemas.microsoft.com/office/drawing/2014/main" id="{A6076ADA-F7F7-F25B-1AE6-726D2E4C37CE}"/>
              </a:ext>
            </a:extLst>
          </p:cNvPr>
          <p:cNvPicPr>
            <a:picLocks noChangeAspect="1"/>
          </p:cNvPicPr>
          <p:nvPr userDrawn="1"/>
        </p:nvPicPr>
        <p:blipFill>
          <a:blip r:embed="rId3"/>
          <a:srcRect t="14545" b="20001"/>
          <a:stretch/>
        </p:blipFill>
        <p:spPr>
          <a:xfrm>
            <a:off x="14741" y="5725371"/>
            <a:ext cx="1009111" cy="1110099"/>
          </a:xfrm>
          <a:prstGeom prst="rect">
            <a:avLst/>
          </a:prstGeom>
        </p:spPr>
      </p:pic>
    </p:spTree>
    <p:extLst>
      <p:ext uri="{BB962C8B-B14F-4D97-AF65-F5344CB8AC3E}">
        <p14:creationId xmlns:p14="http://schemas.microsoft.com/office/powerpoint/2010/main" val="4704283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88819-33F4-91BF-17B4-96C6BBFA07A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047F483-B091-140E-1A4B-8DDA117879F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06DFE29-D7BA-3CAB-B116-54DE7AB2FCF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9327AB0-ACF2-0FAD-3DE8-A83A4B804E47}"/>
              </a:ext>
            </a:extLst>
          </p:cNvPr>
          <p:cNvSpPr>
            <a:spLocks noGrp="1"/>
          </p:cNvSpPr>
          <p:nvPr>
            <p:ph type="dt" sz="half" idx="10"/>
          </p:nvPr>
        </p:nvSpPr>
        <p:spPr/>
        <p:txBody>
          <a:bodyPr/>
          <a:lstStyle>
            <a:lvl1pPr algn="ctr">
              <a:defRPr/>
            </a:lvl1pPr>
          </a:lstStyle>
          <a:p>
            <a:fld id="{E8A03A3D-22F2-4B59-B452-A1ADD496D69B}" type="datetime1">
              <a:rPr lang="en-IN" smtClean="0"/>
              <a:t>30-09-2026</a:t>
            </a:fld>
            <a:endParaRPr lang="en-IN"/>
          </a:p>
        </p:txBody>
      </p:sp>
      <p:sp>
        <p:nvSpPr>
          <p:cNvPr id="6" name="Footer Placeholder 5">
            <a:extLst>
              <a:ext uri="{FF2B5EF4-FFF2-40B4-BE49-F238E27FC236}">
                <a16:creationId xmlns:a16="http://schemas.microsoft.com/office/drawing/2014/main" id="{50544A57-7EFF-D57D-CE7F-479A8300D072}"/>
              </a:ext>
            </a:extLst>
          </p:cNvPr>
          <p:cNvSpPr>
            <a:spLocks noGrp="1"/>
          </p:cNvSpPr>
          <p:nvPr>
            <p:ph type="ftr" sz="quarter" idx="11"/>
          </p:nvPr>
        </p:nvSpPr>
        <p:spPr/>
        <p:txBody>
          <a:bodyPr/>
          <a:lstStyle/>
          <a:p>
            <a:r>
              <a:rPr lang="en-IN"/>
              <a:t>Your Organization NAme</a:t>
            </a:r>
          </a:p>
        </p:txBody>
      </p:sp>
      <p:sp>
        <p:nvSpPr>
          <p:cNvPr id="7" name="Slide Number Placeholder 6">
            <a:extLst>
              <a:ext uri="{FF2B5EF4-FFF2-40B4-BE49-F238E27FC236}">
                <a16:creationId xmlns:a16="http://schemas.microsoft.com/office/drawing/2014/main" id="{BAAB13A0-B953-BFF9-7BBF-1DD3DF07674C}"/>
              </a:ext>
            </a:extLst>
          </p:cNvPr>
          <p:cNvSpPr>
            <a:spLocks noGrp="1"/>
          </p:cNvSpPr>
          <p:nvPr>
            <p:ph type="sldNum" sz="quarter" idx="12"/>
          </p:nvPr>
        </p:nvSpPr>
        <p:spPr/>
        <p:txBody>
          <a:bodyPr/>
          <a:lstStyle>
            <a:lvl1pPr algn="ctr">
              <a:defRPr/>
            </a:lvl1pPr>
          </a:lstStyle>
          <a:p>
            <a:fld id="{5065FCC5-0D2C-40B6-BCDE-2689FBEDE705}" type="slidenum">
              <a:rPr lang="en-IN" smtClean="0"/>
              <a:pPr/>
              <a:t>‹#›</a:t>
            </a:fld>
            <a:endParaRPr lang="en-IN"/>
          </a:p>
        </p:txBody>
      </p:sp>
      <p:pic>
        <p:nvPicPr>
          <p:cNvPr id="8" name="Picture 7">
            <a:extLst>
              <a:ext uri="{FF2B5EF4-FFF2-40B4-BE49-F238E27FC236}">
                <a16:creationId xmlns:a16="http://schemas.microsoft.com/office/drawing/2014/main" id="{5D34BC52-1A0F-731D-7771-6419ADC17D55}"/>
              </a:ext>
            </a:extLst>
          </p:cNvPr>
          <p:cNvPicPr>
            <a:picLocks noChangeAspect="1"/>
          </p:cNvPicPr>
          <p:nvPr userDrawn="1"/>
        </p:nvPicPr>
        <p:blipFill>
          <a:blip r:embed="rId2"/>
          <a:srcRect t="19940" b="22741"/>
          <a:stretch/>
        </p:blipFill>
        <p:spPr>
          <a:xfrm>
            <a:off x="10600957" y="5858418"/>
            <a:ext cx="1505686" cy="863057"/>
          </a:xfrm>
          <a:prstGeom prst="rect">
            <a:avLst/>
          </a:prstGeom>
        </p:spPr>
      </p:pic>
      <p:pic>
        <p:nvPicPr>
          <p:cNvPr id="9" name="Picture 8">
            <a:extLst>
              <a:ext uri="{FF2B5EF4-FFF2-40B4-BE49-F238E27FC236}">
                <a16:creationId xmlns:a16="http://schemas.microsoft.com/office/drawing/2014/main" id="{21642330-72A9-D202-62DB-87ED0DA18C14}"/>
              </a:ext>
            </a:extLst>
          </p:cNvPr>
          <p:cNvPicPr>
            <a:picLocks noChangeAspect="1"/>
          </p:cNvPicPr>
          <p:nvPr userDrawn="1"/>
        </p:nvPicPr>
        <p:blipFill>
          <a:blip r:embed="rId3"/>
          <a:srcRect t="14545" b="20001"/>
          <a:stretch/>
        </p:blipFill>
        <p:spPr>
          <a:xfrm>
            <a:off x="14741" y="5725371"/>
            <a:ext cx="1009111" cy="1110099"/>
          </a:xfrm>
          <a:prstGeom prst="rect">
            <a:avLst/>
          </a:prstGeom>
        </p:spPr>
      </p:pic>
    </p:spTree>
    <p:extLst>
      <p:ext uri="{BB962C8B-B14F-4D97-AF65-F5344CB8AC3E}">
        <p14:creationId xmlns:p14="http://schemas.microsoft.com/office/powerpoint/2010/main" val="9172878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B0557-0449-D6AC-2A2D-494819D1DD3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E1F7A8B-0623-9CEC-B02F-77D6949BB61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0368CE9-A636-9D06-13DA-F46A8025741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44FC7CB-421D-4A09-E05A-0E224E65D55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1C4E0CF-3C0B-5AA7-E073-972E7E1F680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6711AB5-6554-EB94-0CC4-3F521CA121B7}"/>
              </a:ext>
            </a:extLst>
          </p:cNvPr>
          <p:cNvSpPr>
            <a:spLocks noGrp="1"/>
          </p:cNvSpPr>
          <p:nvPr>
            <p:ph type="dt" sz="half" idx="10"/>
          </p:nvPr>
        </p:nvSpPr>
        <p:spPr/>
        <p:txBody>
          <a:bodyPr/>
          <a:lstStyle>
            <a:lvl1pPr algn="ctr">
              <a:defRPr/>
            </a:lvl1pPr>
          </a:lstStyle>
          <a:p>
            <a:fld id="{80D88E8F-022B-4746-B297-04670F07270F}" type="datetime1">
              <a:rPr lang="en-IN" smtClean="0"/>
              <a:t>30-09-2026</a:t>
            </a:fld>
            <a:endParaRPr lang="en-IN"/>
          </a:p>
        </p:txBody>
      </p:sp>
      <p:sp>
        <p:nvSpPr>
          <p:cNvPr id="8" name="Footer Placeholder 7">
            <a:extLst>
              <a:ext uri="{FF2B5EF4-FFF2-40B4-BE49-F238E27FC236}">
                <a16:creationId xmlns:a16="http://schemas.microsoft.com/office/drawing/2014/main" id="{B5EF130D-4088-F0B3-595C-68221CCA94D0}"/>
              </a:ext>
            </a:extLst>
          </p:cNvPr>
          <p:cNvSpPr>
            <a:spLocks noGrp="1"/>
          </p:cNvSpPr>
          <p:nvPr>
            <p:ph type="ftr" sz="quarter" idx="11"/>
          </p:nvPr>
        </p:nvSpPr>
        <p:spPr/>
        <p:txBody>
          <a:bodyPr/>
          <a:lstStyle/>
          <a:p>
            <a:r>
              <a:rPr lang="en-IN"/>
              <a:t>Your Organization NAme</a:t>
            </a:r>
          </a:p>
        </p:txBody>
      </p:sp>
      <p:sp>
        <p:nvSpPr>
          <p:cNvPr id="9" name="Slide Number Placeholder 8">
            <a:extLst>
              <a:ext uri="{FF2B5EF4-FFF2-40B4-BE49-F238E27FC236}">
                <a16:creationId xmlns:a16="http://schemas.microsoft.com/office/drawing/2014/main" id="{D830EF10-0804-1393-AAFB-8EC9E29E6E99}"/>
              </a:ext>
            </a:extLst>
          </p:cNvPr>
          <p:cNvSpPr>
            <a:spLocks noGrp="1"/>
          </p:cNvSpPr>
          <p:nvPr>
            <p:ph type="sldNum" sz="quarter" idx="12"/>
          </p:nvPr>
        </p:nvSpPr>
        <p:spPr/>
        <p:txBody>
          <a:bodyPr/>
          <a:lstStyle>
            <a:lvl1pPr algn="ctr">
              <a:defRPr/>
            </a:lvl1pPr>
          </a:lstStyle>
          <a:p>
            <a:fld id="{5065FCC5-0D2C-40B6-BCDE-2689FBEDE705}" type="slidenum">
              <a:rPr lang="en-IN" smtClean="0"/>
              <a:pPr/>
              <a:t>‹#›</a:t>
            </a:fld>
            <a:endParaRPr lang="en-IN"/>
          </a:p>
        </p:txBody>
      </p:sp>
      <p:pic>
        <p:nvPicPr>
          <p:cNvPr id="10" name="Picture 9">
            <a:extLst>
              <a:ext uri="{FF2B5EF4-FFF2-40B4-BE49-F238E27FC236}">
                <a16:creationId xmlns:a16="http://schemas.microsoft.com/office/drawing/2014/main" id="{99E0DDD4-59C3-F289-FFEE-606ECC450EF3}"/>
              </a:ext>
            </a:extLst>
          </p:cNvPr>
          <p:cNvPicPr>
            <a:picLocks noChangeAspect="1"/>
          </p:cNvPicPr>
          <p:nvPr userDrawn="1"/>
        </p:nvPicPr>
        <p:blipFill>
          <a:blip r:embed="rId2"/>
          <a:srcRect t="19940" b="22741"/>
          <a:stretch/>
        </p:blipFill>
        <p:spPr>
          <a:xfrm>
            <a:off x="10600957" y="5858418"/>
            <a:ext cx="1505686" cy="863057"/>
          </a:xfrm>
          <a:prstGeom prst="rect">
            <a:avLst/>
          </a:prstGeom>
        </p:spPr>
      </p:pic>
      <p:pic>
        <p:nvPicPr>
          <p:cNvPr id="11" name="Picture 10">
            <a:extLst>
              <a:ext uri="{FF2B5EF4-FFF2-40B4-BE49-F238E27FC236}">
                <a16:creationId xmlns:a16="http://schemas.microsoft.com/office/drawing/2014/main" id="{9517B93A-2095-96F6-D33B-D3B89C8FFAB9}"/>
              </a:ext>
            </a:extLst>
          </p:cNvPr>
          <p:cNvPicPr>
            <a:picLocks noChangeAspect="1"/>
          </p:cNvPicPr>
          <p:nvPr userDrawn="1"/>
        </p:nvPicPr>
        <p:blipFill>
          <a:blip r:embed="rId3"/>
          <a:srcRect t="14545" b="20001"/>
          <a:stretch/>
        </p:blipFill>
        <p:spPr>
          <a:xfrm>
            <a:off x="14741" y="5725371"/>
            <a:ext cx="1009111" cy="1110099"/>
          </a:xfrm>
          <a:prstGeom prst="rect">
            <a:avLst/>
          </a:prstGeom>
        </p:spPr>
      </p:pic>
    </p:spTree>
    <p:extLst>
      <p:ext uri="{BB962C8B-B14F-4D97-AF65-F5344CB8AC3E}">
        <p14:creationId xmlns:p14="http://schemas.microsoft.com/office/powerpoint/2010/main" val="13967711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E6382-A509-9EDA-E8B9-144826806C4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EF08A53-EEA0-D574-B575-FB59DA721A29}"/>
              </a:ext>
            </a:extLst>
          </p:cNvPr>
          <p:cNvSpPr>
            <a:spLocks noGrp="1"/>
          </p:cNvSpPr>
          <p:nvPr>
            <p:ph type="dt" sz="half" idx="10"/>
          </p:nvPr>
        </p:nvSpPr>
        <p:spPr/>
        <p:txBody>
          <a:bodyPr/>
          <a:lstStyle>
            <a:lvl1pPr algn="ctr">
              <a:defRPr/>
            </a:lvl1pPr>
          </a:lstStyle>
          <a:p>
            <a:fld id="{2ACB2E5A-1112-4E00-9E12-C15A0431E1BD}" type="datetime1">
              <a:rPr lang="en-IN" smtClean="0"/>
              <a:t>30-09-2026</a:t>
            </a:fld>
            <a:endParaRPr lang="en-IN"/>
          </a:p>
        </p:txBody>
      </p:sp>
      <p:sp>
        <p:nvSpPr>
          <p:cNvPr id="4" name="Footer Placeholder 3">
            <a:extLst>
              <a:ext uri="{FF2B5EF4-FFF2-40B4-BE49-F238E27FC236}">
                <a16:creationId xmlns:a16="http://schemas.microsoft.com/office/drawing/2014/main" id="{09DD4DBB-4D35-3F15-ED65-DE5A52A7A9DE}"/>
              </a:ext>
            </a:extLst>
          </p:cNvPr>
          <p:cNvSpPr>
            <a:spLocks noGrp="1"/>
          </p:cNvSpPr>
          <p:nvPr>
            <p:ph type="ftr" sz="quarter" idx="11"/>
          </p:nvPr>
        </p:nvSpPr>
        <p:spPr/>
        <p:txBody>
          <a:bodyPr/>
          <a:lstStyle/>
          <a:p>
            <a:r>
              <a:rPr lang="en-IN"/>
              <a:t>Your Organization NAme</a:t>
            </a:r>
          </a:p>
        </p:txBody>
      </p:sp>
      <p:sp>
        <p:nvSpPr>
          <p:cNvPr id="5" name="Slide Number Placeholder 4">
            <a:extLst>
              <a:ext uri="{FF2B5EF4-FFF2-40B4-BE49-F238E27FC236}">
                <a16:creationId xmlns:a16="http://schemas.microsoft.com/office/drawing/2014/main" id="{EDB5DDFF-4813-8A63-C618-11F735952D57}"/>
              </a:ext>
            </a:extLst>
          </p:cNvPr>
          <p:cNvSpPr>
            <a:spLocks noGrp="1"/>
          </p:cNvSpPr>
          <p:nvPr>
            <p:ph type="sldNum" sz="quarter" idx="12"/>
          </p:nvPr>
        </p:nvSpPr>
        <p:spPr/>
        <p:txBody>
          <a:bodyPr/>
          <a:lstStyle/>
          <a:p>
            <a:pPr algn="ctr"/>
            <a:fld id="{5065FCC5-0D2C-40B6-BCDE-2689FBEDE705}" type="slidenum">
              <a:rPr lang="en-IN" smtClean="0"/>
              <a:pPr algn="ctr"/>
              <a:t>‹#›</a:t>
            </a:fld>
            <a:endParaRPr lang="en-IN" dirty="0"/>
          </a:p>
        </p:txBody>
      </p:sp>
      <p:pic>
        <p:nvPicPr>
          <p:cNvPr id="6" name="Picture 5">
            <a:extLst>
              <a:ext uri="{FF2B5EF4-FFF2-40B4-BE49-F238E27FC236}">
                <a16:creationId xmlns:a16="http://schemas.microsoft.com/office/drawing/2014/main" id="{33A3C03C-6AFA-9300-4431-28EA81F38DF3}"/>
              </a:ext>
            </a:extLst>
          </p:cNvPr>
          <p:cNvPicPr>
            <a:picLocks noChangeAspect="1"/>
          </p:cNvPicPr>
          <p:nvPr userDrawn="1"/>
        </p:nvPicPr>
        <p:blipFill>
          <a:blip r:embed="rId2"/>
          <a:srcRect t="19940" b="22741"/>
          <a:stretch/>
        </p:blipFill>
        <p:spPr>
          <a:xfrm>
            <a:off x="10600957" y="5858418"/>
            <a:ext cx="1505686" cy="863057"/>
          </a:xfrm>
          <a:prstGeom prst="rect">
            <a:avLst/>
          </a:prstGeom>
        </p:spPr>
      </p:pic>
      <p:pic>
        <p:nvPicPr>
          <p:cNvPr id="7" name="Picture 6">
            <a:extLst>
              <a:ext uri="{FF2B5EF4-FFF2-40B4-BE49-F238E27FC236}">
                <a16:creationId xmlns:a16="http://schemas.microsoft.com/office/drawing/2014/main" id="{58659824-91BC-D659-2145-D0D2407B7AF0}"/>
              </a:ext>
            </a:extLst>
          </p:cNvPr>
          <p:cNvPicPr>
            <a:picLocks noChangeAspect="1"/>
          </p:cNvPicPr>
          <p:nvPr userDrawn="1"/>
        </p:nvPicPr>
        <p:blipFill>
          <a:blip r:embed="rId3"/>
          <a:srcRect t="14545" b="20001"/>
          <a:stretch/>
        </p:blipFill>
        <p:spPr>
          <a:xfrm>
            <a:off x="14741" y="5725371"/>
            <a:ext cx="1009111" cy="1110099"/>
          </a:xfrm>
          <a:prstGeom prst="rect">
            <a:avLst/>
          </a:prstGeom>
        </p:spPr>
      </p:pic>
    </p:spTree>
    <p:extLst>
      <p:ext uri="{BB962C8B-B14F-4D97-AF65-F5344CB8AC3E}">
        <p14:creationId xmlns:p14="http://schemas.microsoft.com/office/powerpoint/2010/main" val="6719394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5458A82-F435-757D-7ACB-B3237690AD87}"/>
              </a:ext>
            </a:extLst>
          </p:cNvPr>
          <p:cNvSpPr>
            <a:spLocks noGrp="1"/>
          </p:cNvSpPr>
          <p:nvPr>
            <p:ph type="dt" sz="half" idx="10"/>
          </p:nvPr>
        </p:nvSpPr>
        <p:spPr/>
        <p:txBody>
          <a:bodyPr/>
          <a:lstStyle>
            <a:lvl1pPr algn="ctr">
              <a:defRPr/>
            </a:lvl1pPr>
          </a:lstStyle>
          <a:p>
            <a:fld id="{FC230B25-DEBE-4510-A43B-24D196E7FF62}" type="datetime1">
              <a:rPr lang="en-IN" smtClean="0"/>
              <a:t>30-09-2026</a:t>
            </a:fld>
            <a:endParaRPr lang="en-IN"/>
          </a:p>
        </p:txBody>
      </p:sp>
      <p:sp>
        <p:nvSpPr>
          <p:cNvPr id="3" name="Footer Placeholder 2">
            <a:extLst>
              <a:ext uri="{FF2B5EF4-FFF2-40B4-BE49-F238E27FC236}">
                <a16:creationId xmlns:a16="http://schemas.microsoft.com/office/drawing/2014/main" id="{12942893-6DD8-27E4-0E43-827597BEAC1C}"/>
              </a:ext>
            </a:extLst>
          </p:cNvPr>
          <p:cNvSpPr>
            <a:spLocks noGrp="1"/>
          </p:cNvSpPr>
          <p:nvPr>
            <p:ph type="ftr" sz="quarter" idx="11"/>
          </p:nvPr>
        </p:nvSpPr>
        <p:spPr/>
        <p:txBody>
          <a:bodyPr/>
          <a:lstStyle/>
          <a:p>
            <a:r>
              <a:rPr lang="en-IN"/>
              <a:t>Your Organization NAme</a:t>
            </a:r>
          </a:p>
        </p:txBody>
      </p:sp>
      <p:sp>
        <p:nvSpPr>
          <p:cNvPr id="4" name="Slide Number Placeholder 3">
            <a:extLst>
              <a:ext uri="{FF2B5EF4-FFF2-40B4-BE49-F238E27FC236}">
                <a16:creationId xmlns:a16="http://schemas.microsoft.com/office/drawing/2014/main" id="{D88D034E-918B-E43B-2E58-80672018889D}"/>
              </a:ext>
            </a:extLst>
          </p:cNvPr>
          <p:cNvSpPr>
            <a:spLocks noGrp="1"/>
          </p:cNvSpPr>
          <p:nvPr>
            <p:ph type="sldNum" sz="quarter" idx="12"/>
          </p:nvPr>
        </p:nvSpPr>
        <p:spPr/>
        <p:txBody>
          <a:bodyPr/>
          <a:lstStyle>
            <a:lvl1pPr algn="ctr">
              <a:defRPr/>
            </a:lvl1pPr>
          </a:lstStyle>
          <a:p>
            <a:fld id="{5065FCC5-0D2C-40B6-BCDE-2689FBEDE705}" type="slidenum">
              <a:rPr lang="en-IN" smtClean="0"/>
              <a:pPr/>
              <a:t>‹#›</a:t>
            </a:fld>
            <a:endParaRPr lang="en-IN"/>
          </a:p>
        </p:txBody>
      </p:sp>
      <p:pic>
        <p:nvPicPr>
          <p:cNvPr id="5" name="Picture 4">
            <a:extLst>
              <a:ext uri="{FF2B5EF4-FFF2-40B4-BE49-F238E27FC236}">
                <a16:creationId xmlns:a16="http://schemas.microsoft.com/office/drawing/2014/main" id="{9280FC9F-3A06-9054-4989-02B7679A6F7A}"/>
              </a:ext>
            </a:extLst>
          </p:cNvPr>
          <p:cNvPicPr>
            <a:picLocks noChangeAspect="1"/>
          </p:cNvPicPr>
          <p:nvPr userDrawn="1"/>
        </p:nvPicPr>
        <p:blipFill>
          <a:blip r:embed="rId2"/>
          <a:srcRect t="19940" b="22741"/>
          <a:stretch/>
        </p:blipFill>
        <p:spPr>
          <a:xfrm>
            <a:off x="10600957" y="5858418"/>
            <a:ext cx="1505686" cy="863057"/>
          </a:xfrm>
          <a:prstGeom prst="rect">
            <a:avLst/>
          </a:prstGeom>
        </p:spPr>
      </p:pic>
      <p:pic>
        <p:nvPicPr>
          <p:cNvPr id="6" name="Picture 5">
            <a:extLst>
              <a:ext uri="{FF2B5EF4-FFF2-40B4-BE49-F238E27FC236}">
                <a16:creationId xmlns:a16="http://schemas.microsoft.com/office/drawing/2014/main" id="{73A957D5-51EB-6AD6-450A-252352A2E503}"/>
              </a:ext>
            </a:extLst>
          </p:cNvPr>
          <p:cNvPicPr>
            <a:picLocks noChangeAspect="1"/>
          </p:cNvPicPr>
          <p:nvPr userDrawn="1"/>
        </p:nvPicPr>
        <p:blipFill>
          <a:blip r:embed="rId3"/>
          <a:srcRect t="14545" b="20001"/>
          <a:stretch/>
        </p:blipFill>
        <p:spPr>
          <a:xfrm>
            <a:off x="14741" y="5725371"/>
            <a:ext cx="1009111" cy="1110099"/>
          </a:xfrm>
          <a:prstGeom prst="rect">
            <a:avLst/>
          </a:prstGeom>
        </p:spPr>
      </p:pic>
    </p:spTree>
    <p:extLst>
      <p:ext uri="{BB962C8B-B14F-4D97-AF65-F5344CB8AC3E}">
        <p14:creationId xmlns:p14="http://schemas.microsoft.com/office/powerpoint/2010/main" val="16983667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165DC-AE83-5209-0241-1383B79F92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9DE787C-1FE5-0F3E-F6C6-A77BB50C139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6612F9F-2FCA-25A3-1335-60C60F01B7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70AD98-C1BF-7863-BFBA-A984BF48AF15}"/>
              </a:ext>
            </a:extLst>
          </p:cNvPr>
          <p:cNvSpPr>
            <a:spLocks noGrp="1"/>
          </p:cNvSpPr>
          <p:nvPr>
            <p:ph type="dt" sz="half" idx="10"/>
          </p:nvPr>
        </p:nvSpPr>
        <p:spPr/>
        <p:txBody>
          <a:bodyPr/>
          <a:lstStyle>
            <a:lvl1pPr algn="ctr">
              <a:defRPr/>
            </a:lvl1pPr>
          </a:lstStyle>
          <a:p>
            <a:fld id="{7443D00F-64A0-4AED-A471-5B705ECC67B0}" type="datetime1">
              <a:rPr lang="en-IN" smtClean="0"/>
              <a:t>30-09-2026</a:t>
            </a:fld>
            <a:endParaRPr lang="en-IN"/>
          </a:p>
        </p:txBody>
      </p:sp>
      <p:sp>
        <p:nvSpPr>
          <p:cNvPr id="6" name="Footer Placeholder 5">
            <a:extLst>
              <a:ext uri="{FF2B5EF4-FFF2-40B4-BE49-F238E27FC236}">
                <a16:creationId xmlns:a16="http://schemas.microsoft.com/office/drawing/2014/main" id="{9E4D9C35-D653-D426-ABBB-DE55B5C98F19}"/>
              </a:ext>
            </a:extLst>
          </p:cNvPr>
          <p:cNvSpPr>
            <a:spLocks noGrp="1"/>
          </p:cNvSpPr>
          <p:nvPr>
            <p:ph type="ftr" sz="quarter" idx="11"/>
          </p:nvPr>
        </p:nvSpPr>
        <p:spPr/>
        <p:txBody>
          <a:bodyPr/>
          <a:lstStyle/>
          <a:p>
            <a:r>
              <a:rPr lang="en-IN"/>
              <a:t>Your Organization NAme</a:t>
            </a:r>
          </a:p>
        </p:txBody>
      </p:sp>
      <p:sp>
        <p:nvSpPr>
          <p:cNvPr id="7" name="Slide Number Placeholder 6">
            <a:extLst>
              <a:ext uri="{FF2B5EF4-FFF2-40B4-BE49-F238E27FC236}">
                <a16:creationId xmlns:a16="http://schemas.microsoft.com/office/drawing/2014/main" id="{ED7F6F1F-5CE6-026F-1B1A-0F08799D4BD2}"/>
              </a:ext>
            </a:extLst>
          </p:cNvPr>
          <p:cNvSpPr>
            <a:spLocks noGrp="1"/>
          </p:cNvSpPr>
          <p:nvPr>
            <p:ph type="sldNum" sz="quarter" idx="12"/>
          </p:nvPr>
        </p:nvSpPr>
        <p:spPr/>
        <p:txBody>
          <a:bodyPr/>
          <a:lstStyle>
            <a:lvl1pPr algn="ctr">
              <a:defRPr/>
            </a:lvl1pPr>
          </a:lstStyle>
          <a:p>
            <a:fld id="{5065FCC5-0D2C-40B6-BCDE-2689FBEDE705}" type="slidenum">
              <a:rPr lang="en-IN" smtClean="0"/>
              <a:pPr/>
              <a:t>‹#›</a:t>
            </a:fld>
            <a:endParaRPr lang="en-IN"/>
          </a:p>
        </p:txBody>
      </p:sp>
      <p:pic>
        <p:nvPicPr>
          <p:cNvPr id="8" name="Picture 7">
            <a:extLst>
              <a:ext uri="{FF2B5EF4-FFF2-40B4-BE49-F238E27FC236}">
                <a16:creationId xmlns:a16="http://schemas.microsoft.com/office/drawing/2014/main" id="{7603DC17-6BDC-ED0A-5346-91192DE53732}"/>
              </a:ext>
            </a:extLst>
          </p:cNvPr>
          <p:cNvPicPr>
            <a:picLocks noChangeAspect="1"/>
          </p:cNvPicPr>
          <p:nvPr userDrawn="1"/>
        </p:nvPicPr>
        <p:blipFill>
          <a:blip r:embed="rId2"/>
          <a:srcRect t="19940" b="22741"/>
          <a:stretch/>
        </p:blipFill>
        <p:spPr>
          <a:xfrm>
            <a:off x="10600957" y="5858418"/>
            <a:ext cx="1505686" cy="863057"/>
          </a:xfrm>
          <a:prstGeom prst="rect">
            <a:avLst/>
          </a:prstGeom>
        </p:spPr>
      </p:pic>
      <p:pic>
        <p:nvPicPr>
          <p:cNvPr id="9" name="Picture 8">
            <a:extLst>
              <a:ext uri="{FF2B5EF4-FFF2-40B4-BE49-F238E27FC236}">
                <a16:creationId xmlns:a16="http://schemas.microsoft.com/office/drawing/2014/main" id="{AE211141-99AE-95C9-C40B-BE7A976E14C3}"/>
              </a:ext>
            </a:extLst>
          </p:cNvPr>
          <p:cNvPicPr>
            <a:picLocks noChangeAspect="1"/>
          </p:cNvPicPr>
          <p:nvPr userDrawn="1"/>
        </p:nvPicPr>
        <p:blipFill>
          <a:blip r:embed="rId3"/>
          <a:srcRect t="14545" b="20001"/>
          <a:stretch/>
        </p:blipFill>
        <p:spPr>
          <a:xfrm>
            <a:off x="14741" y="5725371"/>
            <a:ext cx="1009111" cy="1110099"/>
          </a:xfrm>
          <a:prstGeom prst="rect">
            <a:avLst/>
          </a:prstGeom>
        </p:spPr>
      </p:pic>
    </p:spTree>
    <p:extLst>
      <p:ext uri="{BB962C8B-B14F-4D97-AF65-F5344CB8AC3E}">
        <p14:creationId xmlns:p14="http://schemas.microsoft.com/office/powerpoint/2010/main" val="5043476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EFCF4-559C-6FDC-604F-6BB5606ED71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34D7BE3-9E4F-1BF9-B9E2-93A5D6A0638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FD7A7DC-5FB5-EEB5-A688-2729C30A5A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17606CD-AD84-7077-ECD7-A0DBB39657BC}"/>
              </a:ext>
            </a:extLst>
          </p:cNvPr>
          <p:cNvSpPr>
            <a:spLocks noGrp="1"/>
          </p:cNvSpPr>
          <p:nvPr>
            <p:ph type="dt" sz="half" idx="10"/>
          </p:nvPr>
        </p:nvSpPr>
        <p:spPr/>
        <p:txBody>
          <a:bodyPr/>
          <a:lstStyle>
            <a:lvl1pPr algn="ctr">
              <a:defRPr/>
            </a:lvl1pPr>
          </a:lstStyle>
          <a:p>
            <a:fld id="{733F8219-BCFB-4F2E-9CA2-F9EBC5D7270A}" type="datetime1">
              <a:rPr lang="en-IN" smtClean="0"/>
              <a:t>30-09-2026</a:t>
            </a:fld>
            <a:endParaRPr lang="en-IN"/>
          </a:p>
        </p:txBody>
      </p:sp>
      <p:sp>
        <p:nvSpPr>
          <p:cNvPr id="6" name="Footer Placeholder 5">
            <a:extLst>
              <a:ext uri="{FF2B5EF4-FFF2-40B4-BE49-F238E27FC236}">
                <a16:creationId xmlns:a16="http://schemas.microsoft.com/office/drawing/2014/main" id="{B1767BE4-BD18-B452-C8F4-1F2B2B304316}"/>
              </a:ext>
            </a:extLst>
          </p:cNvPr>
          <p:cNvSpPr>
            <a:spLocks noGrp="1"/>
          </p:cNvSpPr>
          <p:nvPr>
            <p:ph type="ftr" sz="quarter" idx="11"/>
          </p:nvPr>
        </p:nvSpPr>
        <p:spPr/>
        <p:txBody>
          <a:bodyPr/>
          <a:lstStyle/>
          <a:p>
            <a:r>
              <a:rPr lang="en-IN"/>
              <a:t>Your Organization NAme</a:t>
            </a:r>
          </a:p>
        </p:txBody>
      </p:sp>
      <p:sp>
        <p:nvSpPr>
          <p:cNvPr id="7" name="Slide Number Placeholder 6">
            <a:extLst>
              <a:ext uri="{FF2B5EF4-FFF2-40B4-BE49-F238E27FC236}">
                <a16:creationId xmlns:a16="http://schemas.microsoft.com/office/drawing/2014/main" id="{3BA661AB-1EF3-88B1-D678-32EF8849E442}"/>
              </a:ext>
            </a:extLst>
          </p:cNvPr>
          <p:cNvSpPr>
            <a:spLocks noGrp="1"/>
          </p:cNvSpPr>
          <p:nvPr>
            <p:ph type="sldNum" sz="quarter" idx="12"/>
          </p:nvPr>
        </p:nvSpPr>
        <p:spPr/>
        <p:txBody>
          <a:bodyPr/>
          <a:lstStyle>
            <a:lvl1pPr algn="ctr">
              <a:defRPr/>
            </a:lvl1pPr>
          </a:lstStyle>
          <a:p>
            <a:fld id="{5065FCC5-0D2C-40B6-BCDE-2689FBEDE705}" type="slidenum">
              <a:rPr lang="en-IN" smtClean="0"/>
              <a:pPr/>
              <a:t>‹#›</a:t>
            </a:fld>
            <a:endParaRPr lang="en-IN"/>
          </a:p>
        </p:txBody>
      </p:sp>
      <p:pic>
        <p:nvPicPr>
          <p:cNvPr id="8" name="Picture 7">
            <a:extLst>
              <a:ext uri="{FF2B5EF4-FFF2-40B4-BE49-F238E27FC236}">
                <a16:creationId xmlns:a16="http://schemas.microsoft.com/office/drawing/2014/main" id="{888D83E1-9B9D-F95E-142A-8FBA6D258E51}"/>
              </a:ext>
            </a:extLst>
          </p:cNvPr>
          <p:cNvPicPr>
            <a:picLocks noChangeAspect="1"/>
          </p:cNvPicPr>
          <p:nvPr userDrawn="1"/>
        </p:nvPicPr>
        <p:blipFill>
          <a:blip r:embed="rId2"/>
          <a:srcRect t="19940" b="22741"/>
          <a:stretch/>
        </p:blipFill>
        <p:spPr>
          <a:xfrm>
            <a:off x="10600957" y="5858418"/>
            <a:ext cx="1505686" cy="863057"/>
          </a:xfrm>
          <a:prstGeom prst="rect">
            <a:avLst/>
          </a:prstGeom>
        </p:spPr>
      </p:pic>
      <p:pic>
        <p:nvPicPr>
          <p:cNvPr id="9" name="Picture 8">
            <a:extLst>
              <a:ext uri="{FF2B5EF4-FFF2-40B4-BE49-F238E27FC236}">
                <a16:creationId xmlns:a16="http://schemas.microsoft.com/office/drawing/2014/main" id="{C985B06C-8ED2-15FA-6C00-C17349BE9E7E}"/>
              </a:ext>
            </a:extLst>
          </p:cNvPr>
          <p:cNvPicPr>
            <a:picLocks noChangeAspect="1"/>
          </p:cNvPicPr>
          <p:nvPr userDrawn="1"/>
        </p:nvPicPr>
        <p:blipFill>
          <a:blip r:embed="rId3"/>
          <a:srcRect t="14545" b="20001"/>
          <a:stretch/>
        </p:blipFill>
        <p:spPr>
          <a:xfrm>
            <a:off x="14741" y="5725371"/>
            <a:ext cx="1009111" cy="1110099"/>
          </a:xfrm>
          <a:prstGeom prst="rect">
            <a:avLst/>
          </a:prstGeom>
        </p:spPr>
      </p:pic>
    </p:spTree>
    <p:extLst>
      <p:ext uri="{BB962C8B-B14F-4D97-AF65-F5344CB8AC3E}">
        <p14:creationId xmlns:p14="http://schemas.microsoft.com/office/powerpoint/2010/main" val="33847805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C9890-EF20-EE67-D0A8-DCFA08158E1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051A5CC-988F-F384-173D-20EE4BA4CD8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FC46382-7AFD-5A41-81B6-CC77253C7462}"/>
              </a:ext>
            </a:extLst>
          </p:cNvPr>
          <p:cNvSpPr>
            <a:spLocks noGrp="1"/>
          </p:cNvSpPr>
          <p:nvPr>
            <p:ph type="dt" sz="half" idx="10"/>
          </p:nvPr>
        </p:nvSpPr>
        <p:spPr/>
        <p:txBody>
          <a:bodyPr/>
          <a:lstStyle>
            <a:lvl1pPr algn="ctr">
              <a:defRPr/>
            </a:lvl1pPr>
          </a:lstStyle>
          <a:p>
            <a:fld id="{F3841FC0-5110-46F2-9F0D-A3C00532DF80}" type="datetime1">
              <a:rPr lang="en-IN" smtClean="0"/>
              <a:t>30-09-2026</a:t>
            </a:fld>
            <a:endParaRPr lang="en-IN"/>
          </a:p>
        </p:txBody>
      </p:sp>
      <p:sp>
        <p:nvSpPr>
          <p:cNvPr id="5" name="Footer Placeholder 4">
            <a:extLst>
              <a:ext uri="{FF2B5EF4-FFF2-40B4-BE49-F238E27FC236}">
                <a16:creationId xmlns:a16="http://schemas.microsoft.com/office/drawing/2014/main" id="{44F4BE31-5201-1E9E-D84A-F178D03A4A59}"/>
              </a:ext>
            </a:extLst>
          </p:cNvPr>
          <p:cNvSpPr>
            <a:spLocks noGrp="1"/>
          </p:cNvSpPr>
          <p:nvPr>
            <p:ph type="ftr" sz="quarter" idx="11"/>
          </p:nvPr>
        </p:nvSpPr>
        <p:spPr/>
        <p:txBody>
          <a:bodyPr/>
          <a:lstStyle/>
          <a:p>
            <a:r>
              <a:rPr lang="en-IN"/>
              <a:t>Your Organization NAme</a:t>
            </a:r>
          </a:p>
        </p:txBody>
      </p:sp>
      <p:sp>
        <p:nvSpPr>
          <p:cNvPr id="6" name="Slide Number Placeholder 5">
            <a:extLst>
              <a:ext uri="{FF2B5EF4-FFF2-40B4-BE49-F238E27FC236}">
                <a16:creationId xmlns:a16="http://schemas.microsoft.com/office/drawing/2014/main" id="{836184B4-6582-017C-5070-57C703D4C5F0}"/>
              </a:ext>
            </a:extLst>
          </p:cNvPr>
          <p:cNvSpPr>
            <a:spLocks noGrp="1"/>
          </p:cNvSpPr>
          <p:nvPr>
            <p:ph type="sldNum" sz="quarter" idx="12"/>
          </p:nvPr>
        </p:nvSpPr>
        <p:spPr/>
        <p:txBody>
          <a:bodyPr/>
          <a:lstStyle>
            <a:lvl1pPr algn="ctr">
              <a:defRPr/>
            </a:lvl1pPr>
          </a:lstStyle>
          <a:p>
            <a:fld id="{5065FCC5-0D2C-40B6-BCDE-2689FBEDE705}" type="slidenum">
              <a:rPr lang="en-IN" smtClean="0"/>
              <a:pPr/>
              <a:t>‹#›</a:t>
            </a:fld>
            <a:endParaRPr lang="en-IN"/>
          </a:p>
        </p:txBody>
      </p:sp>
      <p:pic>
        <p:nvPicPr>
          <p:cNvPr id="7" name="Picture 6">
            <a:extLst>
              <a:ext uri="{FF2B5EF4-FFF2-40B4-BE49-F238E27FC236}">
                <a16:creationId xmlns:a16="http://schemas.microsoft.com/office/drawing/2014/main" id="{BE549559-EFC2-C897-B101-3E3A379E2E87}"/>
              </a:ext>
            </a:extLst>
          </p:cNvPr>
          <p:cNvPicPr>
            <a:picLocks noChangeAspect="1"/>
          </p:cNvPicPr>
          <p:nvPr userDrawn="1"/>
        </p:nvPicPr>
        <p:blipFill>
          <a:blip r:embed="rId2"/>
          <a:srcRect t="19940" b="22741"/>
          <a:stretch/>
        </p:blipFill>
        <p:spPr>
          <a:xfrm>
            <a:off x="10600957" y="5858418"/>
            <a:ext cx="1505686" cy="863057"/>
          </a:xfrm>
          <a:prstGeom prst="rect">
            <a:avLst/>
          </a:prstGeom>
        </p:spPr>
      </p:pic>
      <p:pic>
        <p:nvPicPr>
          <p:cNvPr id="8" name="Picture 7">
            <a:extLst>
              <a:ext uri="{FF2B5EF4-FFF2-40B4-BE49-F238E27FC236}">
                <a16:creationId xmlns:a16="http://schemas.microsoft.com/office/drawing/2014/main" id="{1F2A5760-5AC5-DE85-5BD1-C8CBADF1C652}"/>
              </a:ext>
            </a:extLst>
          </p:cNvPr>
          <p:cNvPicPr>
            <a:picLocks noChangeAspect="1"/>
          </p:cNvPicPr>
          <p:nvPr userDrawn="1"/>
        </p:nvPicPr>
        <p:blipFill>
          <a:blip r:embed="rId3"/>
          <a:srcRect t="14545" b="20001"/>
          <a:stretch/>
        </p:blipFill>
        <p:spPr>
          <a:xfrm>
            <a:off x="14741" y="5725371"/>
            <a:ext cx="1009111" cy="1110099"/>
          </a:xfrm>
          <a:prstGeom prst="rect">
            <a:avLst/>
          </a:prstGeom>
        </p:spPr>
      </p:pic>
    </p:spTree>
    <p:extLst>
      <p:ext uri="{BB962C8B-B14F-4D97-AF65-F5344CB8AC3E}">
        <p14:creationId xmlns:p14="http://schemas.microsoft.com/office/powerpoint/2010/main" val="7440966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BA01856-8273-A817-0902-77CC45E906E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B8F7540-EE00-2D25-3BB1-3E3C0998B2D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7664EC5-9DAA-920D-4F4F-6FF2B2349230}"/>
              </a:ext>
            </a:extLst>
          </p:cNvPr>
          <p:cNvSpPr>
            <a:spLocks noGrp="1"/>
          </p:cNvSpPr>
          <p:nvPr>
            <p:ph type="dt" sz="half" idx="10"/>
          </p:nvPr>
        </p:nvSpPr>
        <p:spPr/>
        <p:txBody>
          <a:bodyPr/>
          <a:lstStyle>
            <a:lvl1pPr algn="ctr">
              <a:defRPr/>
            </a:lvl1pPr>
          </a:lstStyle>
          <a:p>
            <a:fld id="{428C25A0-9A71-4A81-A7CF-B15828256627}" type="datetime1">
              <a:rPr lang="en-IN" smtClean="0"/>
              <a:t>30-09-2026</a:t>
            </a:fld>
            <a:endParaRPr lang="en-IN"/>
          </a:p>
        </p:txBody>
      </p:sp>
      <p:sp>
        <p:nvSpPr>
          <p:cNvPr id="5" name="Footer Placeholder 4">
            <a:extLst>
              <a:ext uri="{FF2B5EF4-FFF2-40B4-BE49-F238E27FC236}">
                <a16:creationId xmlns:a16="http://schemas.microsoft.com/office/drawing/2014/main" id="{6FB2F8A2-D159-F977-8204-7CAC8C7D04E2}"/>
              </a:ext>
            </a:extLst>
          </p:cNvPr>
          <p:cNvSpPr>
            <a:spLocks noGrp="1"/>
          </p:cNvSpPr>
          <p:nvPr>
            <p:ph type="ftr" sz="quarter" idx="11"/>
          </p:nvPr>
        </p:nvSpPr>
        <p:spPr/>
        <p:txBody>
          <a:bodyPr/>
          <a:lstStyle/>
          <a:p>
            <a:r>
              <a:rPr lang="en-IN"/>
              <a:t>Your Organization NAme</a:t>
            </a:r>
          </a:p>
        </p:txBody>
      </p:sp>
      <p:sp>
        <p:nvSpPr>
          <p:cNvPr id="6" name="Slide Number Placeholder 5">
            <a:extLst>
              <a:ext uri="{FF2B5EF4-FFF2-40B4-BE49-F238E27FC236}">
                <a16:creationId xmlns:a16="http://schemas.microsoft.com/office/drawing/2014/main" id="{90E280CA-AD5D-3B38-1BB4-C771EE7A88B6}"/>
              </a:ext>
            </a:extLst>
          </p:cNvPr>
          <p:cNvSpPr>
            <a:spLocks noGrp="1"/>
          </p:cNvSpPr>
          <p:nvPr>
            <p:ph type="sldNum" sz="quarter" idx="12"/>
          </p:nvPr>
        </p:nvSpPr>
        <p:spPr/>
        <p:txBody>
          <a:bodyPr/>
          <a:lstStyle>
            <a:lvl1pPr algn="ctr">
              <a:defRPr/>
            </a:lvl1pPr>
          </a:lstStyle>
          <a:p>
            <a:fld id="{5065FCC5-0D2C-40B6-BCDE-2689FBEDE705}" type="slidenum">
              <a:rPr lang="en-IN" smtClean="0"/>
              <a:pPr/>
              <a:t>‹#›</a:t>
            </a:fld>
            <a:endParaRPr lang="en-IN"/>
          </a:p>
        </p:txBody>
      </p:sp>
      <p:pic>
        <p:nvPicPr>
          <p:cNvPr id="7" name="Picture 6">
            <a:extLst>
              <a:ext uri="{FF2B5EF4-FFF2-40B4-BE49-F238E27FC236}">
                <a16:creationId xmlns:a16="http://schemas.microsoft.com/office/drawing/2014/main" id="{E60FD09F-C928-9F53-7B2A-C34AB6FB529F}"/>
              </a:ext>
            </a:extLst>
          </p:cNvPr>
          <p:cNvPicPr>
            <a:picLocks noChangeAspect="1"/>
          </p:cNvPicPr>
          <p:nvPr userDrawn="1"/>
        </p:nvPicPr>
        <p:blipFill>
          <a:blip r:embed="rId2"/>
          <a:srcRect t="19940" b="22741"/>
          <a:stretch/>
        </p:blipFill>
        <p:spPr>
          <a:xfrm>
            <a:off x="10600957" y="5858418"/>
            <a:ext cx="1505686" cy="863057"/>
          </a:xfrm>
          <a:prstGeom prst="rect">
            <a:avLst/>
          </a:prstGeom>
        </p:spPr>
      </p:pic>
      <p:pic>
        <p:nvPicPr>
          <p:cNvPr id="8" name="Picture 7">
            <a:extLst>
              <a:ext uri="{FF2B5EF4-FFF2-40B4-BE49-F238E27FC236}">
                <a16:creationId xmlns:a16="http://schemas.microsoft.com/office/drawing/2014/main" id="{ED91D2DB-EB3C-74BF-D105-A94328DD26F9}"/>
              </a:ext>
            </a:extLst>
          </p:cNvPr>
          <p:cNvPicPr>
            <a:picLocks noChangeAspect="1"/>
          </p:cNvPicPr>
          <p:nvPr userDrawn="1"/>
        </p:nvPicPr>
        <p:blipFill>
          <a:blip r:embed="rId3"/>
          <a:srcRect t="14545" b="20001"/>
          <a:stretch/>
        </p:blipFill>
        <p:spPr>
          <a:xfrm>
            <a:off x="14741" y="5725371"/>
            <a:ext cx="1009111" cy="1110099"/>
          </a:xfrm>
          <a:prstGeom prst="rect">
            <a:avLst/>
          </a:prstGeom>
        </p:spPr>
      </p:pic>
    </p:spTree>
    <p:extLst>
      <p:ext uri="{BB962C8B-B14F-4D97-AF65-F5344CB8AC3E}">
        <p14:creationId xmlns:p14="http://schemas.microsoft.com/office/powerpoint/2010/main" val="19252995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End Slide Layout">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609600" y="6356351"/>
            <a:ext cx="2844800" cy="365125"/>
          </a:xfrm>
        </p:spPr>
        <p:txBody>
          <a:bodyPr/>
          <a:lstStyle/>
          <a:p>
            <a:fld id="{D283535F-20DD-450A-B614-273846CF3EDF}" type="datetime1">
              <a:rPr lang="en-IN" smtClean="0"/>
              <a:t>30-09-2026</a:t>
            </a:fld>
            <a:endParaRPr lang="en-US"/>
          </a:p>
        </p:txBody>
      </p:sp>
      <p:sp>
        <p:nvSpPr>
          <p:cNvPr id="3" name="Footer Placeholder 4"/>
          <p:cNvSpPr>
            <a:spLocks noGrp="1"/>
          </p:cNvSpPr>
          <p:nvPr>
            <p:ph type="ftr" sz="quarter" idx="11"/>
          </p:nvPr>
        </p:nvSpPr>
        <p:spPr>
          <a:xfrm>
            <a:off x="4165600" y="6356351"/>
            <a:ext cx="3860800" cy="365125"/>
          </a:xfrm>
        </p:spPr>
        <p:txBody>
          <a:bodyPr/>
          <a:lstStyle/>
          <a:p>
            <a:r>
              <a:rPr lang="en-US"/>
              <a:t>Your Organization NAme</a:t>
            </a:r>
          </a:p>
        </p:txBody>
      </p:sp>
      <p:sp>
        <p:nvSpPr>
          <p:cNvPr id="4" name="Slide Number Placeholder 5"/>
          <p:cNvSpPr>
            <a:spLocks noGrp="1"/>
          </p:cNvSpPr>
          <p:nvPr>
            <p:ph type="sldNum" sz="quarter" idx="12"/>
          </p:nvPr>
        </p:nvSpPr>
        <p:spPr>
          <a:xfrm>
            <a:off x="8737600" y="6356351"/>
            <a:ext cx="2844800" cy="365125"/>
          </a:xfrm>
        </p:spPr>
        <p:txBody>
          <a:bodyPr/>
          <a:lstStyle/>
          <a:p>
            <a:fld id="{E375ED0F-F618-4291-A2C2-B9BB086914EB}" type="slidenum">
              <a:rPr lang="en-US" smtClean="0"/>
              <a:pPr/>
              <a:t>‹#›</a:t>
            </a:fld>
            <a:endParaRPr lang="en-US"/>
          </a:p>
        </p:txBody>
      </p:sp>
    </p:spTree>
    <p:extLst>
      <p:ext uri="{BB962C8B-B14F-4D97-AF65-F5344CB8AC3E}">
        <p14:creationId xmlns:p14="http://schemas.microsoft.com/office/powerpoint/2010/main" val="34762898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A331606-D891-8B40-F321-2EF6ED80F28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97745E3-FF6E-2F07-EFCA-53067892EC9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C2237FF-3A75-B596-4D95-8BF1AA2F3B1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fld id="{5671CA03-A455-415E-9B93-F2F6AA2A53A3}" type="datetime1">
              <a:rPr lang="en-IN" smtClean="0"/>
              <a:t>30-09-2026</a:t>
            </a:fld>
            <a:endParaRPr lang="en-IN"/>
          </a:p>
        </p:txBody>
      </p:sp>
      <p:sp>
        <p:nvSpPr>
          <p:cNvPr id="5" name="Footer Placeholder 4">
            <a:extLst>
              <a:ext uri="{FF2B5EF4-FFF2-40B4-BE49-F238E27FC236}">
                <a16:creationId xmlns:a16="http://schemas.microsoft.com/office/drawing/2014/main" id="{1DBEF9CC-1907-1CBF-AB99-851DB453AF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IN"/>
              <a:t>Your Organization NAme</a:t>
            </a:r>
          </a:p>
        </p:txBody>
      </p:sp>
      <p:sp>
        <p:nvSpPr>
          <p:cNvPr id="6" name="Slide Number Placeholder 5">
            <a:extLst>
              <a:ext uri="{FF2B5EF4-FFF2-40B4-BE49-F238E27FC236}">
                <a16:creationId xmlns:a16="http://schemas.microsoft.com/office/drawing/2014/main" id="{9F29B37B-1F5D-8C0C-5DF7-4E06708B5F2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fld id="{5065FCC5-0D2C-40B6-BCDE-2689FBEDE705}" type="slidenum">
              <a:rPr lang="en-IN" smtClean="0"/>
              <a:pPr/>
              <a:t>‹#›</a:t>
            </a:fld>
            <a:endParaRPr lang="en-IN"/>
          </a:p>
        </p:txBody>
      </p:sp>
      <p:pic>
        <p:nvPicPr>
          <p:cNvPr id="7" name="Picture 6">
            <a:extLst>
              <a:ext uri="{FF2B5EF4-FFF2-40B4-BE49-F238E27FC236}">
                <a16:creationId xmlns:a16="http://schemas.microsoft.com/office/drawing/2014/main" id="{1EDA7962-8176-8D2C-4519-3156380436E0}"/>
              </a:ext>
            </a:extLst>
          </p:cNvPr>
          <p:cNvPicPr>
            <a:picLocks noChangeAspect="1"/>
          </p:cNvPicPr>
          <p:nvPr userDrawn="1"/>
        </p:nvPicPr>
        <p:blipFill>
          <a:blip r:embed="rId14"/>
          <a:srcRect t="19940" b="22741"/>
          <a:stretch/>
        </p:blipFill>
        <p:spPr>
          <a:xfrm>
            <a:off x="10600957" y="5858418"/>
            <a:ext cx="1505686" cy="863057"/>
          </a:xfrm>
          <a:prstGeom prst="rect">
            <a:avLst/>
          </a:prstGeom>
        </p:spPr>
      </p:pic>
      <p:pic>
        <p:nvPicPr>
          <p:cNvPr id="8" name="Picture 7">
            <a:extLst>
              <a:ext uri="{FF2B5EF4-FFF2-40B4-BE49-F238E27FC236}">
                <a16:creationId xmlns:a16="http://schemas.microsoft.com/office/drawing/2014/main" id="{24E09BDE-75E0-53DC-CAD8-83EFA2EBD1C7}"/>
              </a:ext>
            </a:extLst>
          </p:cNvPr>
          <p:cNvPicPr>
            <a:picLocks noChangeAspect="1"/>
          </p:cNvPicPr>
          <p:nvPr userDrawn="1"/>
        </p:nvPicPr>
        <p:blipFill>
          <a:blip r:embed="rId15"/>
          <a:srcRect t="14545" b="20001"/>
          <a:stretch/>
        </p:blipFill>
        <p:spPr>
          <a:xfrm>
            <a:off x="14741" y="5725371"/>
            <a:ext cx="1009111" cy="1110099"/>
          </a:xfrm>
          <a:prstGeom prst="rect">
            <a:avLst/>
          </a:prstGeom>
        </p:spPr>
      </p:pic>
    </p:spTree>
    <p:extLst>
      <p:ext uri="{BB962C8B-B14F-4D97-AF65-F5344CB8AC3E}">
        <p14:creationId xmlns:p14="http://schemas.microsoft.com/office/powerpoint/2010/main" val="20673674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8.jpg"/></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8.jp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9.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402DADF-8B5D-3D5A-F059-E7E877A85725}"/>
              </a:ext>
            </a:extLst>
          </p:cNvPr>
          <p:cNvSpPr>
            <a:spLocks noGrp="1"/>
          </p:cNvSpPr>
          <p:nvPr>
            <p:ph type="subTitle" idx="1"/>
          </p:nvPr>
        </p:nvSpPr>
        <p:spPr/>
        <p:txBody>
          <a:bodyPr/>
          <a:lstStyle/>
          <a:p>
            <a:r>
              <a:rPr lang="en-US" dirty="0">
                <a:latin typeface="Times New Roman" panose="02020603050405020304" pitchFamily="18" charset="0"/>
                <a:cs typeface="Times New Roman" panose="02020603050405020304" pitchFamily="18" charset="0"/>
              </a:rPr>
              <a:t>Sivakrishna Manoj</a:t>
            </a:r>
          </a:p>
          <a:p>
            <a:r>
              <a:rPr lang="en-US" dirty="0">
                <a:latin typeface="Times New Roman" panose="02020603050405020304" pitchFamily="18" charset="0"/>
                <a:cs typeface="Times New Roman" panose="02020603050405020304" pitchFamily="18" charset="0"/>
              </a:rPr>
              <a:t>Dept. of ECE, SRM </a:t>
            </a:r>
            <a:r>
              <a:rPr lang="en-IN" dirty="0">
                <a:latin typeface="Times New Roman" panose="02020603050405020304" pitchFamily="18" charset="0"/>
                <a:cs typeface="Times New Roman" panose="02020603050405020304" pitchFamily="18" charset="0"/>
              </a:rPr>
              <a:t>Institute of Science and Technology</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WiSPNET, 22</a:t>
            </a:r>
            <a:r>
              <a:rPr lang="en-US" baseline="30000" dirty="0">
                <a:latin typeface="Times New Roman" panose="02020603050405020304" pitchFamily="18" charset="0"/>
                <a:cs typeface="Times New Roman" panose="02020603050405020304" pitchFamily="18" charset="0"/>
              </a:rPr>
              <a:t>nd</a:t>
            </a:r>
            <a:r>
              <a:rPr lang="en-US" dirty="0">
                <a:latin typeface="Times New Roman" panose="02020603050405020304" pitchFamily="18" charset="0"/>
                <a:cs typeface="Times New Roman" panose="02020603050405020304" pitchFamily="18" charset="0"/>
              </a:rPr>
              <a:t> March 2025</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DD2F2DC-CD9A-A2BD-CDC3-573D0BBF3DFF}"/>
              </a:ext>
            </a:extLst>
          </p:cNvPr>
          <p:cNvPicPr>
            <a:picLocks noChangeAspect="1"/>
          </p:cNvPicPr>
          <p:nvPr/>
        </p:nvPicPr>
        <p:blipFill>
          <a:blip r:embed="rId2"/>
          <a:srcRect t="14545" b="20001"/>
          <a:stretch/>
        </p:blipFill>
        <p:spPr>
          <a:xfrm>
            <a:off x="0" y="5312263"/>
            <a:ext cx="1339129" cy="1473144"/>
          </a:xfrm>
          <a:prstGeom prst="rect">
            <a:avLst/>
          </a:prstGeom>
        </p:spPr>
      </p:pic>
      <p:sp>
        <p:nvSpPr>
          <p:cNvPr id="6" name="Footer Placeholder 5">
            <a:extLst>
              <a:ext uri="{FF2B5EF4-FFF2-40B4-BE49-F238E27FC236}">
                <a16:creationId xmlns:a16="http://schemas.microsoft.com/office/drawing/2014/main" id="{629FFADA-F93B-F7BF-43AB-6939D396ED06}"/>
              </a:ext>
            </a:extLst>
          </p:cNvPr>
          <p:cNvSpPr>
            <a:spLocks noGrp="1"/>
          </p:cNvSpPr>
          <p:nvPr>
            <p:ph type="ftr" sz="quarter" idx="11"/>
          </p:nvPr>
        </p:nvSpPr>
        <p:spPr/>
        <p:txBody>
          <a:bodyPr/>
          <a:lstStyle/>
          <a:p>
            <a:r>
              <a:rPr lang="en-IN" dirty="0">
                <a:latin typeface="Arial" panose="020B0604020202020204" pitchFamily="34" charset="0"/>
                <a:cs typeface="Arial" panose="020B0604020202020204" pitchFamily="34" charset="0"/>
              </a:rPr>
              <a:t>SRM Institute of Science and Technology</a:t>
            </a:r>
          </a:p>
        </p:txBody>
      </p:sp>
      <p:sp>
        <p:nvSpPr>
          <p:cNvPr id="7" name="Slide Number Placeholder 6">
            <a:extLst>
              <a:ext uri="{FF2B5EF4-FFF2-40B4-BE49-F238E27FC236}">
                <a16:creationId xmlns:a16="http://schemas.microsoft.com/office/drawing/2014/main" id="{257BDD87-38AA-9005-451A-1772A554D2B7}"/>
              </a:ext>
            </a:extLst>
          </p:cNvPr>
          <p:cNvSpPr>
            <a:spLocks noGrp="1"/>
          </p:cNvSpPr>
          <p:nvPr>
            <p:ph type="sldNum" sz="quarter" idx="12"/>
          </p:nvPr>
        </p:nvSpPr>
        <p:spPr/>
        <p:txBody>
          <a:bodyPr/>
          <a:lstStyle/>
          <a:p>
            <a:fld id="{5065FCC5-0D2C-40B6-BCDE-2689FBEDE705}" type="slidenum">
              <a:rPr lang="en-IN" smtClean="0">
                <a:latin typeface="Arial" panose="020B0604020202020204" pitchFamily="34" charset="0"/>
                <a:cs typeface="Arial" panose="020B0604020202020204" pitchFamily="34" charset="0"/>
              </a:rPr>
              <a:t>1</a:t>
            </a:fld>
            <a:endParaRPr lang="en-IN">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02FF2ED1-FF2C-3A92-A9DD-46C60DA18776}"/>
              </a:ext>
            </a:extLst>
          </p:cNvPr>
          <p:cNvSpPr txBox="1"/>
          <p:nvPr/>
        </p:nvSpPr>
        <p:spPr>
          <a:xfrm>
            <a:off x="807474" y="1224637"/>
            <a:ext cx="10577051" cy="2031325"/>
          </a:xfrm>
          <a:prstGeom prst="rect">
            <a:avLst/>
          </a:prstGeom>
          <a:noFill/>
        </p:spPr>
        <p:txBody>
          <a:bodyPr wrap="square" rtlCol="0">
            <a:spAutoFit/>
          </a:bodyPr>
          <a:lstStyle/>
          <a:p>
            <a:pPr algn="ctr"/>
            <a:r>
              <a:rPr lang="en-US" sz="4200" b="1" dirty="0">
                <a:solidFill>
                  <a:srgbClr val="0000CC"/>
                </a:solidFill>
                <a:latin typeface="Times New Roman" panose="02020603050405020304" pitchFamily="18" charset="0"/>
                <a:cs typeface="Times New Roman" panose="02020603050405020304" pitchFamily="18" charset="0"/>
              </a:rPr>
              <a:t>Deep Space Communication utilizing IP Stack and Reinforcement Learning Algorithms</a:t>
            </a:r>
            <a:endParaRPr lang="en-IN" sz="4200" dirty="0">
              <a:solidFill>
                <a:srgbClr val="0000CC"/>
              </a:solidFill>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0E234F61-65DF-49F4-CAEA-F76B632D3806}"/>
              </a:ext>
            </a:extLst>
          </p:cNvPr>
          <p:cNvPicPr>
            <a:picLocks noChangeAspect="1"/>
          </p:cNvPicPr>
          <p:nvPr/>
        </p:nvPicPr>
        <p:blipFill>
          <a:blip r:embed="rId3"/>
          <a:stretch>
            <a:fillRect/>
          </a:stretch>
        </p:blipFill>
        <p:spPr>
          <a:xfrm>
            <a:off x="10579039" y="0"/>
            <a:ext cx="1549521" cy="884675"/>
          </a:xfrm>
          <a:prstGeom prst="rect">
            <a:avLst/>
          </a:prstGeom>
        </p:spPr>
      </p:pic>
    </p:spTree>
    <p:extLst>
      <p:ext uri="{BB962C8B-B14F-4D97-AF65-F5344CB8AC3E}">
        <p14:creationId xmlns:p14="http://schemas.microsoft.com/office/powerpoint/2010/main" val="14506839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3B0FB-22B0-EE72-C659-EDC292B167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4F288C-3781-C23E-B972-CFC0991D8057}"/>
              </a:ext>
            </a:extLst>
          </p:cNvPr>
          <p:cNvSpPr>
            <a:spLocks noGrp="1"/>
          </p:cNvSpPr>
          <p:nvPr>
            <p:ph type="title"/>
          </p:nvPr>
        </p:nvSpPr>
        <p:spPr>
          <a:xfrm>
            <a:off x="838200" y="365125"/>
            <a:ext cx="10515600" cy="460785"/>
          </a:xfrm>
        </p:spPr>
        <p:txBody>
          <a:bodyPr>
            <a:normAutofit fontScale="90000"/>
          </a:bodyPr>
          <a:lstStyle/>
          <a:p>
            <a:pPr algn="ctr"/>
            <a:r>
              <a:rPr lang="en-US" sz="3200" b="1" dirty="0">
                <a:solidFill>
                  <a:srgbClr val="0000CC"/>
                </a:solidFill>
                <a:latin typeface="Times New Roman" panose="02020603050405020304" pitchFamily="18" charset="0"/>
                <a:cs typeface="Times New Roman" panose="02020603050405020304" pitchFamily="18" charset="0"/>
              </a:rPr>
              <a:t>Introduction &amp; Motivation</a:t>
            </a:r>
            <a:endParaRPr lang="en-IN" sz="3200" b="1" dirty="0">
              <a:solidFill>
                <a:srgbClr val="0000CC"/>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128182B-C08B-93A2-DBA7-ADC12EC89ECB}"/>
              </a:ext>
            </a:extLst>
          </p:cNvPr>
          <p:cNvSpPr>
            <a:spLocks noGrp="1"/>
          </p:cNvSpPr>
          <p:nvPr>
            <p:ph idx="1"/>
          </p:nvPr>
        </p:nvSpPr>
        <p:spPr>
          <a:xfrm>
            <a:off x="668594" y="899368"/>
            <a:ext cx="10854812" cy="4488709"/>
          </a:xfrm>
        </p:spPr>
        <p:txBody>
          <a:bodyPr>
            <a:noAutofit/>
          </a:bodyPr>
          <a:lstStyle/>
          <a:p>
            <a:pPr marL="457200" indent="-457200" algn="just">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Adopting an IP-centric approach leverages standardized</a:t>
            </a:r>
            <a:r>
              <a:rPr lang="en-US" sz="2400" dirty="0">
                <a:latin typeface="Times New Roman" panose="02020603050405020304" pitchFamily="18" charset="0"/>
                <a:cs typeface="Times New Roman" panose="02020603050405020304" pitchFamily="18" charset="0"/>
              </a:rPr>
              <a:t> and</a:t>
            </a:r>
            <a:r>
              <a:rPr lang="en-US" sz="2400" b="0" i="0" dirty="0">
                <a:effectLst/>
                <a:latin typeface="Times New Roman" panose="02020603050405020304" pitchFamily="18" charset="0"/>
                <a:cs typeface="Times New Roman" panose="02020603050405020304" pitchFamily="18" charset="0"/>
              </a:rPr>
              <a:t> scalable internet protocols (e.g., IPv6) that are already proven on Earth to improve deep-space communications.</a:t>
            </a:r>
          </a:p>
          <a:p>
            <a:pPr marL="457200" indent="-457200" algn="just">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Existing RF methods face challenges such as high latency and limited interoperability, which are increasingly problematic for interplanetary links.</a:t>
            </a:r>
          </a:p>
          <a:p>
            <a:pPr marL="457200" indent="-457200" algn="just">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Incorporating reinforcement learning into delay-tolerant networking (DTN) enables dynamic, optimal routing decisions in environments with long delays and variable conditions. </a:t>
            </a:r>
          </a:p>
          <a:p>
            <a:pPr marL="457200" indent="-457200" algn="just">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Our aim is a future-proof deep-space communication framework.</a:t>
            </a:r>
          </a:p>
        </p:txBody>
      </p:sp>
      <p:sp>
        <p:nvSpPr>
          <p:cNvPr id="4" name="Footer Placeholder 3">
            <a:extLst>
              <a:ext uri="{FF2B5EF4-FFF2-40B4-BE49-F238E27FC236}">
                <a16:creationId xmlns:a16="http://schemas.microsoft.com/office/drawing/2014/main" id="{B068A619-8275-D73C-7487-DFCF21B9D158}"/>
              </a:ext>
            </a:extLst>
          </p:cNvPr>
          <p:cNvSpPr>
            <a:spLocks noGrp="1"/>
          </p:cNvSpPr>
          <p:nvPr>
            <p:ph type="ftr" sz="quarter" idx="11"/>
          </p:nvPr>
        </p:nvSpPr>
        <p:spPr/>
        <p:txBody>
          <a:bodyPr/>
          <a:lstStyle/>
          <a:p>
            <a:r>
              <a:rPr lang="en-IN" dirty="0">
                <a:latin typeface="Arial" panose="020B0604020202020204" pitchFamily="34" charset="0"/>
                <a:cs typeface="Arial" panose="020B0604020202020204" pitchFamily="34" charset="0"/>
              </a:rPr>
              <a:t>SRM Institute of Science and Technology</a:t>
            </a:r>
          </a:p>
        </p:txBody>
      </p:sp>
      <p:sp>
        <p:nvSpPr>
          <p:cNvPr id="5" name="Slide Number Placeholder 4">
            <a:extLst>
              <a:ext uri="{FF2B5EF4-FFF2-40B4-BE49-F238E27FC236}">
                <a16:creationId xmlns:a16="http://schemas.microsoft.com/office/drawing/2014/main" id="{48CCE4CA-F1C5-7626-6FB9-D51DB66DFE93}"/>
              </a:ext>
            </a:extLst>
          </p:cNvPr>
          <p:cNvSpPr>
            <a:spLocks noGrp="1"/>
          </p:cNvSpPr>
          <p:nvPr>
            <p:ph type="sldNum" sz="quarter" idx="12"/>
          </p:nvPr>
        </p:nvSpPr>
        <p:spPr/>
        <p:txBody>
          <a:bodyPr/>
          <a:lstStyle/>
          <a:p>
            <a:pPr algn="ctr"/>
            <a:fld id="{5065FCC5-0D2C-40B6-BCDE-2689FBEDE705}" type="slidenum">
              <a:rPr lang="en-IN" smtClean="0">
                <a:latin typeface="Arial" panose="020B0604020202020204" pitchFamily="34" charset="0"/>
                <a:cs typeface="Arial" panose="020B0604020202020204" pitchFamily="34" charset="0"/>
              </a:rPr>
              <a:pPr algn="ctr"/>
              <a:t>2</a:t>
            </a:fld>
            <a:endParaRPr lang="en-IN"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EEBD11A4-8E8B-55B4-8713-2B545623AEB4}"/>
              </a:ext>
            </a:extLst>
          </p:cNvPr>
          <p:cNvPicPr>
            <a:picLocks noChangeAspect="1"/>
          </p:cNvPicPr>
          <p:nvPr/>
        </p:nvPicPr>
        <p:blipFill>
          <a:blip r:embed="rId2"/>
          <a:stretch>
            <a:fillRect/>
          </a:stretch>
        </p:blipFill>
        <p:spPr>
          <a:xfrm>
            <a:off x="10579039" y="0"/>
            <a:ext cx="1549521" cy="884675"/>
          </a:xfrm>
          <a:prstGeom prst="rect">
            <a:avLst/>
          </a:prstGeom>
        </p:spPr>
      </p:pic>
    </p:spTree>
    <p:extLst>
      <p:ext uri="{BB962C8B-B14F-4D97-AF65-F5344CB8AC3E}">
        <p14:creationId xmlns:p14="http://schemas.microsoft.com/office/powerpoint/2010/main" val="39916115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252FB-7874-FD57-7B4E-5DCE73E3FF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9A51BA-E78D-E003-4FAB-AABD785ADDAF}"/>
              </a:ext>
            </a:extLst>
          </p:cNvPr>
          <p:cNvSpPr>
            <a:spLocks noGrp="1"/>
          </p:cNvSpPr>
          <p:nvPr>
            <p:ph type="title"/>
          </p:nvPr>
        </p:nvSpPr>
        <p:spPr>
          <a:xfrm>
            <a:off x="838200" y="365125"/>
            <a:ext cx="10515600" cy="460785"/>
          </a:xfrm>
        </p:spPr>
        <p:txBody>
          <a:bodyPr>
            <a:normAutofit fontScale="90000"/>
          </a:bodyPr>
          <a:lstStyle/>
          <a:p>
            <a:pPr algn="ctr"/>
            <a:r>
              <a:rPr lang="en-US" sz="3200" b="1" dirty="0">
                <a:solidFill>
                  <a:srgbClr val="0000CC"/>
                </a:solidFill>
                <a:latin typeface="Times New Roman" panose="02020603050405020304" pitchFamily="18" charset="0"/>
                <a:cs typeface="Times New Roman" panose="02020603050405020304" pitchFamily="18" charset="0"/>
              </a:rPr>
              <a:t>Research Methodology</a:t>
            </a:r>
            <a:endParaRPr lang="en-IN" sz="3200" b="1" dirty="0">
              <a:solidFill>
                <a:srgbClr val="0000CC"/>
              </a:solidFill>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2B3D06B1-DF07-DAEE-ED4B-84F0BFD4FBF6}"/>
              </a:ext>
            </a:extLst>
          </p:cNvPr>
          <p:cNvSpPr>
            <a:spLocks noGrp="1"/>
          </p:cNvSpPr>
          <p:nvPr>
            <p:ph type="ftr" sz="quarter" idx="11"/>
          </p:nvPr>
        </p:nvSpPr>
        <p:spPr/>
        <p:txBody>
          <a:bodyPr/>
          <a:lstStyle/>
          <a:p>
            <a:r>
              <a:rPr lang="en-IN" dirty="0">
                <a:latin typeface="Arial" panose="020B0604020202020204" pitchFamily="34" charset="0"/>
                <a:cs typeface="Arial" panose="020B0604020202020204" pitchFamily="34" charset="0"/>
              </a:rPr>
              <a:t>SRM Institute of Science and Technology</a:t>
            </a:r>
          </a:p>
        </p:txBody>
      </p:sp>
      <p:sp>
        <p:nvSpPr>
          <p:cNvPr id="5" name="Slide Number Placeholder 4">
            <a:extLst>
              <a:ext uri="{FF2B5EF4-FFF2-40B4-BE49-F238E27FC236}">
                <a16:creationId xmlns:a16="http://schemas.microsoft.com/office/drawing/2014/main" id="{A2BC11EC-B6D5-3515-1349-0D9F4F0724D8}"/>
              </a:ext>
            </a:extLst>
          </p:cNvPr>
          <p:cNvSpPr>
            <a:spLocks noGrp="1"/>
          </p:cNvSpPr>
          <p:nvPr>
            <p:ph type="sldNum" sz="quarter" idx="12"/>
          </p:nvPr>
        </p:nvSpPr>
        <p:spPr/>
        <p:txBody>
          <a:bodyPr/>
          <a:lstStyle/>
          <a:p>
            <a:pPr algn="ctr"/>
            <a:fld id="{5065FCC5-0D2C-40B6-BCDE-2689FBEDE705}" type="slidenum">
              <a:rPr lang="en-IN" smtClean="0">
                <a:latin typeface="Arial" panose="020B0604020202020204" pitchFamily="34" charset="0"/>
                <a:cs typeface="Arial" panose="020B0604020202020204" pitchFamily="34" charset="0"/>
              </a:rPr>
              <a:pPr algn="ctr"/>
              <a:t>3</a:t>
            </a:fld>
            <a:endParaRPr lang="en-IN"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F8A99F0F-7036-4BC9-3A82-9F743016ED26}"/>
              </a:ext>
            </a:extLst>
          </p:cNvPr>
          <p:cNvPicPr>
            <a:picLocks noChangeAspect="1"/>
          </p:cNvPicPr>
          <p:nvPr/>
        </p:nvPicPr>
        <p:blipFill>
          <a:blip r:embed="rId3"/>
          <a:stretch>
            <a:fillRect/>
          </a:stretch>
        </p:blipFill>
        <p:spPr>
          <a:xfrm>
            <a:off x="10579039" y="0"/>
            <a:ext cx="1549521" cy="884675"/>
          </a:xfrm>
          <a:prstGeom prst="rect">
            <a:avLst/>
          </a:prstGeom>
        </p:spPr>
      </p:pic>
      <p:sp>
        <p:nvSpPr>
          <p:cNvPr id="10" name="Content Placeholder 2">
            <a:extLst>
              <a:ext uri="{FF2B5EF4-FFF2-40B4-BE49-F238E27FC236}">
                <a16:creationId xmlns:a16="http://schemas.microsoft.com/office/drawing/2014/main" id="{297B313E-4417-37AE-2671-FD1F0221F4CF}"/>
              </a:ext>
            </a:extLst>
          </p:cNvPr>
          <p:cNvSpPr>
            <a:spLocks noGrp="1"/>
          </p:cNvSpPr>
          <p:nvPr>
            <p:ph idx="1"/>
          </p:nvPr>
        </p:nvSpPr>
        <p:spPr>
          <a:xfrm>
            <a:off x="483399" y="807760"/>
            <a:ext cx="5702710" cy="4950826"/>
          </a:xfrm>
        </p:spPr>
        <p:txBody>
          <a:bodyPr>
            <a:noAutofit/>
          </a:bodyPr>
          <a:lstStyle/>
          <a:p>
            <a:pPr marL="457200" indent="-457200">
              <a:buFont typeface="Arial" panose="020B0604020202020204" pitchFamily="34" charset="0"/>
              <a:buChar char="•"/>
            </a:pPr>
            <a:r>
              <a:rPr lang="en-IN" sz="2400" b="0" i="0" dirty="0">
                <a:effectLst/>
                <a:latin typeface="Times New Roman" panose="02020603050405020304" pitchFamily="18" charset="0"/>
                <a:cs typeface="Times New Roman" panose="02020603050405020304" pitchFamily="18" charset="0"/>
              </a:rPr>
              <a:t>Ka-Band Parabolic Reflector Antenna implemented with MATLAB's Antenna Designer toolbox. (See Table I)</a:t>
            </a:r>
          </a:p>
          <a:p>
            <a:pPr marL="457200" indent="-457200"/>
            <a:r>
              <a:rPr lang="en-IN" sz="2400" i="0" dirty="0">
                <a:effectLst/>
                <a:latin typeface="Times New Roman" panose="02020603050405020304" pitchFamily="18" charset="0"/>
                <a:cs typeface="Times New Roman" panose="02020603050405020304" pitchFamily="18" charset="0"/>
              </a:rPr>
              <a:t>Link Case Studies (Fig. 2):</a:t>
            </a:r>
            <a:br>
              <a:rPr lang="en-IN" sz="2400" b="0" i="0" dirty="0">
                <a:effectLst/>
                <a:latin typeface="Times New Roman" panose="02020603050405020304" pitchFamily="18" charset="0"/>
                <a:cs typeface="Times New Roman" panose="02020603050405020304" pitchFamily="18" charset="0"/>
              </a:rPr>
            </a:br>
            <a:r>
              <a:rPr lang="en-IN" sz="2400" b="0" i="0" dirty="0">
                <a:effectLst/>
                <a:latin typeface="Times New Roman" panose="02020603050405020304" pitchFamily="18" charset="0"/>
                <a:cs typeface="Times New Roman" panose="02020603050405020304" pitchFamily="18" charset="0"/>
              </a:rPr>
              <a:t>Case A: Earth-Moon direct link.</a:t>
            </a:r>
            <a:br>
              <a:rPr lang="en-IN" sz="2400" b="0" i="0" dirty="0">
                <a:effectLst/>
                <a:latin typeface="Times New Roman" panose="02020603050405020304" pitchFamily="18" charset="0"/>
                <a:cs typeface="Times New Roman" panose="02020603050405020304" pitchFamily="18" charset="0"/>
              </a:rPr>
            </a:br>
            <a:r>
              <a:rPr lang="en-IN" sz="2400" b="0" i="0" dirty="0">
                <a:effectLst/>
                <a:latin typeface="Times New Roman" panose="02020603050405020304" pitchFamily="18" charset="0"/>
                <a:cs typeface="Times New Roman" panose="02020603050405020304" pitchFamily="18" charset="0"/>
              </a:rPr>
              <a:t>Case B: Earth-Mars direct link.</a:t>
            </a:r>
            <a:br>
              <a:rPr lang="en-IN" sz="2400" b="0" i="0" dirty="0">
                <a:effectLst/>
                <a:latin typeface="Times New Roman" panose="02020603050405020304" pitchFamily="18" charset="0"/>
                <a:cs typeface="Times New Roman" panose="02020603050405020304" pitchFamily="18" charset="0"/>
              </a:rPr>
            </a:br>
            <a:r>
              <a:rPr lang="en-IN" sz="2400" b="0" i="0" dirty="0">
                <a:effectLst/>
                <a:latin typeface="Times New Roman" panose="02020603050405020304" pitchFamily="18" charset="0"/>
                <a:cs typeface="Times New Roman" panose="02020603050405020304" pitchFamily="18" charset="0"/>
              </a:rPr>
              <a:t>Case C: Moon-Mars direct link.</a:t>
            </a:r>
            <a:br>
              <a:rPr lang="en-IN" sz="2400" b="0" i="0" dirty="0">
                <a:effectLst/>
                <a:latin typeface="Times New Roman" panose="02020603050405020304" pitchFamily="18" charset="0"/>
                <a:cs typeface="Times New Roman" panose="02020603050405020304" pitchFamily="18" charset="0"/>
              </a:rPr>
            </a:br>
            <a:r>
              <a:rPr lang="en-IN" sz="2400" b="0" i="0" dirty="0">
                <a:effectLst/>
                <a:latin typeface="Times New Roman" panose="02020603050405020304" pitchFamily="18" charset="0"/>
                <a:cs typeface="Times New Roman" panose="02020603050405020304" pitchFamily="18" charset="0"/>
              </a:rPr>
              <a:t>Emphasis on direct satellite-to-satellite communication.</a:t>
            </a:r>
          </a:p>
          <a:p>
            <a:pPr marL="457200" indent="-457200"/>
            <a:r>
              <a:rPr lang="en-US" sz="2400" i="0" dirty="0">
                <a:effectLst/>
                <a:latin typeface="Times New Roman" panose="02020603050405020304" pitchFamily="18" charset="0"/>
                <a:cs typeface="Times New Roman" panose="02020603050405020304" pitchFamily="18" charset="0"/>
              </a:rPr>
              <a:t>Performance Analysis:</a:t>
            </a:r>
            <a:br>
              <a:rPr lang="en-US" sz="2400" b="0" i="0" dirty="0">
                <a:effectLst/>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Theoretical link budget analysis is validated via monte carlo simulations. SCPS/IPv6 is used to demonstrate parsing of a small test message. Comparative analysis is performed for SCPS-TP and RL-DTN implementation.</a:t>
            </a:r>
          </a:p>
          <a:p>
            <a:pPr marL="0" indent="0">
              <a:buNone/>
            </a:pPr>
            <a:endParaRPr lang="en-US" sz="2400" dirty="0">
              <a:latin typeface="Times New Roman" panose="02020603050405020304" pitchFamily="18" charset="0"/>
              <a:cs typeface="Times New Roman" panose="02020603050405020304" pitchFamily="18" charset="0"/>
            </a:endParaRPr>
          </a:p>
          <a:p>
            <a:pPr marL="457200" indent="-457200"/>
            <a:r>
              <a:rPr lang="en-US" sz="2400" dirty="0">
                <a:latin typeface="Times New Roman" panose="02020603050405020304" pitchFamily="18" charset="0"/>
                <a:cs typeface="Times New Roman" panose="02020603050405020304" pitchFamily="18" charset="0"/>
              </a:rPr>
              <a:t> </a:t>
            </a:r>
            <a:endParaRPr lang="en-IN" sz="2400" b="0" i="0" dirty="0">
              <a:effectLst/>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p:txBody>
      </p:sp>
      <p:graphicFrame>
        <p:nvGraphicFramePr>
          <p:cNvPr id="11" name="Table 10">
            <a:extLst>
              <a:ext uri="{FF2B5EF4-FFF2-40B4-BE49-F238E27FC236}">
                <a16:creationId xmlns:a16="http://schemas.microsoft.com/office/drawing/2014/main" id="{C277909E-8739-607D-94BA-0862B0F856B3}"/>
              </a:ext>
            </a:extLst>
          </p:cNvPr>
          <p:cNvGraphicFramePr>
            <a:graphicFrameLocks noGrp="1"/>
          </p:cNvGraphicFramePr>
          <p:nvPr>
            <p:extLst>
              <p:ext uri="{D42A27DB-BD31-4B8C-83A1-F6EECF244321}">
                <p14:modId xmlns:p14="http://schemas.microsoft.com/office/powerpoint/2010/main" val="2716864434"/>
              </p:ext>
            </p:extLst>
          </p:nvPr>
        </p:nvGraphicFramePr>
        <p:xfrm>
          <a:off x="6683808" y="884675"/>
          <a:ext cx="4798142" cy="1706880"/>
        </p:xfrm>
        <a:graphic>
          <a:graphicData uri="http://schemas.openxmlformats.org/drawingml/2006/table">
            <a:tbl>
              <a:tblPr bandRow="1">
                <a:tableStyleId>{5940675A-B579-460E-94D1-54222C63F5DA}</a:tableStyleId>
              </a:tblPr>
              <a:tblGrid>
                <a:gridCol w="2567193">
                  <a:extLst>
                    <a:ext uri="{9D8B030D-6E8A-4147-A177-3AD203B41FA5}">
                      <a16:colId xmlns:a16="http://schemas.microsoft.com/office/drawing/2014/main" val="3450535659"/>
                    </a:ext>
                  </a:extLst>
                </a:gridCol>
                <a:gridCol w="2230949">
                  <a:extLst>
                    <a:ext uri="{9D8B030D-6E8A-4147-A177-3AD203B41FA5}">
                      <a16:colId xmlns:a16="http://schemas.microsoft.com/office/drawing/2014/main" val="669101553"/>
                    </a:ext>
                  </a:extLst>
                </a:gridCol>
              </a:tblGrid>
              <a:tr h="237598">
                <a:tc>
                  <a:txBody>
                    <a:bodyPr/>
                    <a:lstStyle/>
                    <a:p>
                      <a:pPr indent="-1270" algn="l">
                        <a:buNone/>
                      </a:pPr>
                      <a:r>
                        <a:rPr lang="en-US" sz="1600" dirty="0">
                          <a:effectLst/>
                          <a:latin typeface="Times New Roman" panose="02020603050405020304" pitchFamily="18" charset="0"/>
                          <a:cs typeface="Times New Roman" panose="02020603050405020304" pitchFamily="18" charset="0"/>
                        </a:rPr>
                        <a:t>Antenna Type</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l">
                        <a:buNone/>
                      </a:pPr>
                      <a:r>
                        <a:rPr lang="en-US" sz="1600" dirty="0">
                          <a:effectLst/>
                          <a:latin typeface="Times New Roman" panose="02020603050405020304" pitchFamily="18" charset="0"/>
                          <a:cs typeface="Times New Roman" panose="02020603050405020304" pitchFamily="18" charset="0"/>
                        </a:rPr>
                        <a:t>Parabolic Reflector</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44459623"/>
                  </a:ext>
                </a:extLst>
              </a:tr>
              <a:tr h="237598">
                <a:tc>
                  <a:txBody>
                    <a:bodyPr/>
                    <a:lstStyle/>
                    <a:p>
                      <a:pPr indent="-1270" algn="l">
                        <a:buNone/>
                      </a:pPr>
                      <a:r>
                        <a:rPr lang="en-US" sz="1600" dirty="0">
                          <a:effectLst/>
                          <a:latin typeface="Times New Roman" panose="02020603050405020304" pitchFamily="18" charset="0"/>
                          <a:cs typeface="Times New Roman" panose="02020603050405020304" pitchFamily="18" charset="0"/>
                        </a:rPr>
                        <a:t>Frequency</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indent="-1270" algn="l">
                        <a:buNone/>
                      </a:pPr>
                      <a:r>
                        <a:rPr lang="en-US" sz="1600" dirty="0">
                          <a:effectLst/>
                          <a:latin typeface="Times New Roman" panose="02020603050405020304" pitchFamily="18" charset="0"/>
                          <a:cs typeface="Times New Roman" panose="02020603050405020304" pitchFamily="18" charset="0"/>
                        </a:rPr>
                        <a:t>32 to 34.2 GHz</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679241831"/>
                  </a:ext>
                </a:extLst>
              </a:tr>
              <a:tr h="237598">
                <a:tc>
                  <a:txBody>
                    <a:bodyPr/>
                    <a:lstStyle/>
                    <a:p>
                      <a:pPr indent="-1270" algn="l">
                        <a:buNone/>
                      </a:pPr>
                      <a:r>
                        <a:rPr lang="en-US" sz="1600">
                          <a:effectLst/>
                          <a:latin typeface="Times New Roman" panose="02020603050405020304" pitchFamily="18" charset="0"/>
                          <a:cs typeface="Times New Roman" panose="02020603050405020304" pitchFamily="18" charset="0"/>
                        </a:rPr>
                        <a:t>Diameter</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indent="-1270" algn="l">
                        <a:buNone/>
                      </a:pPr>
                      <a:r>
                        <a:rPr lang="en-US" sz="1600">
                          <a:effectLst/>
                          <a:latin typeface="Times New Roman" panose="02020603050405020304" pitchFamily="18" charset="0"/>
                          <a:cs typeface="Times New Roman" panose="02020603050405020304" pitchFamily="18" charset="0"/>
                        </a:rPr>
                        <a:t>1.5 m</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098283708"/>
                  </a:ext>
                </a:extLst>
              </a:tr>
              <a:tr h="237598">
                <a:tc>
                  <a:txBody>
                    <a:bodyPr/>
                    <a:lstStyle/>
                    <a:p>
                      <a:pPr indent="-1270" algn="l">
                        <a:buNone/>
                      </a:pPr>
                      <a:r>
                        <a:rPr lang="en-US" sz="1600" dirty="0">
                          <a:effectLst/>
                          <a:latin typeface="Times New Roman" panose="02020603050405020304" pitchFamily="18" charset="0"/>
                          <a:cs typeface="Times New Roman" panose="02020603050405020304" pitchFamily="18" charset="0"/>
                        </a:rPr>
                        <a:t>Focal Length</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indent="-1270" algn="l">
                        <a:buNone/>
                      </a:pPr>
                      <a:r>
                        <a:rPr lang="en-US" sz="1600" dirty="0">
                          <a:effectLst/>
                          <a:latin typeface="Times New Roman" panose="02020603050405020304" pitchFamily="18" charset="0"/>
                          <a:cs typeface="Times New Roman" panose="02020603050405020304" pitchFamily="18" charset="0"/>
                        </a:rPr>
                        <a:t>0.7 m</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97124651"/>
                  </a:ext>
                </a:extLst>
              </a:tr>
              <a:tr h="237598">
                <a:tc>
                  <a:txBody>
                    <a:bodyPr/>
                    <a:lstStyle/>
                    <a:p>
                      <a:pPr indent="-1270" algn="l">
                        <a:buNone/>
                      </a:pPr>
                      <a:r>
                        <a:rPr lang="en-US" sz="1600">
                          <a:effectLst/>
                          <a:latin typeface="Times New Roman" panose="02020603050405020304" pitchFamily="18" charset="0"/>
                          <a:cs typeface="Times New Roman" panose="02020603050405020304" pitchFamily="18" charset="0"/>
                        </a:rPr>
                        <a:t>f/d ratio</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indent="-1270" algn="l">
                        <a:buNone/>
                      </a:pPr>
                      <a:r>
                        <a:rPr lang="en-US" sz="1600" dirty="0">
                          <a:effectLst/>
                          <a:latin typeface="Times New Roman" panose="02020603050405020304" pitchFamily="18" charset="0"/>
                          <a:cs typeface="Times New Roman" panose="02020603050405020304" pitchFamily="18" charset="0"/>
                        </a:rPr>
                        <a:t>0.467 m</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87322667"/>
                  </a:ext>
                </a:extLst>
              </a:tr>
              <a:tr h="237598">
                <a:tc>
                  <a:txBody>
                    <a:bodyPr/>
                    <a:lstStyle/>
                    <a:p>
                      <a:pPr indent="-1270" algn="l">
                        <a:buNone/>
                      </a:pPr>
                      <a:r>
                        <a:rPr lang="en-US" sz="1600">
                          <a:effectLst/>
                          <a:latin typeface="Times New Roman" panose="02020603050405020304" pitchFamily="18" charset="0"/>
                          <a:cs typeface="Times New Roman" panose="02020603050405020304" pitchFamily="18" charset="0"/>
                        </a:rPr>
                        <a:t>Exciter</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indent="-1270" algn="l">
                        <a:buNone/>
                      </a:pPr>
                      <a:r>
                        <a:rPr lang="en-US" sz="1600">
                          <a:effectLst/>
                          <a:latin typeface="Times New Roman" panose="02020603050405020304" pitchFamily="18" charset="0"/>
                          <a:cs typeface="Times New Roman" panose="02020603050405020304" pitchFamily="18" charset="0"/>
                        </a:rPr>
                        <a:t>Conical horn</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66535416"/>
                  </a:ext>
                </a:extLst>
              </a:tr>
              <a:tr h="237598">
                <a:tc>
                  <a:txBody>
                    <a:bodyPr/>
                    <a:lstStyle/>
                    <a:p>
                      <a:pPr indent="-1270" algn="l">
                        <a:buNone/>
                      </a:pPr>
                      <a:r>
                        <a:rPr lang="en-US" sz="1600">
                          <a:effectLst/>
                          <a:latin typeface="Times New Roman" panose="02020603050405020304" pitchFamily="18" charset="0"/>
                          <a:cs typeface="Times New Roman" panose="02020603050405020304" pitchFamily="18" charset="0"/>
                        </a:rPr>
                        <a:t>Aperture radius of the exciter</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1270" algn="l">
                        <a:buNone/>
                      </a:pPr>
                      <a:r>
                        <a:rPr lang="en-US" sz="1600" dirty="0">
                          <a:effectLst/>
                          <a:latin typeface="Times New Roman" panose="02020603050405020304" pitchFamily="18" charset="0"/>
                          <a:cs typeface="Times New Roman" panose="02020603050405020304" pitchFamily="18" charset="0"/>
                        </a:rPr>
                        <a:t>0.102 m</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98750782"/>
                  </a:ext>
                </a:extLst>
              </a:tr>
            </a:tbl>
          </a:graphicData>
        </a:graphic>
      </p:graphicFrame>
      <p:sp>
        <p:nvSpPr>
          <p:cNvPr id="14" name="TextBox 13">
            <a:extLst>
              <a:ext uri="{FF2B5EF4-FFF2-40B4-BE49-F238E27FC236}">
                <a16:creationId xmlns:a16="http://schemas.microsoft.com/office/drawing/2014/main" id="{21820C3E-F78D-CDF6-EDDD-195C0D9FE5D4}"/>
              </a:ext>
            </a:extLst>
          </p:cNvPr>
          <p:cNvSpPr txBox="1"/>
          <p:nvPr/>
        </p:nvSpPr>
        <p:spPr>
          <a:xfrm>
            <a:off x="7514634" y="2650320"/>
            <a:ext cx="3136490" cy="326243"/>
          </a:xfrm>
          <a:prstGeom prst="rect">
            <a:avLst/>
          </a:prstGeom>
          <a:noFill/>
        </p:spPr>
        <p:txBody>
          <a:bodyPr wrap="square">
            <a:spAutoFit/>
          </a:bodyPr>
          <a:lstStyle/>
          <a:p>
            <a:pPr algn="ctr">
              <a:lnSpc>
                <a:spcPct val="95000"/>
              </a:lnSpc>
              <a:spcAft>
                <a:spcPts val="600"/>
              </a:spcAft>
              <a:tabLst>
                <a:tab pos="182880" algn="l"/>
              </a:tabLst>
            </a:pPr>
            <a:r>
              <a:rPr lang="en-US" sz="1600" dirty="0">
                <a:latin typeface="Times New Roman" panose="02020603050405020304" pitchFamily="18" charset="0"/>
                <a:ea typeface="Times New Roman" panose="02020603050405020304" pitchFamily="18" charset="0"/>
              </a:rPr>
              <a:t>Table I: Antenna Specifications</a:t>
            </a:r>
            <a:endParaRPr lang="en-IN" sz="1600" dirty="0">
              <a:effectLst/>
              <a:latin typeface="Times New Roman" panose="02020603050405020304" pitchFamily="18" charset="0"/>
              <a:ea typeface="Times New Roman" panose="02020603050405020304" pitchFamily="18" charset="0"/>
            </a:endParaRPr>
          </a:p>
        </p:txBody>
      </p:sp>
      <p:pic>
        <p:nvPicPr>
          <p:cNvPr id="3" name="Picture 2">
            <a:extLst>
              <a:ext uri="{FF2B5EF4-FFF2-40B4-BE49-F238E27FC236}">
                <a16:creationId xmlns:a16="http://schemas.microsoft.com/office/drawing/2014/main" id="{519844DA-BA9B-2C46-6117-919966DCEBCF}"/>
              </a:ext>
            </a:extLst>
          </p:cNvPr>
          <p:cNvPicPr>
            <a:picLocks noChangeAspect="1"/>
          </p:cNvPicPr>
          <p:nvPr/>
        </p:nvPicPr>
        <p:blipFill>
          <a:blip r:embed="rId4" cstate="print">
            <a:extLst>
              <a:ext uri="{28A0092B-C50C-407E-A947-70E740481C1C}">
                <a14:useLocalDpi xmlns:a14="http://schemas.microsoft.com/office/drawing/2010/main" val="0"/>
              </a:ext>
            </a:extLst>
          </a:blip>
          <a:srcRect l="8897"/>
          <a:stretch/>
        </p:blipFill>
        <p:spPr>
          <a:xfrm>
            <a:off x="7612622" y="3035555"/>
            <a:ext cx="3271688" cy="2870200"/>
          </a:xfrm>
          <a:prstGeom prst="rect">
            <a:avLst/>
          </a:prstGeom>
        </p:spPr>
      </p:pic>
      <p:sp>
        <p:nvSpPr>
          <p:cNvPr id="6" name="TextBox 5">
            <a:extLst>
              <a:ext uri="{FF2B5EF4-FFF2-40B4-BE49-F238E27FC236}">
                <a16:creationId xmlns:a16="http://schemas.microsoft.com/office/drawing/2014/main" id="{AFBAEFFC-CAB7-8062-62B3-06E9AF437E7D}"/>
              </a:ext>
            </a:extLst>
          </p:cNvPr>
          <p:cNvSpPr txBox="1"/>
          <p:nvPr/>
        </p:nvSpPr>
        <p:spPr>
          <a:xfrm>
            <a:off x="7843883" y="5972347"/>
            <a:ext cx="2477991" cy="326243"/>
          </a:xfrm>
          <a:prstGeom prst="rect">
            <a:avLst/>
          </a:prstGeom>
          <a:noFill/>
        </p:spPr>
        <p:txBody>
          <a:bodyPr wrap="square">
            <a:spAutoFit/>
          </a:bodyPr>
          <a:lstStyle/>
          <a:p>
            <a:pPr algn="ctr">
              <a:lnSpc>
                <a:spcPct val="95000"/>
              </a:lnSpc>
              <a:spcAft>
                <a:spcPts val="600"/>
              </a:spcAft>
              <a:tabLst>
                <a:tab pos="182880" algn="l"/>
              </a:tabLst>
            </a:pPr>
            <a:r>
              <a:rPr lang="en-US" sz="1600" dirty="0">
                <a:effectLst/>
                <a:latin typeface="Times New Roman" panose="02020603050405020304" pitchFamily="18" charset="0"/>
                <a:ea typeface="Times New Roman" panose="02020603050405020304" pitchFamily="18" charset="0"/>
              </a:rPr>
              <a:t>Fig. </a:t>
            </a:r>
            <a:r>
              <a:rPr lang="en-US" sz="1600" dirty="0">
                <a:latin typeface="Times New Roman" panose="02020603050405020304" pitchFamily="18" charset="0"/>
                <a:ea typeface="Times New Roman" panose="02020603050405020304" pitchFamily="18" charset="0"/>
              </a:rPr>
              <a:t>2</a:t>
            </a:r>
            <a:r>
              <a:rPr lang="en-US" sz="1600" dirty="0">
                <a:effectLst/>
                <a:latin typeface="Times New Roman" panose="02020603050405020304" pitchFamily="18" charset="0"/>
                <a:ea typeface="Times New Roman" panose="02020603050405020304" pitchFamily="18" charset="0"/>
              </a:rPr>
              <a:t>: Interplanetary Links</a:t>
            </a:r>
            <a:endParaRPr lang="en-IN"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0902291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628C6-AAF2-327C-E23B-60EDA73C59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A1B970-DBAA-80BF-EEC9-F6F266918D49}"/>
              </a:ext>
            </a:extLst>
          </p:cNvPr>
          <p:cNvSpPr>
            <a:spLocks noGrp="1"/>
          </p:cNvSpPr>
          <p:nvPr>
            <p:ph type="title"/>
          </p:nvPr>
        </p:nvSpPr>
        <p:spPr>
          <a:xfrm>
            <a:off x="838200" y="365125"/>
            <a:ext cx="10515600" cy="460785"/>
          </a:xfrm>
        </p:spPr>
        <p:txBody>
          <a:bodyPr>
            <a:normAutofit fontScale="90000"/>
          </a:bodyPr>
          <a:lstStyle/>
          <a:p>
            <a:pPr algn="ctr"/>
            <a:r>
              <a:rPr lang="en-US" sz="3200" b="1" dirty="0">
                <a:solidFill>
                  <a:srgbClr val="0000CC"/>
                </a:solidFill>
                <a:latin typeface="Times New Roman" panose="02020603050405020304" pitchFamily="18" charset="0"/>
                <a:cs typeface="Times New Roman" panose="02020603050405020304" pitchFamily="18" charset="0"/>
              </a:rPr>
              <a:t>Research Methodology</a:t>
            </a:r>
            <a:endParaRPr lang="en-IN" sz="3200" b="1" dirty="0">
              <a:solidFill>
                <a:srgbClr val="0000CC"/>
              </a:solidFill>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668F40B9-6610-1040-CD12-AB5F91CC626D}"/>
              </a:ext>
            </a:extLst>
          </p:cNvPr>
          <p:cNvSpPr>
            <a:spLocks noGrp="1"/>
          </p:cNvSpPr>
          <p:nvPr>
            <p:ph type="sldNum" sz="quarter" idx="12"/>
          </p:nvPr>
        </p:nvSpPr>
        <p:spPr/>
        <p:txBody>
          <a:bodyPr/>
          <a:lstStyle/>
          <a:p>
            <a:pPr algn="ctr"/>
            <a:fld id="{5065FCC5-0D2C-40B6-BCDE-2689FBEDE705}" type="slidenum">
              <a:rPr lang="en-IN" smtClean="0">
                <a:latin typeface="Arial" panose="020B0604020202020204" pitchFamily="34" charset="0"/>
                <a:cs typeface="Arial" panose="020B0604020202020204" pitchFamily="34" charset="0"/>
              </a:rPr>
              <a:pPr algn="ctr"/>
              <a:t>4</a:t>
            </a:fld>
            <a:endParaRPr lang="en-IN"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6943DA87-22FB-5FFA-6ED7-E2EE937E989D}"/>
              </a:ext>
            </a:extLst>
          </p:cNvPr>
          <p:cNvPicPr>
            <a:picLocks noChangeAspect="1"/>
          </p:cNvPicPr>
          <p:nvPr/>
        </p:nvPicPr>
        <p:blipFill>
          <a:blip r:embed="rId2"/>
          <a:stretch>
            <a:fillRect/>
          </a:stretch>
        </p:blipFill>
        <p:spPr>
          <a:xfrm>
            <a:off x="10579039" y="0"/>
            <a:ext cx="1549521" cy="884675"/>
          </a:xfrm>
          <a:prstGeom prst="rect">
            <a:avLst/>
          </a:prstGeom>
        </p:spPr>
      </p:pic>
      <p:graphicFrame>
        <p:nvGraphicFramePr>
          <p:cNvPr id="9" name="Table 8">
            <a:extLst>
              <a:ext uri="{FF2B5EF4-FFF2-40B4-BE49-F238E27FC236}">
                <a16:creationId xmlns:a16="http://schemas.microsoft.com/office/drawing/2014/main" id="{85960B77-42BD-EB67-6AC2-E82BEEBE9CE4}"/>
              </a:ext>
            </a:extLst>
          </p:cNvPr>
          <p:cNvGraphicFramePr>
            <a:graphicFrameLocks noGrp="1"/>
          </p:cNvGraphicFramePr>
          <p:nvPr>
            <p:extLst>
              <p:ext uri="{D42A27DB-BD31-4B8C-83A1-F6EECF244321}">
                <p14:modId xmlns:p14="http://schemas.microsoft.com/office/powerpoint/2010/main" val="2325511717"/>
              </p:ext>
            </p:extLst>
          </p:nvPr>
        </p:nvGraphicFramePr>
        <p:xfrm>
          <a:off x="4925960" y="1169816"/>
          <a:ext cx="6725267" cy="4429256"/>
        </p:xfrm>
        <a:graphic>
          <a:graphicData uri="http://schemas.openxmlformats.org/drawingml/2006/table">
            <a:tbl>
              <a:tblPr firstRow="1" firstCol="1" bandRow="1">
                <a:tableStyleId>{5940675A-B579-460E-94D1-54222C63F5DA}</a:tableStyleId>
              </a:tblPr>
              <a:tblGrid>
                <a:gridCol w="1267559">
                  <a:extLst>
                    <a:ext uri="{9D8B030D-6E8A-4147-A177-3AD203B41FA5}">
                      <a16:colId xmlns:a16="http://schemas.microsoft.com/office/drawing/2014/main" val="3464367393"/>
                    </a:ext>
                  </a:extLst>
                </a:gridCol>
                <a:gridCol w="909618">
                  <a:extLst>
                    <a:ext uri="{9D8B030D-6E8A-4147-A177-3AD203B41FA5}">
                      <a16:colId xmlns:a16="http://schemas.microsoft.com/office/drawing/2014/main" val="214352078"/>
                    </a:ext>
                  </a:extLst>
                </a:gridCol>
                <a:gridCol w="909618">
                  <a:extLst>
                    <a:ext uri="{9D8B030D-6E8A-4147-A177-3AD203B41FA5}">
                      <a16:colId xmlns:a16="http://schemas.microsoft.com/office/drawing/2014/main" val="1349968986"/>
                    </a:ext>
                  </a:extLst>
                </a:gridCol>
                <a:gridCol w="909618">
                  <a:extLst>
                    <a:ext uri="{9D8B030D-6E8A-4147-A177-3AD203B41FA5}">
                      <a16:colId xmlns:a16="http://schemas.microsoft.com/office/drawing/2014/main" val="489338944"/>
                    </a:ext>
                  </a:extLst>
                </a:gridCol>
                <a:gridCol w="909618">
                  <a:extLst>
                    <a:ext uri="{9D8B030D-6E8A-4147-A177-3AD203B41FA5}">
                      <a16:colId xmlns:a16="http://schemas.microsoft.com/office/drawing/2014/main" val="3341631726"/>
                    </a:ext>
                  </a:extLst>
                </a:gridCol>
                <a:gridCol w="909618">
                  <a:extLst>
                    <a:ext uri="{9D8B030D-6E8A-4147-A177-3AD203B41FA5}">
                      <a16:colId xmlns:a16="http://schemas.microsoft.com/office/drawing/2014/main" val="1675448879"/>
                    </a:ext>
                  </a:extLst>
                </a:gridCol>
                <a:gridCol w="909618">
                  <a:extLst>
                    <a:ext uri="{9D8B030D-6E8A-4147-A177-3AD203B41FA5}">
                      <a16:colId xmlns:a16="http://schemas.microsoft.com/office/drawing/2014/main" val="2264802702"/>
                    </a:ext>
                  </a:extLst>
                </a:gridCol>
              </a:tblGrid>
              <a:tr h="198723">
                <a:tc rowSpan="2">
                  <a:txBody>
                    <a:bodyPr/>
                    <a:lstStyle/>
                    <a:p>
                      <a:pPr marL="182880" indent="-1270" algn="ctr" fontAlgn="t">
                        <a:spcBef>
                          <a:spcPts val="600"/>
                        </a:spcBef>
                        <a:spcAft>
                          <a:spcPts val="300"/>
                        </a:spcAft>
                        <a:buNone/>
                      </a:pPr>
                      <a:r>
                        <a:rPr lang="en-US" sz="1400" dirty="0">
                          <a:effectLst/>
                          <a:latin typeface="Times New Roman" panose="02020603050405020304" pitchFamily="18" charset="0"/>
                          <a:cs typeface="Times New Roman" panose="02020603050405020304" pitchFamily="18" charset="0"/>
                        </a:rPr>
                        <a:t>Parameters</a:t>
                      </a:r>
                      <a:endParaRPr lang="en-IN" sz="1400" b="1" i="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marL="182880" indent="-1270" algn="ctr" fontAlgn="t">
                        <a:spcBef>
                          <a:spcPts val="600"/>
                        </a:spcBef>
                        <a:spcAft>
                          <a:spcPts val="300"/>
                        </a:spcAft>
                        <a:buNone/>
                      </a:pPr>
                      <a:r>
                        <a:rPr lang="en-US" sz="1400" dirty="0">
                          <a:effectLst/>
                          <a:latin typeface="Times New Roman" panose="02020603050405020304" pitchFamily="18" charset="0"/>
                          <a:cs typeface="Times New Roman" panose="02020603050405020304" pitchFamily="18" charset="0"/>
                        </a:rPr>
                        <a:t>Earth to Moon</a:t>
                      </a:r>
                      <a:endParaRPr lang="en-IN" sz="1400" b="1" i="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IN"/>
                    </a:p>
                  </a:txBody>
                  <a:tcPr/>
                </a:tc>
                <a:tc gridSpan="2">
                  <a:txBody>
                    <a:bodyPr/>
                    <a:lstStyle/>
                    <a:p>
                      <a:pPr marL="182880" indent="-1270" algn="ctr" fontAlgn="t">
                        <a:spcBef>
                          <a:spcPts val="600"/>
                        </a:spcBef>
                        <a:spcAft>
                          <a:spcPts val="300"/>
                        </a:spcAft>
                        <a:buNone/>
                      </a:pPr>
                      <a:r>
                        <a:rPr lang="en-US" sz="1400" dirty="0">
                          <a:effectLst/>
                          <a:latin typeface="Times New Roman" panose="02020603050405020304" pitchFamily="18" charset="0"/>
                          <a:cs typeface="Times New Roman" panose="02020603050405020304" pitchFamily="18" charset="0"/>
                        </a:rPr>
                        <a:t>Earth to Mars</a:t>
                      </a:r>
                      <a:endParaRPr lang="en-IN" sz="1400" b="1" i="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IN"/>
                    </a:p>
                  </a:txBody>
                  <a:tcPr/>
                </a:tc>
                <a:tc gridSpan="2">
                  <a:txBody>
                    <a:bodyPr/>
                    <a:lstStyle/>
                    <a:p>
                      <a:pPr marL="182880" indent="-1270" algn="ctr" fontAlgn="t">
                        <a:spcBef>
                          <a:spcPts val="600"/>
                        </a:spcBef>
                        <a:spcAft>
                          <a:spcPts val="300"/>
                        </a:spcAft>
                        <a:buNone/>
                      </a:pPr>
                      <a:r>
                        <a:rPr lang="en-US" sz="1400" dirty="0">
                          <a:effectLst/>
                          <a:latin typeface="Times New Roman" panose="02020603050405020304" pitchFamily="18" charset="0"/>
                          <a:cs typeface="Times New Roman" panose="02020603050405020304" pitchFamily="18" charset="0"/>
                        </a:rPr>
                        <a:t>Moon to Mars</a:t>
                      </a:r>
                      <a:endParaRPr lang="en-IN" sz="1400" b="1" i="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IN"/>
                    </a:p>
                  </a:txBody>
                  <a:tcPr/>
                </a:tc>
                <a:extLst>
                  <a:ext uri="{0D108BD9-81ED-4DB2-BD59-A6C34878D82A}">
                    <a16:rowId xmlns:a16="http://schemas.microsoft.com/office/drawing/2014/main" val="3436645000"/>
                  </a:ext>
                </a:extLst>
              </a:tr>
              <a:tr h="505548">
                <a:tc vMerge="1">
                  <a:txBody>
                    <a:bodyPr/>
                    <a:lstStyle/>
                    <a:p>
                      <a:endParaRPr lang="en-IN"/>
                    </a:p>
                  </a:txBody>
                  <a:tcPr/>
                </a:tc>
                <a:tc>
                  <a:txBody>
                    <a:bodyPr/>
                    <a:lstStyle/>
                    <a:p>
                      <a:pPr marL="182880" indent="-1270" algn="ctr" fontAlgn="t">
                        <a:spcBef>
                          <a:spcPts val="600"/>
                        </a:spcBef>
                        <a:spcAft>
                          <a:spcPts val="300"/>
                        </a:spcAft>
                        <a:buNone/>
                      </a:pPr>
                      <a:r>
                        <a:rPr lang="en-US" sz="1400" dirty="0">
                          <a:effectLst/>
                          <a:latin typeface="Times New Roman" panose="02020603050405020304" pitchFamily="18" charset="0"/>
                          <a:cs typeface="Times New Roman" panose="02020603050405020304" pitchFamily="18" charset="0"/>
                        </a:rPr>
                        <a:t>Up-Link</a:t>
                      </a:r>
                      <a:endParaRPr lang="en-IN" sz="1400" b="1" i="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82880" indent="-1270" algn="ctr" fontAlgn="t">
                        <a:spcBef>
                          <a:spcPts val="600"/>
                        </a:spcBef>
                        <a:spcAft>
                          <a:spcPts val="300"/>
                        </a:spcAft>
                        <a:buNone/>
                      </a:pPr>
                      <a:r>
                        <a:rPr lang="en-US" sz="1400" dirty="0">
                          <a:effectLst/>
                          <a:latin typeface="Times New Roman" panose="02020603050405020304" pitchFamily="18" charset="0"/>
                          <a:cs typeface="Times New Roman" panose="02020603050405020304" pitchFamily="18" charset="0"/>
                        </a:rPr>
                        <a:t>Down-Link</a:t>
                      </a:r>
                      <a:endParaRPr lang="en-IN" sz="1400" b="1" i="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82880" indent="-1270" algn="ctr" fontAlgn="t">
                        <a:spcBef>
                          <a:spcPts val="600"/>
                        </a:spcBef>
                        <a:spcAft>
                          <a:spcPts val="300"/>
                        </a:spcAft>
                        <a:buNone/>
                      </a:pPr>
                      <a:r>
                        <a:rPr lang="en-US" sz="1400" dirty="0">
                          <a:effectLst/>
                          <a:latin typeface="Times New Roman" panose="02020603050405020304" pitchFamily="18" charset="0"/>
                          <a:cs typeface="Times New Roman" panose="02020603050405020304" pitchFamily="18" charset="0"/>
                        </a:rPr>
                        <a:t>Up-Link</a:t>
                      </a:r>
                      <a:endParaRPr lang="en-IN" sz="1400" b="1" i="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82880" indent="-1270" algn="ctr" fontAlgn="t">
                        <a:spcBef>
                          <a:spcPts val="600"/>
                        </a:spcBef>
                        <a:spcAft>
                          <a:spcPts val="300"/>
                        </a:spcAft>
                        <a:buNone/>
                      </a:pPr>
                      <a:r>
                        <a:rPr lang="en-US" sz="1400" dirty="0">
                          <a:effectLst/>
                          <a:latin typeface="Times New Roman" panose="02020603050405020304" pitchFamily="18" charset="0"/>
                          <a:cs typeface="Times New Roman" panose="02020603050405020304" pitchFamily="18" charset="0"/>
                        </a:rPr>
                        <a:t>Down-Link</a:t>
                      </a:r>
                      <a:endParaRPr lang="en-IN" sz="1400" b="1" i="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82880" indent="-1270" algn="ctr" fontAlgn="t">
                        <a:spcBef>
                          <a:spcPts val="600"/>
                        </a:spcBef>
                        <a:spcAft>
                          <a:spcPts val="300"/>
                        </a:spcAft>
                        <a:buNone/>
                      </a:pPr>
                      <a:r>
                        <a:rPr lang="en-US" sz="1400" dirty="0">
                          <a:effectLst/>
                          <a:latin typeface="Times New Roman" panose="02020603050405020304" pitchFamily="18" charset="0"/>
                          <a:cs typeface="Times New Roman" panose="02020603050405020304" pitchFamily="18" charset="0"/>
                        </a:rPr>
                        <a:t>Up-Link</a:t>
                      </a:r>
                      <a:endParaRPr lang="en-IN" sz="1400" b="1" i="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82880" indent="-1270" algn="ctr" fontAlgn="t">
                        <a:spcBef>
                          <a:spcPts val="600"/>
                        </a:spcBef>
                        <a:spcAft>
                          <a:spcPts val="300"/>
                        </a:spcAft>
                        <a:buNone/>
                      </a:pPr>
                      <a:r>
                        <a:rPr lang="en-US" sz="1400" dirty="0">
                          <a:effectLst/>
                          <a:latin typeface="Times New Roman" panose="02020603050405020304" pitchFamily="18" charset="0"/>
                          <a:cs typeface="Times New Roman" panose="02020603050405020304" pitchFamily="18" charset="0"/>
                        </a:rPr>
                        <a:t>Down-Link</a:t>
                      </a:r>
                      <a:endParaRPr lang="en-IN" sz="1400" b="1" i="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11200946"/>
                  </a:ext>
                </a:extLst>
              </a:tr>
              <a:tr h="542996">
                <a:tc>
                  <a:txBody>
                    <a:bodyPr/>
                    <a:lstStyle/>
                    <a:p>
                      <a:pPr marL="182880" indent="-1270" fontAlgn="t">
                        <a:spcBef>
                          <a:spcPts val="600"/>
                        </a:spcBef>
                        <a:spcAft>
                          <a:spcPts val="300"/>
                        </a:spcAft>
                        <a:buNone/>
                      </a:pPr>
                      <a:r>
                        <a:rPr lang="en-US" sz="1400" dirty="0">
                          <a:effectLst/>
                          <a:latin typeface="Times New Roman" panose="02020603050405020304" pitchFamily="18" charset="0"/>
                          <a:cs typeface="Times New Roman" panose="02020603050405020304" pitchFamily="18" charset="0"/>
                        </a:rPr>
                        <a:t>Distance (m)</a:t>
                      </a:r>
                      <a:endParaRPr lang="en-IN" sz="1400" b="1" i="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182880" indent="-1270" algn="ctr" fontAlgn="t">
                        <a:spcBef>
                          <a:spcPts val="600"/>
                        </a:spcBef>
                        <a:spcAft>
                          <a:spcPts val="300"/>
                        </a:spcAft>
                        <a:buNone/>
                      </a:pPr>
                      <a:r>
                        <a:rPr lang="en-US" sz="1400">
                          <a:effectLst/>
                          <a:latin typeface="Times New Roman" panose="02020603050405020304" pitchFamily="18" charset="0"/>
                          <a:cs typeface="Times New Roman" panose="02020603050405020304" pitchFamily="18" charset="0"/>
                        </a:rPr>
                        <a:t>3.84× 10</a:t>
                      </a:r>
                      <a:r>
                        <a:rPr lang="en-US" sz="1400" baseline="30000">
                          <a:effectLst/>
                          <a:latin typeface="Times New Roman" panose="02020603050405020304" pitchFamily="18" charset="0"/>
                          <a:cs typeface="Times New Roman" panose="02020603050405020304" pitchFamily="18" charset="0"/>
                        </a:rPr>
                        <a:t>8</a:t>
                      </a:r>
                      <a:endParaRPr lang="en-IN" sz="1400" b="1" i="1">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182880" indent="-1270" algn="ctr" fontAlgn="t">
                        <a:spcBef>
                          <a:spcPts val="600"/>
                        </a:spcBef>
                        <a:spcAft>
                          <a:spcPts val="300"/>
                        </a:spcAft>
                        <a:buNone/>
                      </a:pPr>
                      <a:r>
                        <a:rPr lang="en-US" sz="1400" dirty="0">
                          <a:effectLst/>
                          <a:latin typeface="Times New Roman" panose="02020603050405020304" pitchFamily="18" charset="0"/>
                          <a:cs typeface="Times New Roman" panose="02020603050405020304" pitchFamily="18" charset="0"/>
                        </a:rPr>
                        <a:t>3.84× 10</a:t>
                      </a:r>
                      <a:r>
                        <a:rPr lang="en-US" sz="1400" baseline="30000" dirty="0">
                          <a:effectLst/>
                          <a:latin typeface="Times New Roman" panose="02020603050405020304" pitchFamily="18" charset="0"/>
                          <a:cs typeface="Times New Roman" panose="02020603050405020304" pitchFamily="18" charset="0"/>
                        </a:rPr>
                        <a:t>8</a:t>
                      </a:r>
                      <a:endParaRPr lang="en-IN" sz="1400" b="1" i="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182880" indent="-1270" algn="ctr" fontAlgn="t">
                        <a:spcBef>
                          <a:spcPts val="600"/>
                        </a:spcBef>
                        <a:spcAft>
                          <a:spcPts val="300"/>
                        </a:spcAft>
                        <a:buNone/>
                      </a:pPr>
                      <a:r>
                        <a:rPr lang="en-US" sz="1400">
                          <a:effectLst/>
                          <a:latin typeface="Times New Roman" panose="02020603050405020304" pitchFamily="18" charset="0"/>
                          <a:cs typeface="Times New Roman" panose="02020603050405020304" pitchFamily="18" charset="0"/>
                        </a:rPr>
                        <a:t>4.00× 10</a:t>
                      </a:r>
                      <a:r>
                        <a:rPr lang="en-US" sz="1400" baseline="30000">
                          <a:effectLst/>
                          <a:latin typeface="Times New Roman" panose="02020603050405020304" pitchFamily="18" charset="0"/>
                          <a:cs typeface="Times New Roman" panose="02020603050405020304" pitchFamily="18" charset="0"/>
                        </a:rPr>
                        <a:t>11</a:t>
                      </a:r>
                      <a:endParaRPr lang="en-IN" sz="1400" b="1" i="1">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182880" indent="-1270" algn="ctr" fontAlgn="t">
                        <a:spcBef>
                          <a:spcPts val="600"/>
                        </a:spcBef>
                        <a:spcAft>
                          <a:spcPts val="300"/>
                        </a:spcAft>
                        <a:buNone/>
                      </a:pPr>
                      <a:r>
                        <a:rPr lang="en-US" sz="1400">
                          <a:effectLst/>
                          <a:latin typeface="Times New Roman" panose="02020603050405020304" pitchFamily="18" charset="0"/>
                          <a:cs typeface="Times New Roman" panose="02020603050405020304" pitchFamily="18" charset="0"/>
                        </a:rPr>
                        <a:t>4.00× 10</a:t>
                      </a:r>
                      <a:r>
                        <a:rPr lang="en-US" sz="1400" baseline="30000">
                          <a:effectLst/>
                          <a:latin typeface="Times New Roman" panose="02020603050405020304" pitchFamily="18" charset="0"/>
                          <a:cs typeface="Times New Roman" panose="02020603050405020304" pitchFamily="18" charset="0"/>
                        </a:rPr>
                        <a:t>11</a:t>
                      </a:r>
                      <a:endParaRPr lang="en-IN" sz="1400" b="1" i="1">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182880" indent="-1270" algn="ctr" fontAlgn="t">
                        <a:spcBef>
                          <a:spcPts val="600"/>
                        </a:spcBef>
                        <a:spcAft>
                          <a:spcPts val="300"/>
                        </a:spcAft>
                        <a:buNone/>
                      </a:pPr>
                      <a:r>
                        <a:rPr lang="en-US" sz="1400">
                          <a:effectLst/>
                          <a:latin typeface="Times New Roman" panose="02020603050405020304" pitchFamily="18" charset="0"/>
                          <a:cs typeface="Times New Roman" panose="02020603050405020304" pitchFamily="18" charset="0"/>
                        </a:rPr>
                        <a:t>4.014× 10</a:t>
                      </a:r>
                      <a:r>
                        <a:rPr lang="en-US" sz="1400" baseline="30000">
                          <a:effectLst/>
                          <a:latin typeface="Times New Roman" panose="02020603050405020304" pitchFamily="18" charset="0"/>
                          <a:cs typeface="Times New Roman" panose="02020603050405020304" pitchFamily="18" charset="0"/>
                        </a:rPr>
                        <a:t>10</a:t>
                      </a:r>
                      <a:endParaRPr lang="en-IN" sz="1400" b="1" i="1">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182880" indent="-1270" algn="ctr" fontAlgn="t">
                        <a:spcBef>
                          <a:spcPts val="600"/>
                        </a:spcBef>
                        <a:spcAft>
                          <a:spcPts val="300"/>
                        </a:spcAft>
                        <a:buNone/>
                      </a:pPr>
                      <a:r>
                        <a:rPr lang="en-US" sz="1400" dirty="0">
                          <a:effectLst/>
                          <a:latin typeface="Times New Roman" panose="02020603050405020304" pitchFamily="18" charset="0"/>
                          <a:cs typeface="Times New Roman" panose="02020603050405020304" pitchFamily="18" charset="0"/>
                        </a:rPr>
                        <a:t>4.014× 10</a:t>
                      </a:r>
                      <a:r>
                        <a:rPr lang="en-US" sz="1400" baseline="30000" dirty="0">
                          <a:effectLst/>
                          <a:latin typeface="Times New Roman" panose="02020603050405020304" pitchFamily="18" charset="0"/>
                          <a:cs typeface="Times New Roman" panose="02020603050405020304" pitchFamily="18" charset="0"/>
                        </a:rPr>
                        <a:t>10</a:t>
                      </a:r>
                      <a:endParaRPr lang="en-IN" sz="1400" b="1" i="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638283765"/>
                  </a:ext>
                </a:extLst>
              </a:tr>
              <a:tr h="394782">
                <a:tc>
                  <a:txBody>
                    <a:bodyPr/>
                    <a:lstStyle/>
                    <a:p>
                      <a:pPr marL="182880" indent="-1270" fontAlgn="t">
                        <a:spcBef>
                          <a:spcPts val="600"/>
                        </a:spcBef>
                        <a:spcAft>
                          <a:spcPts val="300"/>
                        </a:spcAft>
                        <a:buNone/>
                      </a:pPr>
                      <a:r>
                        <a:rPr lang="en-US" sz="1400">
                          <a:effectLst/>
                          <a:latin typeface="Times New Roman" panose="02020603050405020304" pitchFamily="18" charset="0"/>
                          <a:cs typeface="Times New Roman" panose="02020603050405020304" pitchFamily="18" charset="0"/>
                        </a:rPr>
                        <a:t>Frequency (GHz)</a:t>
                      </a:r>
                      <a:endParaRPr lang="en-IN" sz="1400" b="1" i="1">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82880" indent="-1270" algn="ctr" fontAlgn="t">
                        <a:spcBef>
                          <a:spcPts val="600"/>
                        </a:spcBef>
                        <a:spcAft>
                          <a:spcPts val="300"/>
                        </a:spcAft>
                        <a:buNone/>
                      </a:pPr>
                      <a:r>
                        <a:rPr lang="en-US" sz="1400" dirty="0">
                          <a:effectLst/>
                          <a:latin typeface="Times New Roman" panose="02020603050405020304" pitchFamily="18" charset="0"/>
                          <a:cs typeface="Times New Roman" panose="02020603050405020304" pitchFamily="18" charset="0"/>
                        </a:rPr>
                        <a:t>34.2</a:t>
                      </a:r>
                      <a:endParaRPr lang="en-IN" sz="1400" b="1" i="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82880" indent="-1270" algn="ctr" fontAlgn="t">
                        <a:spcBef>
                          <a:spcPts val="600"/>
                        </a:spcBef>
                        <a:spcAft>
                          <a:spcPts val="300"/>
                        </a:spcAft>
                        <a:buNone/>
                      </a:pPr>
                      <a:r>
                        <a:rPr lang="en-US" sz="1400">
                          <a:effectLst/>
                          <a:latin typeface="Times New Roman" panose="02020603050405020304" pitchFamily="18" charset="0"/>
                          <a:cs typeface="Times New Roman" panose="02020603050405020304" pitchFamily="18" charset="0"/>
                        </a:rPr>
                        <a:t>32</a:t>
                      </a:r>
                      <a:endParaRPr lang="en-IN" sz="1400" b="1" i="1">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82880" indent="-1270" algn="ctr" fontAlgn="t">
                        <a:spcBef>
                          <a:spcPts val="600"/>
                        </a:spcBef>
                        <a:spcAft>
                          <a:spcPts val="300"/>
                        </a:spcAft>
                        <a:buNone/>
                      </a:pPr>
                      <a:r>
                        <a:rPr lang="en-US" sz="1400" dirty="0">
                          <a:effectLst/>
                          <a:latin typeface="Times New Roman" panose="02020603050405020304" pitchFamily="18" charset="0"/>
                          <a:cs typeface="Times New Roman" panose="02020603050405020304" pitchFamily="18" charset="0"/>
                        </a:rPr>
                        <a:t>34.2</a:t>
                      </a:r>
                      <a:endParaRPr lang="en-IN" sz="1400" b="1" i="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82880" indent="-1270" algn="ctr" fontAlgn="t">
                        <a:spcBef>
                          <a:spcPts val="600"/>
                        </a:spcBef>
                        <a:spcAft>
                          <a:spcPts val="300"/>
                        </a:spcAft>
                        <a:buNone/>
                      </a:pPr>
                      <a:r>
                        <a:rPr lang="en-US" sz="1400">
                          <a:effectLst/>
                          <a:latin typeface="Times New Roman" panose="02020603050405020304" pitchFamily="18" charset="0"/>
                          <a:cs typeface="Times New Roman" panose="02020603050405020304" pitchFamily="18" charset="0"/>
                        </a:rPr>
                        <a:t>32</a:t>
                      </a:r>
                      <a:endParaRPr lang="en-IN" sz="1400" b="1" i="1">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82880" indent="-1270" algn="ctr" fontAlgn="t">
                        <a:spcBef>
                          <a:spcPts val="600"/>
                        </a:spcBef>
                        <a:spcAft>
                          <a:spcPts val="300"/>
                        </a:spcAft>
                        <a:buNone/>
                      </a:pPr>
                      <a:r>
                        <a:rPr lang="en-US" sz="1400">
                          <a:effectLst/>
                          <a:latin typeface="Times New Roman" panose="02020603050405020304" pitchFamily="18" charset="0"/>
                          <a:cs typeface="Times New Roman" panose="02020603050405020304" pitchFamily="18" charset="0"/>
                        </a:rPr>
                        <a:t>34.2</a:t>
                      </a:r>
                      <a:endParaRPr lang="en-IN" sz="1400" b="1" i="1">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82880" indent="-1270" algn="ctr" fontAlgn="t">
                        <a:spcBef>
                          <a:spcPts val="600"/>
                        </a:spcBef>
                        <a:spcAft>
                          <a:spcPts val="300"/>
                        </a:spcAft>
                        <a:buNone/>
                      </a:pPr>
                      <a:r>
                        <a:rPr lang="en-US" sz="1400">
                          <a:effectLst/>
                          <a:latin typeface="Times New Roman" panose="02020603050405020304" pitchFamily="18" charset="0"/>
                          <a:cs typeface="Times New Roman" panose="02020603050405020304" pitchFamily="18" charset="0"/>
                        </a:rPr>
                        <a:t>32</a:t>
                      </a:r>
                      <a:endParaRPr lang="en-IN" sz="1400" b="1" i="1">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02793955"/>
                  </a:ext>
                </a:extLst>
              </a:tr>
              <a:tr h="337032">
                <a:tc>
                  <a:txBody>
                    <a:bodyPr/>
                    <a:lstStyle/>
                    <a:p>
                      <a:pPr marL="182880" indent="-1270" fontAlgn="t">
                        <a:spcBef>
                          <a:spcPts val="600"/>
                        </a:spcBef>
                        <a:spcAft>
                          <a:spcPts val="300"/>
                        </a:spcAft>
                        <a:buNone/>
                      </a:pPr>
                      <a:r>
                        <a:rPr lang="en-US" sz="1400">
                          <a:effectLst/>
                          <a:latin typeface="Times New Roman" panose="02020603050405020304" pitchFamily="18" charset="0"/>
                          <a:cs typeface="Times New Roman" panose="02020603050405020304" pitchFamily="18" charset="0"/>
                        </a:rPr>
                        <a:t>FSPL (dB)</a:t>
                      </a:r>
                      <a:endParaRPr lang="en-IN" sz="1400" b="1" i="1">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82880" indent="-1270" algn="ctr" fontAlgn="t">
                        <a:spcBef>
                          <a:spcPts val="600"/>
                        </a:spcBef>
                        <a:spcAft>
                          <a:spcPts val="300"/>
                        </a:spcAft>
                        <a:buNone/>
                      </a:pPr>
                      <a:r>
                        <a:rPr lang="en-US" sz="1400">
                          <a:effectLst/>
                          <a:latin typeface="Times New Roman" panose="02020603050405020304" pitchFamily="18" charset="0"/>
                          <a:cs typeface="Times New Roman" panose="02020603050405020304" pitchFamily="18" charset="0"/>
                        </a:rPr>
                        <a:t>234.81</a:t>
                      </a:r>
                      <a:endParaRPr lang="en-IN" sz="1400" b="1" i="1">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82880" indent="-1270" algn="ctr" fontAlgn="t">
                        <a:spcBef>
                          <a:spcPts val="600"/>
                        </a:spcBef>
                        <a:spcAft>
                          <a:spcPts val="300"/>
                        </a:spcAft>
                        <a:buNone/>
                      </a:pPr>
                      <a:r>
                        <a:rPr lang="en-US" sz="1400" dirty="0">
                          <a:effectLst/>
                          <a:latin typeface="Times New Roman" panose="02020603050405020304" pitchFamily="18" charset="0"/>
                          <a:cs typeface="Times New Roman" panose="02020603050405020304" pitchFamily="18" charset="0"/>
                        </a:rPr>
                        <a:t>234.23</a:t>
                      </a:r>
                      <a:endParaRPr lang="en-IN" sz="1400" b="1" i="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82880" indent="-1270" algn="ctr" fontAlgn="t">
                        <a:spcBef>
                          <a:spcPts val="600"/>
                        </a:spcBef>
                        <a:spcAft>
                          <a:spcPts val="300"/>
                        </a:spcAft>
                        <a:buNone/>
                      </a:pPr>
                      <a:r>
                        <a:rPr lang="en-US" sz="1400" dirty="0">
                          <a:effectLst/>
                          <a:latin typeface="Times New Roman" panose="02020603050405020304" pitchFamily="18" charset="0"/>
                          <a:cs typeface="Times New Roman" panose="02020603050405020304" pitchFamily="18" charset="0"/>
                        </a:rPr>
                        <a:t>277.43</a:t>
                      </a:r>
                      <a:endParaRPr lang="en-IN" sz="1400" b="1" i="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82880" indent="-1270" algn="ctr" fontAlgn="t">
                        <a:spcBef>
                          <a:spcPts val="600"/>
                        </a:spcBef>
                        <a:spcAft>
                          <a:spcPts val="300"/>
                        </a:spcAft>
                        <a:buNone/>
                      </a:pPr>
                      <a:r>
                        <a:rPr lang="en-US" sz="1400" dirty="0">
                          <a:effectLst/>
                          <a:latin typeface="Times New Roman" panose="02020603050405020304" pitchFamily="18" charset="0"/>
                          <a:cs typeface="Times New Roman" panose="02020603050405020304" pitchFamily="18" charset="0"/>
                        </a:rPr>
                        <a:t>294.59</a:t>
                      </a:r>
                      <a:endParaRPr lang="en-IN" sz="1400" b="1" i="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82880" indent="-1270" algn="ctr" fontAlgn="t">
                        <a:spcBef>
                          <a:spcPts val="600"/>
                        </a:spcBef>
                        <a:spcAft>
                          <a:spcPts val="300"/>
                        </a:spcAft>
                        <a:buNone/>
                      </a:pPr>
                      <a:r>
                        <a:rPr lang="en-US" sz="1400">
                          <a:effectLst/>
                          <a:latin typeface="Times New Roman" panose="02020603050405020304" pitchFamily="18" charset="0"/>
                          <a:cs typeface="Times New Roman" panose="02020603050405020304" pitchFamily="18" charset="0"/>
                        </a:rPr>
                        <a:t>275.20</a:t>
                      </a:r>
                      <a:endParaRPr lang="en-IN" sz="1400" b="1" i="1">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82880" indent="-1270" algn="ctr" fontAlgn="t">
                        <a:spcBef>
                          <a:spcPts val="600"/>
                        </a:spcBef>
                        <a:spcAft>
                          <a:spcPts val="300"/>
                        </a:spcAft>
                        <a:buNone/>
                      </a:pPr>
                      <a:r>
                        <a:rPr lang="en-US" sz="1400">
                          <a:effectLst/>
                          <a:latin typeface="Times New Roman" panose="02020603050405020304" pitchFamily="18" charset="0"/>
                          <a:cs typeface="Times New Roman" panose="02020603050405020304" pitchFamily="18" charset="0"/>
                        </a:rPr>
                        <a:t>274.59</a:t>
                      </a:r>
                      <a:endParaRPr lang="en-IN" sz="1400" b="1" i="1">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489970993"/>
                  </a:ext>
                </a:extLst>
              </a:tr>
              <a:tr h="394782">
                <a:tc>
                  <a:txBody>
                    <a:bodyPr/>
                    <a:lstStyle/>
                    <a:p>
                      <a:pPr marL="182880" indent="-1270" fontAlgn="t">
                        <a:spcBef>
                          <a:spcPts val="600"/>
                        </a:spcBef>
                        <a:spcAft>
                          <a:spcPts val="300"/>
                        </a:spcAft>
                        <a:buNone/>
                      </a:pPr>
                      <a:r>
                        <a:rPr lang="en-US" sz="1400">
                          <a:effectLst/>
                          <a:latin typeface="Times New Roman" panose="02020603050405020304" pitchFamily="18" charset="0"/>
                          <a:cs typeface="Times New Roman" panose="02020603050405020304" pitchFamily="18" charset="0"/>
                        </a:rPr>
                        <a:t>Data Rate (Mbps)</a:t>
                      </a:r>
                      <a:endParaRPr lang="en-IN" sz="1400" b="1" i="1">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82880" indent="-1270" algn="ctr" fontAlgn="t">
                        <a:spcBef>
                          <a:spcPts val="600"/>
                        </a:spcBef>
                        <a:spcAft>
                          <a:spcPts val="300"/>
                        </a:spcAft>
                        <a:buNone/>
                      </a:pPr>
                      <a:r>
                        <a:rPr lang="en-US" sz="1400">
                          <a:effectLst/>
                          <a:latin typeface="Times New Roman" panose="02020603050405020304" pitchFamily="18" charset="0"/>
                          <a:cs typeface="Times New Roman" panose="02020603050405020304" pitchFamily="18" charset="0"/>
                        </a:rPr>
                        <a:t>4.5</a:t>
                      </a:r>
                      <a:endParaRPr lang="en-IN" sz="1400" b="1" i="1">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82880" indent="-1270" algn="ctr" fontAlgn="t">
                        <a:spcBef>
                          <a:spcPts val="600"/>
                        </a:spcBef>
                        <a:spcAft>
                          <a:spcPts val="300"/>
                        </a:spcAft>
                        <a:buNone/>
                      </a:pPr>
                      <a:r>
                        <a:rPr lang="en-US" sz="1400">
                          <a:effectLst/>
                          <a:latin typeface="Times New Roman" panose="02020603050405020304" pitchFamily="18" charset="0"/>
                          <a:cs typeface="Times New Roman" panose="02020603050405020304" pitchFamily="18" charset="0"/>
                        </a:rPr>
                        <a:t>4.5</a:t>
                      </a:r>
                      <a:endParaRPr lang="en-IN" sz="1400" b="1" i="1">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82880" indent="-1270" algn="ctr" fontAlgn="t">
                        <a:spcBef>
                          <a:spcPts val="600"/>
                        </a:spcBef>
                        <a:spcAft>
                          <a:spcPts val="300"/>
                        </a:spcAft>
                        <a:buNone/>
                      </a:pPr>
                      <a:r>
                        <a:rPr lang="en-US" sz="1400" dirty="0">
                          <a:effectLst/>
                          <a:latin typeface="Times New Roman" panose="02020603050405020304" pitchFamily="18" charset="0"/>
                          <a:cs typeface="Times New Roman" panose="02020603050405020304" pitchFamily="18" charset="0"/>
                        </a:rPr>
                        <a:t>3</a:t>
                      </a:r>
                      <a:endParaRPr lang="en-IN" sz="1400" b="1" i="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82880" indent="-1270" algn="ctr" fontAlgn="t">
                        <a:spcBef>
                          <a:spcPts val="600"/>
                        </a:spcBef>
                        <a:spcAft>
                          <a:spcPts val="300"/>
                        </a:spcAft>
                        <a:buNone/>
                      </a:pPr>
                      <a:r>
                        <a:rPr lang="en-US" sz="1400" dirty="0">
                          <a:effectLst/>
                          <a:latin typeface="Times New Roman" panose="02020603050405020304" pitchFamily="18" charset="0"/>
                          <a:cs typeface="Times New Roman" panose="02020603050405020304" pitchFamily="18" charset="0"/>
                        </a:rPr>
                        <a:t>3</a:t>
                      </a:r>
                      <a:endParaRPr lang="en-IN" sz="1400" b="1" i="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82880" indent="-1270" algn="ctr" fontAlgn="t">
                        <a:spcBef>
                          <a:spcPts val="600"/>
                        </a:spcBef>
                        <a:spcAft>
                          <a:spcPts val="300"/>
                        </a:spcAft>
                        <a:buNone/>
                      </a:pPr>
                      <a:r>
                        <a:rPr lang="en-US" sz="1400" dirty="0">
                          <a:effectLst/>
                          <a:latin typeface="Times New Roman" panose="02020603050405020304" pitchFamily="18" charset="0"/>
                          <a:cs typeface="Times New Roman" panose="02020603050405020304" pitchFamily="18" charset="0"/>
                        </a:rPr>
                        <a:t>4.5</a:t>
                      </a:r>
                      <a:endParaRPr lang="en-IN" sz="1400" b="1" i="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82880" indent="-1270" algn="ctr" fontAlgn="t">
                        <a:spcBef>
                          <a:spcPts val="600"/>
                        </a:spcBef>
                        <a:spcAft>
                          <a:spcPts val="300"/>
                        </a:spcAft>
                        <a:buNone/>
                      </a:pPr>
                      <a:r>
                        <a:rPr lang="en-US" sz="1400">
                          <a:effectLst/>
                          <a:latin typeface="Times New Roman" panose="02020603050405020304" pitchFamily="18" charset="0"/>
                          <a:cs typeface="Times New Roman" panose="02020603050405020304" pitchFamily="18" charset="0"/>
                        </a:rPr>
                        <a:t>4.5</a:t>
                      </a:r>
                      <a:endParaRPr lang="en-IN" sz="1400" b="1" i="1">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329753455"/>
                  </a:ext>
                </a:extLst>
              </a:tr>
              <a:tr h="449376">
                <a:tc>
                  <a:txBody>
                    <a:bodyPr/>
                    <a:lstStyle/>
                    <a:p>
                      <a:pPr marL="182880" indent="-1270" fontAlgn="t">
                        <a:spcBef>
                          <a:spcPts val="600"/>
                        </a:spcBef>
                        <a:spcAft>
                          <a:spcPts val="300"/>
                        </a:spcAft>
                        <a:buNone/>
                      </a:pPr>
                      <a:r>
                        <a:rPr lang="en-US" sz="1400" dirty="0">
                          <a:effectLst/>
                          <a:latin typeface="Times New Roman" panose="02020603050405020304" pitchFamily="18" charset="0"/>
                          <a:cs typeface="Times New Roman" panose="02020603050405020304" pitchFamily="18" charset="0"/>
                        </a:rPr>
                        <a:t>Transmitter Power (dBm)</a:t>
                      </a:r>
                      <a:endParaRPr lang="en-IN" sz="1400" b="1" i="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82880" indent="-1270" algn="ctr" fontAlgn="t">
                        <a:spcBef>
                          <a:spcPts val="600"/>
                        </a:spcBef>
                        <a:spcAft>
                          <a:spcPts val="300"/>
                        </a:spcAft>
                        <a:buNone/>
                      </a:pPr>
                      <a:r>
                        <a:rPr lang="en-US" sz="1400">
                          <a:effectLst/>
                          <a:latin typeface="Times New Roman" panose="02020603050405020304" pitchFamily="18" charset="0"/>
                          <a:cs typeface="Times New Roman" panose="02020603050405020304" pitchFamily="18" charset="0"/>
                        </a:rPr>
                        <a:t>73</a:t>
                      </a:r>
                      <a:endParaRPr lang="en-IN" sz="1400" b="1" i="1">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82880" indent="-1270" algn="ctr" fontAlgn="t">
                        <a:spcBef>
                          <a:spcPts val="600"/>
                        </a:spcBef>
                        <a:spcAft>
                          <a:spcPts val="300"/>
                        </a:spcAft>
                        <a:buNone/>
                      </a:pPr>
                      <a:r>
                        <a:rPr lang="en-US" sz="1400">
                          <a:effectLst/>
                          <a:latin typeface="Times New Roman" panose="02020603050405020304" pitchFamily="18" charset="0"/>
                          <a:cs typeface="Times New Roman" panose="02020603050405020304" pitchFamily="18" charset="0"/>
                        </a:rPr>
                        <a:t>50</a:t>
                      </a:r>
                      <a:endParaRPr lang="en-IN" sz="1400" b="1" i="1">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82880" indent="-1270" algn="ctr" fontAlgn="t">
                        <a:spcBef>
                          <a:spcPts val="600"/>
                        </a:spcBef>
                        <a:spcAft>
                          <a:spcPts val="300"/>
                        </a:spcAft>
                        <a:buNone/>
                      </a:pPr>
                      <a:r>
                        <a:rPr lang="en-US" sz="1400">
                          <a:effectLst/>
                          <a:latin typeface="Times New Roman" panose="02020603050405020304" pitchFamily="18" charset="0"/>
                          <a:cs typeface="Times New Roman" panose="02020603050405020304" pitchFamily="18" charset="0"/>
                        </a:rPr>
                        <a:t>73</a:t>
                      </a:r>
                      <a:endParaRPr lang="en-IN" sz="1400" b="1" i="1">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82880" indent="-1270" algn="ctr" fontAlgn="t">
                        <a:spcBef>
                          <a:spcPts val="600"/>
                        </a:spcBef>
                        <a:spcAft>
                          <a:spcPts val="300"/>
                        </a:spcAft>
                        <a:buNone/>
                      </a:pPr>
                      <a:r>
                        <a:rPr lang="en-US" sz="1400" dirty="0">
                          <a:effectLst/>
                          <a:latin typeface="Times New Roman" panose="02020603050405020304" pitchFamily="18" charset="0"/>
                          <a:cs typeface="Times New Roman" panose="02020603050405020304" pitchFamily="18" charset="0"/>
                        </a:rPr>
                        <a:t>50</a:t>
                      </a:r>
                      <a:endParaRPr lang="en-IN" sz="1400" b="1" i="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82880" indent="-1270" algn="ctr" fontAlgn="t">
                        <a:spcBef>
                          <a:spcPts val="600"/>
                        </a:spcBef>
                        <a:spcAft>
                          <a:spcPts val="300"/>
                        </a:spcAft>
                        <a:buNone/>
                      </a:pPr>
                      <a:r>
                        <a:rPr lang="en-US" sz="1400" dirty="0">
                          <a:effectLst/>
                          <a:latin typeface="Times New Roman" panose="02020603050405020304" pitchFamily="18" charset="0"/>
                          <a:cs typeface="Times New Roman" panose="02020603050405020304" pitchFamily="18" charset="0"/>
                        </a:rPr>
                        <a:t>50</a:t>
                      </a:r>
                      <a:endParaRPr lang="en-IN" sz="1400" b="1" i="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82880" indent="-1270" algn="ctr" fontAlgn="t">
                        <a:spcBef>
                          <a:spcPts val="600"/>
                        </a:spcBef>
                        <a:spcAft>
                          <a:spcPts val="300"/>
                        </a:spcAft>
                        <a:buNone/>
                      </a:pPr>
                      <a:r>
                        <a:rPr lang="en-US" sz="1400">
                          <a:effectLst/>
                          <a:latin typeface="Times New Roman" panose="02020603050405020304" pitchFamily="18" charset="0"/>
                          <a:cs typeface="Times New Roman" panose="02020603050405020304" pitchFamily="18" charset="0"/>
                        </a:rPr>
                        <a:t>60</a:t>
                      </a:r>
                      <a:endParaRPr lang="en-IN" sz="1400" b="1" i="1">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93327578"/>
                  </a:ext>
                </a:extLst>
              </a:tr>
              <a:tr h="449376">
                <a:tc>
                  <a:txBody>
                    <a:bodyPr/>
                    <a:lstStyle/>
                    <a:p>
                      <a:pPr marL="182880" indent="-1270" fontAlgn="t">
                        <a:spcBef>
                          <a:spcPts val="600"/>
                        </a:spcBef>
                        <a:spcAft>
                          <a:spcPts val="300"/>
                        </a:spcAft>
                        <a:buNone/>
                      </a:pPr>
                      <a:r>
                        <a:rPr lang="en-US" sz="1400">
                          <a:effectLst/>
                          <a:latin typeface="Times New Roman" panose="02020603050405020304" pitchFamily="18" charset="0"/>
                          <a:cs typeface="Times New Roman" panose="02020603050405020304" pitchFamily="18" charset="0"/>
                        </a:rPr>
                        <a:t>Transmitter Gain (dBi)</a:t>
                      </a:r>
                      <a:endParaRPr lang="en-IN" sz="1400" b="1" i="1">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82880" indent="-1270" algn="ctr" fontAlgn="t">
                        <a:spcBef>
                          <a:spcPts val="600"/>
                        </a:spcBef>
                        <a:spcAft>
                          <a:spcPts val="300"/>
                        </a:spcAft>
                        <a:buNone/>
                      </a:pPr>
                      <a:r>
                        <a:rPr lang="en-US" sz="1400">
                          <a:effectLst/>
                          <a:latin typeface="Times New Roman" panose="02020603050405020304" pitchFamily="18" charset="0"/>
                          <a:cs typeface="Times New Roman" panose="02020603050405020304" pitchFamily="18" charset="0"/>
                        </a:rPr>
                        <a:t>47</a:t>
                      </a:r>
                      <a:endParaRPr lang="en-IN" sz="1400" b="1" i="1">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82880" indent="-1270" algn="ctr" fontAlgn="t">
                        <a:spcBef>
                          <a:spcPts val="600"/>
                        </a:spcBef>
                        <a:spcAft>
                          <a:spcPts val="300"/>
                        </a:spcAft>
                        <a:buNone/>
                      </a:pPr>
                      <a:r>
                        <a:rPr lang="en-US" sz="1400" dirty="0">
                          <a:effectLst/>
                          <a:latin typeface="Times New Roman" panose="02020603050405020304" pitchFamily="18" charset="0"/>
                          <a:cs typeface="Times New Roman" panose="02020603050405020304" pitchFamily="18" charset="0"/>
                        </a:rPr>
                        <a:t>46.7</a:t>
                      </a:r>
                      <a:endParaRPr lang="en-IN" sz="1400" b="1" i="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82880" indent="-1270" algn="ctr" fontAlgn="t">
                        <a:spcBef>
                          <a:spcPts val="600"/>
                        </a:spcBef>
                        <a:spcAft>
                          <a:spcPts val="300"/>
                        </a:spcAft>
                        <a:buNone/>
                      </a:pPr>
                      <a:r>
                        <a:rPr lang="en-US" sz="1400">
                          <a:effectLst/>
                          <a:latin typeface="Times New Roman" panose="02020603050405020304" pitchFamily="18" charset="0"/>
                          <a:cs typeface="Times New Roman" panose="02020603050405020304" pitchFamily="18" charset="0"/>
                        </a:rPr>
                        <a:t>47</a:t>
                      </a:r>
                      <a:endParaRPr lang="en-IN" sz="1400" b="1" i="1">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82880" indent="-1270" algn="ctr" fontAlgn="t">
                        <a:spcBef>
                          <a:spcPts val="600"/>
                        </a:spcBef>
                        <a:spcAft>
                          <a:spcPts val="300"/>
                        </a:spcAft>
                        <a:buNone/>
                      </a:pPr>
                      <a:r>
                        <a:rPr lang="en-US" sz="1400">
                          <a:effectLst/>
                          <a:latin typeface="Times New Roman" panose="02020603050405020304" pitchFamily="18" charset="0"/>
                          <a:cs typeface="Times New Roman" panose="02020603050405020304" pitchFamily="18" charset="0"/>
                        </a:rPr>
                        <a:t>46.7</a:t>
                      </a:r>
                      <a:endParaRPr lang="en-IN" sz="1400" b="1" i="1">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82880" indent="-1270" algn="ctr" fontAlgn="t">
                        <a:spcBef>
                          <a:spcPts val="600"/>
                        </a:spcBef>
                        <a:spcAft>
                          <a:spcPts val="300"/>
                        </a:spcAft>
                        <a:buNone/>
                      </a:pPr>
                      <a:r>
                        <a:rPr lang="en-US" sz="1400" dirty="0">
                          <a:effectLst/>
                          <a:latin typeface="Times New Roman" panose="02020603050405020304" pitchFamily="18" charset="0"/>
                          <a:cs typeface="Times New Roman" panose="02020603050405020304" pitchFamily="18" charset="0"/>
                        </a:rPr>
                        <a:t>47</a:t>
                      </a:r>
                      <a:endParaRPr lang="en-IN" sz="1400" b="1" i="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82880" indent="-1270" algn="ctr" fontAlgn="t">
                        <a:spcBef>
                          <a:spcPts val="600"/>
                        </a:spcBef>
                        <a:spcAft>
                          <a:spcPts val="300"/>
                        </a:spcAft>
                        <a:buNone/>
                      </a:pPr>
                      <a:r>
                        <a:rPr lang="en-US" sz="1400">
                          <a:effectLst/>
                          <a:latin typeface="Times New Roman" panose="02020603050405020304" pitchFamily="18" charset="0"/>
                          <a:cs typeface="Times New Roman" panose="02020603050405020304" pitchFamily="18" charset="0"/>
                        </a:rPr>
                        <a:t>46.7</a:t>
                      </a:r>
                      <a:endParaRPr lang="en-IN" sz="1400" b="1" i="1">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30203955"/>
                  </a:ext>
                </a:extLst>
              </a:tr>
              <a:tr h="394782">
                <a:tc>
                  <a:txBody>
                    <a:bodyPr/>
                    <a:lstStyle/>
                    <a:p>
                      <a:pPr marL="182880" indent="-1270" fontAlgn="t">
                        <a:spcBef>
                          <a:spcPts val="600"/>
                        </a:spcBef>
                        <a:spcAft>
                          <a:spcPts val="300"/>
                        </a:spcAft>
                        <a:buNone/>
                      </a:pPr>
                      <a:r>
                        <a:rPr lang="en-US" sz="1400">
                          <a:effectLst/>
                          <a:latin typeface="Times New Roman" panose="02020603050405020304" pitchFamily="18" charset="0"/>
                          <a:cs typeface="Times New Roman" panose="02020603050405020304" pitchFamily="18" charset="0"/>
                        </a:rPr>
                        <a:t>Receiver Gain (dBi)</a:t>
                      </a:r>
                      <a:endParaRPr lang="en-IN" sz="1400" b="1" i="1">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82880" indent="-1270" algn="ctr" fontAlgn="t">
                        <a:spcBef>
                          <a:spcPts val="600"/>
                        </a:spcBef>
                        <a:spcAft>
                          <a:spcPts val="300"/>
                        </a:spcAft>
                        <a:buNone/>
                      </a:pPr>
                      <a:r>
                        <a:rPr lang="en-US" sz="1400">
                          <a:effectLst/>
                          <a:latin typeface="Times New Roman" panose="02020603050405020304" pitchFamily="18" charset="0"/>
                          <a:cs typeface="Times New Roman" panose="02020603050405020304" pitchFamily="18" charset="0"/>
                        </a:rPr>
                        <a:t>47</a:t>
                      </a:r>
                      <a:endParaRPr lang="en-IN" sz="1400" b="1" i="1">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82880" indent="-1270" algn="ctr" fontAlgn="t">
                        <a:spcBef>
                          <a:spcPts val="600"/>
                        </a:spcBef>
                        <a:spcAft>
                          <a:spcPts val="300"/>
                        </a:spcAft>
                        <a:buNone/>
                      </a:pPr>
                      <a:r>
                        <a:rPr lang="en-US" sz="1400">
                          <a:effectLst/>
                          <a:latin typeface="Times New Roman" panose="02020603050405020304" pitchFamily="18" charset="0"/>
                          <a:cs typeface="Times New Roman" panose="02020603050405020304" pitchFamily="18" charset="0"/>
                        </a:rPr>
                        <a:t>47.6</a:t>
                      </a:r>
                      <a:endParaRPr lang="en-IN" sz="1400" b="1" i="1">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82880" indent="-1270" algn="ctr" fontAlgn="t">
                        <a:spcBef>
                          <a:spcPts val="600"/>
                        </a:spcBef>
                        <a:spcAft>
                          <a:spcPts val="300"/>
                        </a:spcAft>
                        <a:buNone/>
                      </a:pPr>
                      <a:r>
                        <a:rPr lang="en-US" sz="1400">
                          <a:effectLst/>
                          <a:latin typeface="Times New Roman" panose="02020603050405020304" pitchFamily="18" charset="0"/>
                          <a:cs typeface="Times New Roman" panose="02020603050405020304" pitchFamily="18" charset="0"/>
                        </a:rPr>
                        <a:t>47</a:t>
                      </a:r>
                      <a:endParaRPr lang="en-IN" sz="1400" b="1" i="1">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82880" indent="-1270" algn="ctr" fontAlgn="t">
                        <a:spcBef>
                          <a:spcPts val="600"/>
                        </a:spcBef>
                        <a:spcAft>
                          <a:spcPts val="300"/>
                        </a:spcAft>
                        <a:buNone/>
                      </a:pPr>
                      <a:r>
                        <a:rPr lang="en-US" sz="1400">
                          <a:effectLst/>
                          <a:latin typeface="Times New Roman" panose="02020603050405020304" pitchFamily="18" charset="0"/>
                          <a:cs typeface="Times New Roman" panose="02020603050405020304" pitchFamily="18" charset="0"/>
                        </a:rPr>
                        <a:t>47.6</a:t>
                      </a:r>
                      <a:endParaRPr lang="en-IN" sz="1400" b="1" i="1">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82880" indent="-1270" algn="ctr" fontAlgn="t">
                        <a:spcBef>
                          <a:spcPts val="600"/>
                        </a:spcBef>
                        <a:spcAft>
                          <a:spcPts val="300"/>
                        </a:spcAft>
                        <a:buNone/>
                      </a:pPr>
                      <a:r>
                        <a:rPr lang="en-US" sz="1400" dirty="0">
                          <a:effectLst/>
                          <a:latin typeface="Times New Roman" panose="02020603050405020304" pitchFamily="18" charset="0"/>
                          <a:cs typeface="Times New Roman" panose="02020603050405020304" pitchFamily="18" charset="0"/>
                        </a:rPr>
                        <a:t>47</a:t>
                      </a:r>
                      <a:endParaRPr lang="en-IN" sz="1400" b="1" i="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82880" indent="-1270" algn="ctr" fontAlgn="t">
                        <a:spcBef>
                          <a:spcPts val="600"/>
                        </a:spcBef>
                        <a:spcAft>
                          <a:spcPts val="300"/>
                        </a:spcAft>
                        <a:buNone/>
                      </a:pPr>
                      <a:r>
                        <a:rPr lang="en-US" sz="1400" dirty="0">
                          <a:effectLst/>
                          <a:latin typeface="Times New Roman" panose="02020603050405020304" pitchFamily="18" charset="0"/>
                          <a:cs typeface="Times New Roman" panose="02020603050405020304" pitchFamily="18" charset="0"/>
                        </a:rPr>
                        <a:t>47.6</a:t>
                      </a:r>
                      <a:endParaRPr lang="en-IN" sz="1400" b="1" i="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144367758"/>
                  </a:ext>
                </a:extLst>
              </a:tr>
              <a:tr h="224688">
                <a:tc>
                  <a:txBody>
                    <a:bodyPr/>
                    <a:lstStyle/>
                    <a:p>
                      <a:pPr marL="182880" indent="-1270" fontAlgn="t">
                        <a:spcBef>
                          <a:spcPts val="600"/>
                        </a:spcBef>
                        <a:spcAft>
                          <a:spcPts val="300"/>
                        </a:spcAft>
                        <a:buNone/>
                      </a:pPr>
                      <a:r>
                        <a:rPr lang="en-US" sz="1400">
                          <a:effectLst/>
                          <a:latin typeface="Times New Roman" panose="02020603050405020304" pitchFamily="18" charset="0"/>
                          <a:cs typeface="Times New Roman" panose="02020603050405020304" pitchFamily="18" charset="0"/>
                        </a:rPr>
                        <a:t>Losses (dB)</a:t>
                      </a:r>
                      <a:endParaRPr lang="en-IN" sz="1400" b="1" i="1">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82880" indent="-1270" algn="ctr" fontAlgn="t">
                        <a:spcBef>
                          <a:spcPts val="600"/>
                        </a:spcBef>
                        <a:spcAft>
                          <a:spcPts val="300"/>
                        </a:spcAft>
                        <a:buNone/>
                      </a:pPr>
                      <a:r>
                        <a:rPr lang="en-US" sz="1400">
                          <a:effectLst/>
                          <a:latin typeface="Times New Roman" panose="02020603050405020304" pitchFamily="18" charset="0"/>
                          <a:cs typeface="Times New Roman" panose="02020603050405020304" pitchFamily="18" charset="0"/>
                        </a:rPr>
                        <a:t>4</a:t>
                      </a:r>
                      <a:endParaRPr lang="en-IN" sz="1400" b="1" i="1">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82880" indent="-1270" algn="ctr" fontAlgn="t">
                        <a:spcBef>
                          <a:spcPts val="600"/>
                        </a:spcBef>
                        <a:spcAft>
                          <a:spcPts val="300"/>
                        </a:spcAft>
                        <a:buNone/>
                      </a:pPr>
                      <a:r>
                        <a:rPr lang="en-US" sz="1400">
                          <a:effectLst/>
                          <a:latin typeface="Times New Roman" panose="02020603050405020304" pitchFamily="18" charset="0"/>
                          <a:cs typeface="Times New Roman" panose="02020603050405020304" pitchFamily="18" charset="0"/>
                        </a:rPr>
                        <a:t>4</a:t>
                      </a:r>
                      <a:endParaRPr lang="en-IN" sz="1400" b="1" i="1">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82880" indent="-1270" algn="ctr" fontAlgn="t">
                        <a:spcBef>
                          <a:spcPts val="600"/>
                        </a:spcBef>
                        <a:spcAft>
                          <a:spcPts val="300"/>
                        </a:spcAft>
                        <a:buNone/>
                      </a:pPr>
                      <a:r>
                        <a:rPr lang="en-US" sz="1400">
                          <a:effectLst/>
                          <a:latin typeface="Times New Roman" panose="02020603050405020304" pitchFamily="18" charset="0"/>
                          <a:cs typeface="Times New Roman" panose="02020603050405020304" pitchFamily="18" charset="0"/>
                        </a:rPr>
                        <a:t>2</a:t>
                      </a:r>
                      <a:endParaRPr lang="en-IN" sz="1400" b="1" i="1">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82880" indent="-1270" algn="ctr" fontAlgn="t">
                        <a:spcBef>
                          <a:spcPts val="600"/>
                        </a:spcBef>
                        <a:spcAft>
                          <a:spcPts val="300"/>
                        </a:spcAft>
                        <a:buNone/>
                      </a:pPr>
                      <a:r>
                        <a:rPr lang="en-US" sz="1400">
                          <a:effectLst/>
                          <a:latin typeface="Times New Roman" panose="02020603050405020304" pitchFamily="18" charset="0"/>
                          <a:cs typeface="Times New Roman" panose="02020603050405020304" pitchFamily="18" charset="0"/>
                        </a:rPr>
                        <a:t>2.71</a:t>
                      </a:r>
                      <a:endParaRPr lang="en-IN" sz="1400" b="1" i="1">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82880" indent="-1270" algn="ctr" fontAlgn="t">
                        <a:spcBef>
                          <a:spcPts val="600"/>
                        </a:spcBef>
                        <a:spcAft>
                          <a:spcPts val="300"/>
                        </a:spcAft>
                        <a:buNone/>
                      </a:pPr>
                      <a:r>
                        <a:rPr lang="en-US" sz="1400">
                          <a:effectLst/>
                          <a:latin typeface="Times New Roman" panose="02020603050405020304" pitchFamily="18" charset="0"/>
                          <a:cs typeface="Times New Roman" panose="02020603050405020304" pitchFamily="18" charset="0"/>
                        </a:rPr>
                        <a:t>4</a:t>
                      </a:r>
                      <a:endParaRPr lang="en-IN" sz="1400" b="1" i="1">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82880" indent="-1270" algn="ctr" fontAlgn="t">
                        <a:spcBef>
                          <a:spcPts val="600"/>
                        </a:spcBef>
                        <a:spcAft>
                          <a:spcPts val="300"/>
                        </a:spcAft>
                        <a:buNone/>
                      </a:pPr>
                      <a:r>
                        <a:rPr lang="en-US" sz="1400" dirty="0">
                          <a:effectLst/>
                          <a:latin typeface="Times New Roman" panose="02020603050405020304" pitchFamily="18" charset="0"/>
                          <a:cs typeface="Times New Roman" panose="02020603050405020304" pitchFamily="18" charset="0"/>
                        </a:rPr>
                        <a:t>4</a:t>
                      </a:r>
                      <a:endParaRPr lang="en-IN" sz="1400" b="1" i="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04588724"/>
                  </a:ext>
                </a:extLst>
              </a:tr>
              <a:tr h="394782">
                <a:tc>
                  <a:txBody>
                    <a:bodyPr/>
                    <a:lstStyle/>
                    <a:p>
                      <a:pPr marL="182880" indent="-1270" fontAlgn="t">
                        <a:spcBef>
                          <a:spcPts val="600"/>
                        </a:spcBef>
                        <a:spcAft>
                          <a:spcPts val="300"/>
                        </a:spcAft>
                        <a:buNone/>
                      </a:pPr>
                      <a:r>
                        <a:rPr lang="en-US" sz="1400" dirty="0">
                          <a:effectLst/>
                          <a:latin typeface="Times New Roman" panose="02020603050405020304" pitchFamily="18" charset="0"/>
                          <a:cs typeface="Times New Roman" panose="02020603050405020304" pitchFamily="18" charset="0"/>
                        </a:rPr>
                        <a:t>Receiver Power (dBm)</a:t>
                      </a:r>
                      <a:endParaRPr lang="en-IN" sz="1400" b="1" i="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82880" indent="-1270" algn="ctr" fontAlgn="t">
                        <a:spcBef>
                          <a:spcPts val="600"/>
                        </a:spcBef>
                        <a:spcAft>
                          <a:spcPts val="300"/>
                        </a:spcAft>
                        <a:buNone/>
                      </a:pPr>
                      <a:r>
                        <a:rPr lang="en-US" sz="1400" dirty="0">
                          <a:effectLst/>
                          <a:latin typeface="Times New Roman" panose="02020603050405020304" pitchFamily="18" charset="0"/>
                          <a:cs typeface="Times New Roman" panose="02020603050405020304" pitchFamily="18" charset="0"/>
                        </a:rPr>
                        <a:t>-79.21</a:t>
                      </a:r>
                      <a:endParaRPr lang="en-IN" sz="1400" b="1" i="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82880" indent="-1270" algn="ctr" fontAlgn="t">
                        <a:spcBef>
                          <a:spcPts val="600"/>
                        </a:spcBef>
                        <a:spcAft>
                          <a:spcPts val="300"/>
                        </a:spcAft>
                        <a:buNone/>
                      </a:pPr>
                      <a:r>
                        <a:rPr lang="en-US" sz="1400" dirty="0">
                          <a:effectLst/>
                          <a:latin typeface="Times New Roman" panose="02020603050405020304" pitchFamily="18" charset="0"/>
                          <a:cs typeface="Times New Roman" panose="02020603050405020304" pitchFamily="18" charset="0"/>
                        </a:rPr>
                        <a:t>-101.33</a:t>
                      </a:r>
                      <a:endParaRPr lang="en-IN" sz="1400" b="1" i="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82880" indent="-1270" algn="ctr" fontAlgn="t">
                        <a:spcBef>
                          <a:spcPts val="600"/>
                        </a:spcBef>
                        <a:spcAft>
                          <a:spcPts val="300"/>
                        </a:spcAft>
                        <a:buNone/>
                      </a:pPr>
                      <a:r>
                        <a:rPr lang="en-US" sz="1400" dirty="0">
                          <a:effectLst/>
                          <a:latin typeface="Times New Roman" panose="02020603050405020304" pitchFamily="18" charset="0"/>
                          <a:cs typeface="Times New Roman" panose="02020603050405020304" pitchFamily="18" charset="0"/>
                        </a:rPr>
                        <a:t>-112.43</a:t>
                      </a:r>
                      <a:endParaRPr lang="en-IN" sz="1400" b="1" i="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82880" indent="-1270" algn="ctr" fontAlgn="t">
                        <a:spcBef>
                          <a:spcPts val="600"/>
                        </a:spcBef>
                        <a:spcAft>
                          <a:spcPts val="300"/>
                        </a:spcAft>
                        <a:buNone/>
                      </a:pPr>
                      <a:r>
                        <a:rPr lang="en-US" sz="1400" dirty="0">
                          <a:effectLst/>
                          <a:latin typeface="Times New Roman" panose="02020603050405020304" pitchFamily="18" charset="0"/>
                          <a:cs typeface="Times New Roman" panose="02020603050405020304" pitchFamily="18" charset="0"/>
                        </a:rPr>
                        <a:t>-153.19</a:t>
                      </a:r>
                      <a:endParaRPr lang="en-IN" sz="1400" b="1" i="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82880" indent="-1270" algn="ctr" fontAlgn="t">
                        <a:spcBef>
                          <a:spcPts val="600"/>
                        </a:spcBef>
                        <a:spcAft>
                          <a:spcPts val="300"/>
                        </a:spcAft>
                        <a:buNone/>
                      </a:pPr>
                      <a:r>
                        <a:rPr lang="en-US" sz="1400" dirty="0">
                          <a:effectLst/>
                          <a:latin typeface="Times New Roman" panose="02020603050405020304" pitchFamily="18" charset="0"/>
                          <a:cs typeface="Times New Roman" panose="02020603050405020304" pitchFamily="18" charset="0"/>
                        </a:rPr>
                        <a:t>-135.20</a:t>
                      </a:r>
                      <a:endParaRPr lang="en-IN" sz="1400" b="1" i="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82880" indent="-1270" algn="ctr" fontAlgn="t">
                        <a:spcBef>
                          <a:spcPts val="600"/>
                        </a:spcBef>
                        <a:spcAft>
                          <a:spcPts val="300"/>
                        </a:spcAft>
                        <a:buNone/>
                      </a:pPr>
                      <a:r>
                        <a:rPr lang="en-US" sz="1400" dirty="0">
                          <a:effectLst/>
                          <a:latin typeface="Times New Roman" panose="02020603050405020304" pitchFamily="18" charset="0"/>
                          <a:cs typeface="Times New Roman" panose="02020603050405020304" pitchFamily="18" charset="0"/>
                        </a:rPr>
                        <a:t>-124.89</a:t>
                      </a:r>
                      <a:endParaRPr lang="en-IN" sz="1400" b="1" i="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4153" marR="34153"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33514745"/>
                  </a:ext>
                </a:extLst>
              </a:tr>
            </a:tbl>
          </a:graphicData>
        </a:graphic>
      </p:graphicFrame>
      <p:sp>
        <p:nvSpPr>
          <p:cNvPr id="13" name="Content Placeholder 2">
            <a:extLst>
              <a:ext uri="{FF2B5EF4-FFF2-40B4-BE49-F238E27FC236}">
                <a16:creationId xmlns:a16="http://schemas.microsoft.com/office/drawing/2014/main" id="{E85FC1C2-AB00-FBA3-6B31-EF1C0A59D900}"/>
              </a:ext>
            </a:extLst>
          </p:cNvPr>
          <p:cNvSpPr>
            <a:spLocks noGrp="1"/>
          </p:cNvSpPr>
          <p:nvPr>
            <p:ph idx="1"/>
          </p:nvPr>
        </p:nvSpPr>
        <p:spPr>
          <a:xfrm>
            <a:off x="668594" y="899368"/>
            <a:ext cx="4114800" cy="4950826"/>
          </a:xfrm>
        </p:spPr>
        <p:txBody>
          <a:bodyPr>
            <a:noAutofit/>
          </a:bodyPr>
          <a:lstStyle/>
          <a:p>
            <a:pPr marL="457200" indent="-457200" algn="just"/>
            <a:r>
              <a:rPr lang="en-US" sz="2400" dirty="0">
                <a:effectLst/>
                <a:latin typeface="Times New Roman" panose="02020603050405020304" pitchFamily="18" charset="0"/>
                <a:ea typeface="Times New Roman" panose="02020603050405020304" pitchFamily="18" charset="0"/>
              </a:rPr>
              <a:t>The link budget analysis provides vital information on how much power the system will require. </a:t>
            </a:r>
          </a:p>
          <a:p>
            <a:pPr marL="457200" indent="-457200" algn="just"/>
            <a:r>
              <a:rPr lang="en-US" sz="2400" dirty="0">
                <a:effectLst/>
                <a:latin typeface="Times New Roman" panose="02020603050405020304" pitchFamily="18" charset="0"/>
                <a:ea typeface="Times New Roman" panose="02020603050405020304" pitchFamily="18" charset="0"/>
              </a:rPr>
              <a:t>Table II present the theoretical link budget analysis carried out based on the data from the antenna [6, 11]. </a:t>
            </a:r>
          </a:p>
          <a:p>
            <a:pPr marL="457200" indent="-457200" algn="just"/>
            <a:r>
              <a:rPr lang="en-US" sz="2400" dirty="0">
                <a:effectLst/>
                <a:latin typeface="Times New Roman" panose="02020603050405020304" pitchFamily="18" charset="0"/>
                <a:ea typeface="Times New Roman" panose="02020603050405020304" pitchFamily="18" charset="0"/>
              </a:rPr>
              <a:t>The received power is well within the acceptable threshold for all the three cases. </a:t>
            </a:r>
            <a:endParaRPr lang="en-IN" sz="2400" dirty="0">
              <a:effectLst/>
              <a:latin typeface="Times New Roman" panose="02020603050405020304" pitchFamily="18" charset="0"/>
              <a:ea typeface="Times New Roman" panose="02020603050405020304" pitchFamily="18" charset="0"/>
            </a:endParaRPr>
          </a:p>
          <a:p>
            <a:pPr marL="457200" indent="-457200" algn="just"/>
            <a:endParaRPr lang="en-IN" sz="2400" dirty="0">
              <a:effectLst/>
              <a:latin typeface="Times New Roman" panose="02020603050405020304" pitchFamily="18" charset="0"/>
              <a:ea typeface="Times New Roman" panose="02020603050405020304" pitchFamily="18" charset="0"/>
            </a:endParaRPr>
          </a:p>
          <a:p>
            <a:pPr marL="457200" indent="-457200" algn="just">
              <a:buFont typeface="Arial" panose="020B0604020202020204" pitchFamily="34" charset="0"/>
              <a:buChar char="•"/>
            </a:pPr>
            <a:endParaRPr lang="en-IN" sz="2400" b="0" i="0" dirty="0">
              <a:effectLst/>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C480FDB1-54BF-2406-FC74-8A94087359F7}"/>
              </a:ext>
            </a:extLst>
          </p:cNvPr>
          <p:cNvSpPr txBox="1"/>
          <p:nvPr/>
        </p:nvSpPr>
        <p:spPr>
          <a:xfrm>
            <a:off x="6720348" y="5637573"/>
            <a:ext cx="3136490" cy="326243"/>
          </a:xfrm>
          <a:prstGeom prst="rect">
            <a:avLst/>
          </a:prstGeom>
          <a:noFill/>
        </p:spPr>
        <p:txBody>
          <a:bodyPr wrap="square">
            <a:spAutoFit/>
          </a:bodyPr>
          <a:lstStyle/>
          <a:p>
            <a:pPr algn="ctr">
              <a:lnSpc>
                <a:spcPct val="95000"/>
              </a:lnSpc>
              <a:spcAft>
                <a:spcPts val="600"/>
              </a:spcAft>
              <a:tabLst>
                <a:tab pos="182880" algn="l"/>
              </a:tabLst>
            </a:pPr>
            <a:r>
              <a:rPr lang="en-US" sz="1600" dirty="0">
                <a:latin typeface="Times New Roman" panose="02020603050405020304" pitchFamily="18" charset="0"/>
                <a:ea typeface="Times New Roman" panose="02020603050405020304" pitchFamily="18" charset="0"/>
              </a:rPr>
              <a:t>Table II: Link Budget Parameters</a:t>
            </a:r>
            <a:endParaRPr lang="en-IN" sz="1600" dirty="0">
              <a:effectLst/>
              <a:latin typeface="Times New Roman" panose="02020603050405020304" pitchFamily="18" charset="0"/>
              <a:ea typeface="Times New Roman" panose="02020603050405020304" pitchFamily="18" charset="0"/>
            </a:endParaRPr>
          </a:p>
        </p:txBody>
      </p:sp>
      <p:sp>
        <p:nvSpPr>
          <p:cNvPr id="15" name="Footer Placeholder 5">
            <a:extLst>
              <a:ext uri="{FF2B5EF4-FFF2-40B4-BE49-F238E27FC236}">
                <a16:creationId xmlns:a16="http://schemas.microsoft.com/office/drawing/2014/main" id="{63816E67-CCFF-0CD3-019C-31D430FD6235}"/>
              </a:ext>
            </a:extLst>
          </p:cNvPr>
          <p:cNvSpPr>
            <a:spLocks noGrp="1"/>
          </p:cNvSpPr>
          <p:nvPr>
            <p:ph type="ftr" sz="quarter" idx="11"/>
          </p:nvPr>
        </p:nvSpPr>
        <p:spPr>
          <a:xfrm>
            <a:off x="4038600" y="6356350"/>
            <a:ext cx="4114800" cy="365125"/>
          </a:xfrm>
        </p:spPr>
        <p:txBody>
          <a:bodyPr/>
          <a:lstStyle/>
          <a:p>
            <a:r>
              <a:rPr lang="en-IN" dirty="0">
                <a:latin typeface="Arial" panose="020B0604020202020204" pitchFamily="34" charset="0"/>
                <a:cs typeface="Arial" panose="020B0604020202020204" pitchFamily="34" charset="0"/>
              </a:rPr>
              <a:t>SRM Institute of Science and Technology</a:t>
            </a:r>
          </a:p>
        </p:txBody>
      </p:sp>
    </p:spTree>
    <p:extLst>
      <p:ext uri="{BB962C8B-B14F-4D97-AF65-F5344CB8AC3E}">
        <p14:creationId xmlns:p14="http://schemas.microsoft.com/office/powerpoint/2010/main" val="40520938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FE670B-F899-572F-F43F-34762F0B5D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789C6F-8517-44CE-1642-3090C8D471A7}"/>
              </a:ext>
            </a:extLst>
          </p:cNvPr>
          <p:cNvSpPr>
            <a:spLocks noGrp="1"/>
          </p:cNvSpPr>
          <p:nvPr>
            <p:ph type="title"/>
          </p:nvPr>
        </p:nvSpPr>
        <p:spPr>
          <a:xfrm>
            <a:off x="838200" y="365125"/>
            <a:ext cx="10515600" cy="460785"/>
          </a:xfrm>
        </p:spPr>
        <p:txBody>
          <a:bodyPr>
            <a:normAutofit fontScale="90000"/>
          </a:bodyPr>
          <a:lstStyle/>
          <a:p>
            <a:pPr algn="ctr"/>
            <a:r>
              <a:rPr lang="en-US" sz="3200" b="1" dirty="0">
                <a:solidFill>
                  <a:srgbClr val="0000CC"/>
                </a:solidFill>
                <a:latin typeface="Times New Roman" panose="02020603050405020304" pitchFamily="18" charset="0"/>
                <a:cs typeface="Times New Roman" panose="02020603050405020304" pitchFamily="18" charset="0"/>
              </a:rPr>
              <a:t>Results &amp; Discussion</a:t>
            </a:r>
            <a:endParaRPr lang="en-IN" sz="3200" b="1" dirty="0">
              <a:solidFill>
                <a:srgbClr val="0000CC"/>
              </a:solidFill>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95C21941-D68B-3137-F9F6-B670E0CD5A0D}"/>
              </a:ext>
            </a:extLst>
          </p:cNvPr>
          <p:cNvSpPr>
            <a:spLocks noGrp="1"/>
          </p:cNvSpPr>
          <p:nvPr>
            <p:ph type="sldNum" sz="quarter" idx="12"/>
          </p:nvPr>
        </p:nvSpPr>
        <p:spPr/>
        <p:txBody>
          <a:bodyPr/>
          <a:lstStyle/>
          <a:p>
            <a:pPr algn="ctr"/>
            <a:fld id="{5065FCC5-0D2C-40B6-BCDE-2689FBEDE705}" type="slidenum">
              <a:rPr lang="en-IN" smtClean="0">
                <a:latin typeface="Arial" panose="020B0604020202020204" pitchFamily="34" charset="0"/>
                <a:cs typeface="Arial" panose="020B0604020202020204" pitchFamily="34" charset="0"/>
              </a:rPr>
              <a:pPr algn="ctr"/>
              <a:t>5</a:t>
            </a:fld>
            <a:endParaRPr lang="en-IN"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A3D8A85A-066B-1747-DE7B-094972E7504E}"/>
              </a:ext>
            </a:extLst>
          </p:cNvPr>
          <p:cNvPicPr>
            <a:picLocks noChangeAspect="1"/>
          </p:cNvPicPr>
          <p:nvPr/>
        </p:nvPicPr>
        <p:blipFill>
          <a:blip r:embed="rId2"/>
          <a:srcRect/>
          <a:stretch/>
        </p:blipFill>
        <p:spPr>
          <a:xfrm>
            <a:off x="7366296" y="805857"/>
            <a:ext cx="4114799" cy="4873805"/>
          </a:xfrm>
          <a:prstGeom prst="rect">
            <a:avLst/>
          </a:prstGeom>
        </p:spPr>
      </p:pic>
      <p:sp>
        <p:nvSpPr>
          <p:cNvPr id="8" name="TextBox 7">
            <a:extLst>
              <a:ext uri="{FF2B5EF4-FFF2-40B4-BE49-F238E27FC236}">
                <a16:creationId xmlns:a16="http://schemas.microsoft.com/office/drawing/2014/main" id="{E855883D-671C-6A1C-FF7C-926990ECB69D}"/>
              </a:ext>
            </a:extLst>
          </p:cNvPr>
          <p:cNvSpPr txBox="1"/>
          <p:nvPr/>
        </p:nvSpPr>
        <p:spPr>
          <a:xfrm>
            <a:off x="8040454" y="5678530"/>
            <a:ext cx="3136490" cy="326243"/>
          </a:xfrm>
          <a:prstGeom prst="rect">
            <a:avLst/>
          </a:prstGeom>
          <a:noFill/>
        </p:spPr>
        <p:txBody>
          <a:bodyPr wrap="square">
            <a:spAutoFit/>
          </a:bodyPr>
          <a:lstStyle/>
          <a:p>
            <a:pPr algn="ctr">
              <a:lnSpc>
                <a:spcPct val="95000"/>
              </a:lnSpc>
              <a:spcAft>
                <a:spcPts val="600"/>
              </a:spcAft>
              <a:tabLst>
                <a:tab pos="182880" algn="l"/>
              </a:tabLst>
            </a:pPr>
            <a:r>
              <a:rPr lang="en-US" sz="1600" dirty="0">
                <a:effectLst/>
                <a:latin typeface="Times New Roman" panose="02020603050405020304" pitchFamily="18" charset="0"/>
                <a:ea typeface="Times New Roman" panose="02020603050405020304" pitchFamily="18" charset="0"/>
              </a:rPr>
              <a:t>Fig. 3: Monte Carlo Scatter plot</a:t>
            </a:r>
            <a:endParaRPr lang="en-IN" sz="1600" dirty="0">
              <a:effectLst/>
              <a:latin typeface="Times New Roman" panose="02020603050405020304" pitchFamily="18" charset="0"/>
              <a:ea typeface="Times New Roman" panose="02020603050405020304" pitchFamily="18" charset="0"/>
            </a:endParaRPr>
          </a:p>
        </p:txBody>
      </p:sp>
      <p:pic>
        <p:nvPicPr>
          <p:cNvPr id="7" name="Picture 6">
            <a:extLst>
              <a:ext uri="{FF2B5EF4-FFF2-40B4-BE49-F238E27FC236}">
                <a16:creationId xmlns:a16="http://schemas.microsoft.com/office/drawing/2014/main" id="{C0E7FBAD-19DE-5BA0-4E79-39C219A0010B}"/>
              </a:ext>
            </a:extLst>
          </p:cNvPr>
          <p:cNvPicPr>
            <a:picLocks noChangeAspect="1"/>
          </p:cNvPicPr>
          <p:nvPr/>
        </p:nvPicPr>
        <p:blipFill>
          <a:blip r:embed="rId3"/>
          <a:stretch>
            <a:fillRect/>
          </a:stretch>
        </p:blipFill>
        <p:spPr>
          <a:xfrm>
            <a:off x="10579039" y="0"/>
            <a:ext cx="1549521" cy="884675"/>
          </a:xfrm>
          <a:prstGeom prst="rect">
            <a:avLst/>
          </a:prstGeom>
        </p:spPr>
      </p:pic>
      <p:sp>
        <p:nvSpPr>
          <p:cNvPr id="9" name="Content Placeholder 2">
            <a:extLst>
              <a:ext uri="{FF2B5EF4-FFF2-40B4-BE49-F238E27FC236}">
                <a16:creationId xmlns:a16="http://schemas.microsoft.com/office/drawing/2014/main" id="{F87BB782-4E9D-3E90-4E1E-284A82BDC5AF}"/>
              </a:ext>
            </a:extLst>
          </p:cNvPr>
          <p:cNvSpPr>
            <a:spLocks noGrp="1"/>
          </p:cNvSpPr>
          <p:nvPr>
            <p:ph idx="1"/>
          </p:nvPr>
        </p:nvSpPr>
        <p:spPr>
          <a:xfrm>
            <a:off x="668594" y="899368"/>
            <a:ext cx="6630564" cy="4950826"/>
          </a:xfrm>
        </p:spPr>
        <p:txBody>
          <a:bodyPr>
            <a:noAutofit/>
          </a:bodyPr>
          <a:lstStyle/>
          <a:p>
            <a:pPr marL="457200" indent="-4572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Monte Carlo Simulation models randomness in signal propagation.</a:t>
            </a:r>
          </a:p>
          <a:p>
            <a:pPr marL="457200" indent="-457200" algn="just">
              <a:buFont typeface="Arial" panose="020B0604020202020204" pitchFamily="34" charset="0"/>
              <a:buChar char="•"/>
            </a:pPr>
            <a:r>
              <a:rPr lang="en-IN" sz="2400" b="0" i="0" dirty="0">
                <a:effectLst/>
                <a:latin typeface="Times New Roman" panose="02020603050405020304" pitchFamily="18" charset="0"/>
                <a:cs typeface="Times New Roman" panose="02020603050405020304" pitchFamily="18" charset="0"/>
              </a:rPr>
              <a:t>Introduces variations</a:t>
            </a:r>
            <a:r>
              <a:rPr lang="en-IN" sz="2400" dirty="0">
                <a:latin typeface="Times New Roman" panose="02020603050405020304" pitchFamily="18" charset="0"/>
                <a:cs typeface="Times New Roman" panose="02020603050405020304" pitchFamily="18" charset="0"/>
              </a:rPr>
              <a:t> in signal attenuation, noise and path loss.</a:t>
            </a:r>
          </a:p>
          <a:p>
            <a:pPr marL="457200" indent="-457200" algn="just">
              <a:buFont typeface="Arial" panose="020B0604020202020204" pitchFamily="34" charset="0"/>
              <a:buChar char="•"/>
            </a:pPr>
            <a:r>
              <a:rPr lang="en-IN" sz="2400" b="0" i="0" dirty="0">
                <a:effectLst/>
                <a:latin typeface="Times New Roman" panose="02020603050405020304" pitchFamily="18" charset="0"/>
                <a:cs typeface="Times New Roman" panose="02020603050405020304" pitchFamily="18" charset="0"/>
              </a:rPr>
              <a:t>Validates theoretical link budget through multiple trials.</a:t>
            </a:r>
          </a:p>
          <a:p>
            <a:pPr marL="457200" indent="-457200" algn="just">
              <a:buFont typeface="Arial" panose="020B0604020202020204" pitchFamily="34" charset="0"/>
              <a:buChar char="•"/>
            </a:pPr>
            <a:r>
              <a:rPr lang="en-US" sz="2400" dirty="0">
                <a:latin typeface="Times New Roman" panose="02020603050405020304" pitchFamily="18" charset="0"/>
                <a:ea typeface="Times New Roman" panose="02020603050405020304" pitchFamily="18" charset="0"/>
              </a:rPr>
              <a:t>S</a:t>
            </a:r>
            <a:r>
              <a:rPr lang="en-US" sz="2400" dirty="0">
                <a:effectLst/>
                <a:latin typeface="Times New Roman" panose="02020603050405020304" pitchFamily="18" charset="0"/>
                <a:ea typeface="Times New Roman" panose="02020603050405020304" pitchFamily="18" charset="0"/>
              </a:rPr>
              <a:t>imulated values closely follow the theoretical curve, showing high correlation.</a:t>
            </a:r>
          </a:p>
          <a:p>
            <a:pPr marL="457200" indent="-4572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Case A: stable &amp; predictable link, minimal variations.</a:t>
            </a:r>
          </a:p>
          <a:p>
            <a:pPr marL="457200" indent="-457200" algn="just">
              <a:buFont typeface="Arial" panose="020B0604020202020204" pitchFamily="34" charset="0"/>
              <a:buChar char="•"/>
            </a:pPr>
            <a:r>
              <a:rPr lang="en-IN" sz="2400" b="0" i="0" dirty="0">
                <a:effectLst/>
                <a:latin typeface="Times New Roman" panose="02020603050405020304" pitchFamily="18" charset="0"/>
                <a:cs typeface="Times New Roman" panose="02020603050405020304" pitchFamily="18" charset="0"/>
              </a:rPr>
              <a:t>Ca</a:t>
            </a:r>
            <a:r>
              <a:rPr lang="en-IN" sz="2400" dirty="0">
                <a:latin typeface="Times New Roman" panose="02020603050405020304" pitchFamily="18" charset="0"/>
                <a:cs typeface="Times New Roman" panose="02020603050405020304" pitchFamily="18" charset="0"/>
              </a:rPr>
              <a:t>se B &amp; C: Greater signal fluctuations due to the greater distance.</a:t>
            </a:r>
            <a:endParaRPr lang="en-IN" sz="2400" b="0" i="0" dirty="0">
              <a:effectLst/>
              <a:latin typeface="Times New Roman" panose="02020603050405020304" pitchFamily="18" charset="0"/>
              <a:cs typeface="Times New Roman" panose="02020603050405020304" pitchFamily="18" charset="0"/>
            </a:endParaRPr>
          </a:p>
        </p:txBody>
      </p:sp>
      <p:sp>
        <p:nvSpPr>
          <p:cNvPr id="10" name="Footer Placeholder 5">
            <a:extLst>
              <a:ext uri="{FF2B5EF4-FFF2-40B4-BE49-F238E27FC236}">
                <a16:creationId xmlns:a16="http://schemas.microsoft.com/office/drawing/2014/main" id="{A6F9A0B1-A8FA-F80F-1CF9-E9EFA7487934}"/>
              </a:ext>
            </a:extLst>
          </p:cNvPr>
          <p:cNvSpPr>
            <a:spLocks noGrp="1"/>
          </p:cNvSpPr>
          <p:nvPr>
            <p:ph type="ftr" sz="quarter" idx="11"/>
          </p:nvPr>
        </p:nvSpPr>
        <p:spPr>
          <a:xfrm>
            <a:off x="4038600" y="6356350"/>
            <a:ext cx="4114800" cy="365125"/>
          </a:xfrm>
        </p:spPr>
        <p:txBody>
          <a:bodyPr/>
          <a:lstStyle/>
          <a:p>
            <a:r>
              <a:rPr lang="en-IN" dirty="0">
                <a:latin typeface="Arial" panose="020B0604020202020204" pitchFamily="34" charset="0"/>
                <a:cs typeface="Arial" panose="020B0604020202020204" pitchFamily="34" charset="0"/>
              </a:rPr>
              <a:t>SRM Institute of Science and Technology</a:t>
            </a:r>
          </a:p>
        </p:txBody>
      </p:sp>
    </p:spTree>
    <p:extLst>
      <p:ext uri="{BB962C8B-B14F-4D97-AF65-F5344CB8AC3E}">
        <p14:creationId xmlns:p14="http://schemas.microsoft.com/office/powerpoint/2010/main" val="3445539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F73A1-00B4-880B-82D1-AC4212E223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B19C8B-13A8-4BCF-E6D9-1859D16A7AB8}"/>
              </a:ext>
            </a:extLst>
          </p:cNvPr>
          <p:cNvSpPr>
            <a:spLocks noGrp="1"/>
          </p:cNvSpPr>
          <p:nvPr>
            <p:ph type="title"/>
          </p:nvPr>
        </p:nvSpPr>
        <p:spPr>
          <a:xfrm>
            <a:off x="838200" y="365125"/>
            <a:ext cx="10515600" cy="460785"/>
          </a:xfrm>
        </p:spPr>
        <p:txBody>
          <a:bodyPr>
            <a:normAutofit fontScale="90000"/>
          </a:bodyPr>
          <a:lstStyle/>
          <a:p>
            <a:pPr algn="ctr"/>
            <a:r>
              <a:rPr lang="en-US" sz="3200" b="1" dirty="0">
                <a:solidFill>
                  <a:srgbClr val="0000CC"/>
                </a:solidFill>
                <a:latin typeface="Times New Roman" panose="02020603050405020304" pitchFamily="18" charset="0"/>
                <a:cs typeface="Times New Roman" panose="02020603050405020304" pitchFamily="18" charset="0"/>
              </a:rPr>
              <a:t>Results &amp; Discussion</a:t>
            </a:r>
            <a:endParaRPr lang="en-IN" sz="3200" b="1" dirty="0">
              <a:solidFill>
                <a:srgbClr val="0000CC"/>
              </a:solidFill>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185CCA39-DB71-E832-7DED-E40E39FC6481}"/>
              </a:ext>
            </a:extLst>
          </p:cNvPr>
          <p:cNvSpPr>
            <a:spLocks noGrp="1"/>
          </p:cNvSpPr>
          <p:nvPr>
            <p:ph type="sldNum" sz="quarter" idx="12"/>
          </p:nvPr>
        </p:nvSpPr>
        <p:spPr/>
        <p:txBody>
          <a:bodyPr/>
          <a:lstStyle/>
          <a:p>
            <a:pPr algn="ctr"/>
            <a:fld id="{5065FCC5-0D2C-40B6-BCDE-2689FBEDE705}" type="slidenum">
              <a:rPr lang="en-IN" smtClean="0">
                <a:latin typeface="Arial" panose="020B0604020202020204" pitchFamily="34" charset="0"/>
                <a:cs typeface="Arial" panose="020B0604020202020204" pitchFamily="34" charset="0"/>
              </a:rPr>
              <a:pPr algn="ctr"/>
              <a:t>6</a:t>
            </a:fld>
            <a:endParaRPr lang="en-IN" dirty="0">
              <a:latin typeface="Arial" panose="020B0604020202020204" pitchFamily="34" charset="0"/>
              <a:cs typeface="Arial" panose="020B0604020202020204" pitchFamily="34" charset="0"/>
            </a:endParaRPr>
          </a:p>
        </p:txBody>
      </p:sp>
      <p:pic>
        <p:nvPicPr>
          <p:cNvPr id="11" name="Picture 10">
            <a:extLst>
              <a:ext uri="{FF2B5EF4-FFF2-40B4-BE49-F238E27FC236}">
                <a16:creationId xmlns:a16="http://schemas.microsoft.com/office/drawing/2014/main" id="{99BAAF1E-953C-29CA-BD86-C2522605D89E}"/>
              </a:ext>
            </a:extLst>
          </p:cNvPr>
          <p:cNvPicPr>
            <a:picLocks noChangeAspect="1"/>
          </p:cNvPicPr>
          <p:nvPr/>
        </p:nvPicPr>
        <p:blipFill>
          <a:blip r:embed="rId2"/>
          <a:srcRect/>
          <a:stretch/>
        </p:blipFill>
        <p:spPr>
          <a:xfrm>
            <a:off x="6171580" y="1001550"/>
            <a:ext cx="2964880" cy="2201359"/>
          </a:xfrm>
          <a:prstGeom prst="rect">
            <a:avLst/>
          </a:prstGeom>
        </p:spPr>
      </p:pic>
      <p:pic>
        <p:nvPicPr>
          <p:cNvPr id="12" name="Picture 11">
            <a:extLst>
              <a:ext uri="{FF2B5EF4-FFF2-40B4-BE49-F238E27FC236}">
                <a16:creationId xmlns:a16="http://schemas.microsoft.com/office/drawing/2014/main" id="{D54E9EFF-3CE2-BAD8-89CD-AD3E2D42ED39}"/>
              </a:ext>
            </a:extLst>
          </p:cNvPr>
          <p:cNvPicPr>
            <a:picLocks noChangeAspect="1"/>
          </p:cNvPicPr>
          <p:nvPr/>
        </p:nvPicPr>
        <p:blipFill>
          <a:blip r:embed="rId3"/>
          <a:stretch>
            <a:fillRect/>
          </a:stretch>
        </p:blipFill>
        <p:spPr>
          <a:xfrm>
            <a:off x="9136460" y="996156"/>
            <a:ext cx="2565996" cy="2142214"/>
          </a:xfrm>
          <a:prstGeom prst="rect">
            <a:avLst/>
          </a:prstGeom>
        </p:spPr>
      </p:pic>
      <p:pic>
        <p:nvPicPr>
          <p:cNvPr id="13" name="Picture 12">
            <a:extLst>
              <a:ext uri="{FF2B5EF4-FFF2-40B4-BE49-F238E27FC236}">
                <a16:creationId xmlns:a16="http://schemas.microsoft.com/office/drawing/2014/main" id="{1E142FF7-F522-1C45-0145-E750AE20CBDA}"/>
              </a:ext>
            </a:extLst>
          </p:cNvPr>
          <p:cNvPicPr>
            <a:picLocks noChangeAspect="1"/>
          </p:cNvPicPr>
          <p:nvPr/>
        </p:nvPicPr>
        <p:blipFill>
          <a:blip r:embed="rId4"/>
          <a:stretch>
            <a:fillRect/>
          </a:stretch>
        </p:blipFill>
        <p:spPr>
          <a:xfrm>
            <a:off x="7641540" y="3243730"/>
            <a:ext cx="2989839" cy="2201359"/>
          </a:xfrm>
          <a:prstGeom prst="rect">
            <a:avLst/>
          </a:prstGeom>
        </p:spPr>
      </p:pic>
      <p:sp>
        <p:nvSpPr>
          <p:cNvPr id="15" name="TextBox 14">
            <a:extLst>
              <a:ext uri="{FF2B5EF4-FFF2-40B4-BE49-F238E27FC236}">
                <a16:creationId xmlns:a16="http://schemas.microsoft.com/office/drawing/2014/main" id="{0B2E3F1E-D923-EB53-4F1B-944738C8D1CA}"/>
              </a:ext>
            </a:extLst>
          </p:cNvPr>
          <p:cNvSpPr txBox="1"/>
          <p:nvPr/>
        </p:nvSpPr>
        <p:spPr>
          <a:xfrm>
            <a:off x="7568214" y="5574476"/>
            <a:ext cx="3136490" cy="326243"/>
          </a:xfrm>
          <a:prstGeom prst="rect">
            <a:avLst/>
          </a:prstGeom>
          <a:noFill/>
        </p:spPr>
        <p:txBody>
          <a:bodyPr wrap="square">
            <a:spAutoFit/>
          </a:bodyPr>
          <a:lstStyle/>
          <a:p>
            <a:pPr algn="ctr">
              <a:lnSpc>
                <a:spcPct val="95000"/>
              </a:lnSpc>
              <a:spcAft>
                <a:spcPts val="600"/>
              </a:spcAft>
              <a:tabLst>
                <a:tab pos="182880" algn="l"/>
              </a:tabLst>
            </a:pPr>
            <a:r>
              <a:rPr lang="en-US" sz="1600" dirty="0">
                <a:effectLst/>
                <a:latin typeface="Times New Roman" panose="02020603050405020304" pitchFamily="18" charset="0"/>
                <a:ea typeface="Times New Roman" panose="02020603050405020304" pitchFamily="18" charset="0"/>
              </a:rPr>
              <a:t>Fig. 4: Monte Carlo Histogram</a:t>
            </a:r>
            <a:endParaRPr lang="en-IN" sz="1600" dirty="0">
              <a:effectLst/>
              <a:latin typeface="Times New Roman" panose="02020603050405020304" pitchFamily="18" charset="0"/>
              <a:ea typeface="Times New Roman" panose="02020603050405020304" pitchFamily="18" charset="0"/>
            </a:endParaRPr>
          </a:p>
        </p:txBody>
      </p:sp>
      <p:pic>
        <p:nvPicPr>
          <p:cNvPr id="7" name="Picture 6">
            <a:extLst>
              <a:ext uri="{FF2B5EF4-FFF2-40B4-BE49-F238E27FC236}">
                <a16:creationId xmlns:a16="http://schemas.microsoft.com/office/drawing/2014/main" id="{A2C10D44-BA06-6EDF-CBE7-6409EBAA271A}"/>
              </a:ext>
            </a:extLst>
          </p:cNvPr>
          <p:cNvPicPr>
            <a:picLocks noChangeAspect="1"/>
          </p:cNvPicPr>
          <p:nvPr/>
        </p:nvPicPr>
        <p:blipFill>
          <a:blip r:embed="rId5"/>
          <a:stretch>
            <a:fillRect/>
          </a:stretch>
        </p:blipFill>
        <p:spPr>
          <a:xfrm>
            <a:off x="10579039" y="0"/>
            <a:ext cx="1549521" cy="884675"/>
          </a:xfrm>
          <a:prstGeom prst="rect">
            <a:avLst/>
          </a:prstGeom>
        </p:spPr>
      </p:pic>
      <p:sp>
        <p:nvSpPr>
          <p:cNvPr id="3" name="Content Placeholder 2">
            <a:extLst>
              <a:ext uri="{FF2B5EF4-FFF2-40B4-BE49-F238E27FC236}">
                <a16:creationId xmlns:a16="http://schemas.microsoft.com/office/drawing/2014/main" id="{949EBC10-6D68-DD23-1D77-9C4F9CDD05D0}"/>
              </a:ext>
            </a:extLst>
          </p:cNvPr>
          <p:cNvSpPr>
            <a:spLocks noGrp="1"/>
          </p:cNvSpPr>
          <p:nvPr>
            <p:ph idx="1"/>
          </p:nvPr>
        </p:nvSpPr>
        <p:spPr>
          <a:xfrm>
            <a:off x="668594" y="899368"/>
            <a:ext cx="5502986" cy="4950826"/>
          </a:xfrm>
        </p:spPr>
        <p:txBody>
          <a:bodyPr>
            <a:noAutofit/>
          </a:bodyPr>
          <a:lstStyle/>
          <a:p>
            <a:pPr marL="457200" indent="-457200" algn="just">
              <a:buFont typeface="Arial" panose="020B0604020202020204" pitchFamily="34" charset="0"/>
              <a:buChar char="•"/>
            </a:pPr>
            <a:r>
              <a:rPr lang="en-US" sz="2400" dirty="0">
                <a:effectLst/>
                <a:latin typeface="Times New Roman" panose="02020603050405020304" pitchFamily="18" charset="0"/>
                <a:ea typeface="Times New Roman" panose="02020603050405020304" pitchFamily="18" charset="0"/>
              </a:rPr>
              <a:t>Histogram representations in Fig. 4 are used to illustrate the distribution of received power values. </a:t>
            </a:r>
          </a:p>
          <a:p>
            <a:pPr marL="457200" indent="-457200" algn="just">
              <a:buFont typeface="Arial" panose="020B0604020202020204" pitchFamily="34" charset="0"/>
              <a:buChar char="•"/>
            </a:pPr>
            <a:r>
              <a:rPr lang="en-US" sz="2400" dirty="0">
                <a:latin typeface="Times New Roman" panose="02020603050405020304" pitchFamily="18" charset="0"/>
                <a:ea typeface="Times New Roman" panose="02020603050405020304" pitchFamily="18" charset="0"/>
              </a:rPr>
              <a:t>T</a:t>
            </a:r>
            <a:r>
              <a:rPr lang="en-US" sz="2400" dirty="0">
                <a:effectLst/>
                <a:latin typeface="Times New Roman" panose="02020603050405020304" pitchFamily="18" charset="0"/>
                <a:ea typeface="Times New Roman" panose="02020603050405020304" pitchFamily="18" charset="0"/>
              </a:rPr>
              <a:t>heoretical curve aligns well with the peak of the histogram, confirming the accuracy of the link budget model.</a:t>
            </a:r>
          </a:p>
          <a:p>
            <a:pPr marL="457200" indent="-457200" algn="just">
              <a:buFont typeface="Arial" panose="020B0604020202020204" pitchFamily="34" charset="0"/>
              <a:buChar char="•"/>
            </a:pPr>
            <a:r>
              <a:rPr lang="en-US" sz="2400" b="0" i="0" dirty="0">
                <a:latin typeface="Times New Roman" panose="02020603050405020304" pitchFamily="18" charset="0"/>
                <a:cs typeface="Times New Roman" panose="02020603050405020304" pitchFamily="18" charset="0"/>
              </a:rPr>
              <a:t>Case A: Highly </a:t>
            </a:r>
            <a:r>
              <a:rPr lang="en-US" sz="2400" dirty="0">
                <a:latin typeface="Times New Roman" panose="02020603050405020304" pitchFamily="18" charset="0"/>
                <a:cs typeface="Times New Roman" panose="02020603050405020304" pitchFamily="18" charset="0"/>
              </a:rPr>
              <a:t>stable with minimal variations.</a:t>
            </a:r>
          </a:p>
          <a:p>
            <a:pPr marL="457200" indent="-4572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Case B: Received power ranges from -140dBm to -115 dBm.</a:t>
            </a:r>
          </a:p>
          <a:p>
            <a:pPr marL="457200" indent="-457200" algn="just">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Case C: Power varies between -135 dBm to -115 dBm. </a:t>
            </a:r>
          </a:p>
          <a:p>
            <a:pPr marL="457200" indent="-4572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Theoretical and simulated results are within acceptable thresholds.</a:t>
            </a:r>
            <a:endParaRPr lang="en-IN" sz="2400" b="0" i="0" dirty="0">
              <a:effectLst/>
              <a:latin typeface="Times New Roman" panose="02020603050405020304" pitchFamily="18" charset="0"/>
              <a:cs typeface="Times New Roman" panose="02020603050405020304" pitchFamily="18" charset="0"/>
            </a:endParaRPr>
          </a:p>
        </p:txBody>
      </p:sp>
      <p:sp>
        <p:nvSpPr>
          <p:cNvPr id="9" name="Footer Placeholder 5">
            <a:extLst>
              <a:ext uri="{FF2B5EF4-FFF2-40B4-BE49-F238E27FC236}">
                <a16:creationId xmlns:a16="http://schemas.microsoft.com/office/drawing/2014/main" id="{AD798966-F5BD-75E0-2852-B9FD835B3A9E}"/>
              </a:ext>
            </a:extLst>
          </p:cNvPr>
          <p:cNvSpPr>
            <a:spLocks noGrp="1"/>
          </p:cNvSpPr>
          <p:nvPr>
            <p:ph type="ftr" sz="quarter" idx="11"/>
          </p:nvPr>
        </p:nvSpPr>
        <p:spPr>
          <a:xfrm>
            <a:off x="4038600" y="6356350"/>
            <a:ext cx="4114800" cy="365125"/>
          </a:xfrm>
        </p:spPr>
        <p:txBody>
          <a:bodyPr/>
          <a:lstStyle/>
          <a:p>
            <a:r>
              <a:rPr lang="en-IN" dirty="0">
                <a:latin typeface="Arial" panose="020B0604020202020204" pitchFamily="34" charset="0"/>
                <a:cs typeface="Arial" panose="020B0604020202020204" pitchFamily="34" charset="0"/>
              </a:rPr>
              <a:t>SRM Institute of Science and Technology</a:t>
            </a:r>
          </a:p>
        </p:txBody>
      </p:sp>
    </p:spTree>
    <p:extLst>
      <p:ext uri="{BB962C8B-B14F-4D97-AF65-F5344CB8AC3E}">
        <p14:creationId xmlns:p14="http://schemas.microsoft.com/office/powerpoint/2010/main" val="23855070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559F2-A662-2712-6430-7D050986C8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37E2BE-BB29-BAE3-6DDF-B787BEB454E4}"/>
              </a:ext>
            </a:extLst>
          </p:cNvPr>
          <p:cNvSpPr>
            <a:spLocks noGrp="1"/>
          </p:cNvSpPr>
          <p:nvPr>
            <p:ph type="title"/>
          </p:nvPr>
        </p:nvSpPr>
        <p:spPr>
          <a:xfrm>
            <a:off x="838200" y="365125"/>
            <a:ext cx="10515600" cy="460785"/>
          </a:xfrm>
        </p:spPr>
        <p:txBody>
          <a:bodyPr>
            <a:normAutofit fontScale="90000"/>
          </a:bodyPr>
          <a:lstStyle/>
          <a:p>
            <a:pPr algn="ctr"/>
            <a:r>
              <a:rPr lang="en-US" sz="3200" b="1" dirty="0">
                <a:solidFill>
                  <a:srgbClr val="0000CC"/>
                </a:solidFill>
                <a:latin typeface="Times New Roman" panose="02020603050405020304" pitchFamily="18" charset="0"/>
                <a:cs typeface="Times New Roman" panose="02020603050405020304" pitchFamily="18" charset="0"/>
              </a:rPr>
              <a:t>SCPS/IPv6 Implementation</a:t>
            </a:r>
            <a:endParaRPr lang="en-IN" sz="3200" b="1" dirty="0">
              <a:solidFill>
                <a:srgbClr val="0000CC"/>
              </a:solidFill>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988376E2-E7EE-4E53-EC78-4E11D8C266AF}"/>
              </a:ext>
            </a:extLst>
          </p:cNvPr>
          <p:cNvSpPr>
            <a:spLocks noGrp="1"/>
          </p:cNvSpPr>
          <p:nvPr>
            <p:ph type="sldNum" sz="quarter" idx="12"/>
          </p:nvPr>
        </p:nvSpPr>
        <p:spPr/>
        <p:txBody>
          <a:bodyPr/>
          <a:lstStyle/>
          <a:p>
            <a:pPr algn="ctr"/>
            <a:fld id="{5065FCC5-0D2C-40B6-BCDE-2689FBEDE705}" type="slidenum">
              <a:rPr lang="en-IN" smtClean="0">
                <a:latin typeface="Arial" panose="020B0604020202020204" pitchFamily="34" charset="0"/>
                <a:cs typeface="Arial" panose="020B0604020202020204" pitchFamily="34" charset="0"/>
              </a:rPr>
              <a:pPr algn="ctr"/>
              <a:t>7</a:t>
            </a:fld>
            <a:endParaRPr lang="en-IN"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F1C67B9D-D2A5-F4A6-42BF-C4C9DEC87E7B}"/>
              </a:ext>
            </a:extLst>
          </p:cNvPr>
          <p:cNvPicPr>
            <a:picLocks noChangeAspect="1"/>
          </p:cNvPicPr>
          <p:nvPr/>
        </p:nvPicPr>
        <p:blipFill>
          <a:blip r:embed="rId2"/>
          <a:stretch>
            <a:fillRect/>
          </a:stretch>
        </p:blipFill>
        <p:spPr>
          <a:xfrm>
            <a:off x="10579039" y="0"/>
            <a:ext cx="1549521" cy="884675"/>
          </a:xfrm>
          <a:prstGeom prst="rect">
            <a:avLst/>
          </a:prstGeom>
        </p:spPr>
      </p:pic>
      <p:sp>
        <p:nvSpPr>
          <p:cNvPr id="3" name="Content Placeholder 2">
            <a:extLst>
              <a:ext uri="{FF2B5EF4-FFF2-40B4-BE49-F238E27FC236}">
                <a16:creationId xmlns:a16="http://schemas.microsoft.com/office/drawing/2014/main" id="{4EFF2E29-D12D-BD15-B0FD-FB26E8C2A2FF}"/>
              </a:ext>
            </a:extLst>
          </p:cNvPr>
          <p:cNvSpPr>
            <a:spLocks noGrp="1"/>
          </p:cNvSpPr>
          <p:nvPr>
            <p:ph idx="1"/>
          </p:nvPr>
        </p:nvSpPr>
        <p:spPr>
          <a:xfrm>
            <a:off x="668593" y="899368"/>
            <a:ext cx="5997677" cy="4950826"/>
          </a:xfrm>
        </p:spPr>
        <p:txBody>
          <a:bodyPr>
            <a:noAutofit/>
          </a:bodyPr>
          <a:lstStyle/>
          <a:p>
            <a:pPr marL="457200" indent="-4572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SCPS (9-byte) encapsulated in IPv6 (40-byte)</a:t>
            </a:r>
          </a:p>
          <a:p>
            <a:pPr marL="457200" indent="-457200" algn="just">
              <a:buFont typeface="Arial" panose="020B0604020202020204" pitchFamily="34" charset="0"/>
              <a:buChar char="•"/>
            </a:pPr>
            <a:r>
              <a:rPr lang="en-IN" sz="2400" b="0" i="0" dirty="0">
                <a:effectLst/>
                <a:latin typeface="Times New Roman" panose="02020603050405020304" pitchFamily="18" charset="0"/>
                <a:cs typeface="Times New Roman" panose="02020603050405020304" pitchFamily="18" charset="0"/>
              </a:rPr>
              <a:t>Successfully builds, parses</a:t>
            </a:r>
            <a:r>
              <a:rPr lang="en-IN" sz="2400" dirty="0">
                <a:latin typeface="Times New Roman" panose="02020603050405020304" pitchFamily="18" charset="0"/>
                <a:cs typeface="Times New Roman" panose="02020603050405020304" pitchFamily="18" charset="0"/>
              </a:rPr>
              <a:t> and recovers </a:t>
            </a:r>
            <a:r>
              <a:rPr lang="en-US" sz="2400" b="1" dirty="0">
                <a:latin typeface="Times New Roman" panose="02020603050405020304" pitchFamily="18" charset="0"/>
                <a:cs typeface="Times New Roman" panose="02020603050405020304" pitchFamily="18" charset="0"/>
              </a:rPr>
              <a:t>“Hello from deep space! This is a test message...”</a:t>
            </a:r>
            <a:endParaRPr lang="en-IN" sz="2400" b="1"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IN" sz="2400" b="1" i="0" dirty="0">
                <a:effectLst/>
                <a:latin typeface="Times New Roman" panose="02020603050405020304" pitchFamily="18" charset="0"/>
                <a:cs typeface="Times New Roman" panose="02020603050405020304" pitchFamily="18" charset="0"/>
              </a:rPr>
              <a:t>Packet Overhead </a:t>
            </a:r>
            <a:r>
              <a:rPr lang="en-IN" sz="2400" b="1" dirty="0">
                <a:latin typeface="Times New Roman" panose="02020603050405020304" pitchFamily="18" charset="0"/>
                <a:cs typeface="Times New Roman" panose="02020603050405020304" pitchFamily="18" charset="0"/>
              </a:rPr>
              <a:t>Analysis (Table III):</a:t>
            </a:r>
          </a:p>
          <a:p>
            <a:pPr marL="457200" lvl="1" indent="0" algn="just">
              <a:buNone/>
            </a:pPr>
            <a:r>
              <a:rPr lang="en-IN" dirty="0">
                <a:latin typeface="Times New Roman" panose="02020603050405020304" pitchFamily="18" charset="0"/>
                <a:cs typeface="Times New Roman" panose="02020603050405020304" pitchFamily="18" charset="0"/>
              </a:rPr>
              <a:t>16-byte payload (for example):</a:t>
            </a:r>
          </a:p>
          <a:p>
            <a:pPr marL="457200" lvl="1" indent="0" algn="just">
              <a:buNone/>
            </a:pPr>
            <a:r>
              <a:rPr lang="en-IN" dirty="0">
                <a:latin typeface="Times New Roman" panose="02020603050405020304" pitchFamily="18" charset="0"/>
                <a:cs typeface="Times New Roman" panose="02020603050405020304" pitchFamily="18" charset="0"/>
              </a:rPr>
              <a:t>SCPS: 25 bytes (36.0% overhead)</a:t>
            </a:r>
          </a:p>
          <a:p>
            <a:pPr marL="457200" lvl="1" indent="0" algn="just">
              <a:buNone/>
            </a:pPr>
            <a:r>
              <a:rPr lang="en-IN" dirty="0">
                <a:latin typeface="Times New Roman" panose="02020603050405020304" pitchFamily="18" charset="0"/>
                <a:cs typeface="Times New Roman" panose="02020603050405020304" pitchFamily="18" charset="0"/>
              </a:rPr>
              <a:t>IPv6: 65 bytes (61.5% overhead)</a:t>
            </a:r>
          </a:p>
          <a:p>
            <a:pPr marL="457200" indent="-4572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Larger payloads reduce overhead, improving efficiency.</a:t>
            </a:r>
          </a:p>
          <a:p>
            <a:pPr marL="457200" indent="-4572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SCPS/IPv6 is robust and optimized for deep space links.</a:t>
            </a:r>
            <a:endParaRPr lang="en-IN" sz="2000" dirty="0">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1602034C-3375-B0A0-D2CA-017B8472B485}"/>
              </a:ext>
            </a:extLst>
          </p:cNvPr>
          <p:cNvGraphicFramePr>
            <a:graphicFrameLocks noGrp="1"/>
          </p:cNvGraphicFramePr>
          <p:nvPr>
            <p:extLst>
              <p:ext uri="{D42A27DB-BD31-4B8C-83A1-F6EECF244321}">
                <p14:modId xmlns:p14="http://schemas.microsoft.com/office/powerpoint/2010/main" val="1509107260"/>
              </p:ext>
            </p:extLst>
          </p:nvPr>
        </p:nvGraphicFramePr>
        <p:xfrm>
          <a:off x="6853084" y="1771357"/>
          <a:ext cx="4670323" cy="3026785"/>
        </p:xfrm>
        <a:graphic>
          <a:graphicData uri="http://schemas.openxmlformats.org/drawingml/2006/table">
            <a:tbl>
              <a:tblPr firstRow="1" firstCol="1" bandRow="1">
                <a:tableStyleId>{5940675A-B579-460E-94D1-54222C63F5DA}</a:tableStyleId>
              </a:tblPr>
              <a:tblGrid>
                <a:gridCol w="901738">
                  <a:extLst>
                    <a:ext uri="{9D8B030D-6E8A-4147-A177-3AD203B41FA5}">
                      <a16:colId xmlns:a16="http://schemas.microsoft.com/office/drawing/2014/main" val="3087349587"/>
                    </a:ext>
                  </a:extLst>
                </a:gridCol>
                <a:gridCol w="1054864">
                  <a:extLst>
                    <a:ext uri="{9D8B030D-6E8A-4147-A177-3AD203B41FA5}">
                      <a16:colId xmlns:a16="http://schemas.microsoft.com/office/drawing/2014/main" val="760786665"/>
                    </a:ext>
                  </a:extLst>
                </a:gridCol>
                <a:gridCol w="753930">
                  <a:extLst>
                    <a:ext uri="{9D8B030D-6E8A-4147-A177-3AD203B41FA5}">
                      <a16:colId xmlns:a16="http://schemas.microsoft.com/office/drawing/2014/main" val="2667110507"/>
                    </a:ext>
                  </a:extLst>
                </a:gridCol>
                <a:gridCol w="1054864">
                  <a:extLst>
                    <a:ext uri="{9D8B030D-6E8A-4147-A177-3AD203B41FA5}">
                      <a16:colId xmlns:a16="http://schemas.microsoft.com/office/drawing/2014/main" val="62720451"/>
                    </a:ext>
                  </a:extLst>
                </a:gridCol>
                <a:gridCol w="904927">
                  <a:extLst>
                    <a:ext uri="{9D8B030D-6E8A-4147-A177-3AD203B41FA5}">
                      <a16:colId xmlns:a16="http://schemas.microsoft.com/office/drawing/2014/main" val="3491428687"/>
                    </a:ext>
                  </a:extLst>
                </a:gridCol>
              </a:tblGrid>
              <a:tr h="1135045">
                <a:tc>
                  <a:txBody>
                    <a:bodyPr/>
                    <a:lstStyle/>
                    <a:p>
                      <a:pPr algn="just">
                        <a:buNone/>
                        <a:tabLst>
                          <a:tab pos="137160" algn="l"/>
                        </a:tabLst>
                      </a:pPr>
                      <a:r>
                        <a:rPr lang="en-US" sz="1600" dirty="0">
                          <a:effectLst/>
                          <a:latin typeface="Times New Roman" panose="02020603050405020304" pitchFamily="18" charset="0"/>
                          <a:cs typeface="Times New Roman" panose="02020603050405020304" pitchFamily="18" charset="0"/>
                        </a:rPr>
                        <a:t>Payload (Bytes)</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buNone/>
                        <a:tabLst>
                          <a:tab pos="137160" algn="l"/>
                        </a:tabLst>
                      </a:pPr>
                      <a:r>
                        <a:rPr lang="en-US" sz="1600" dirty="0">
                          <a:effectLst/>
                          <a:latin typeface="Times New Roman" panose="02020603050405020304" pitchFamily="18" charset="0"/>
                          <a:cs typeface="Times New Roman" panose="02020603050405020304" pitchFamily="18" charset="0"/>
                        </a:rPr>
                        <a:t>SCPS Packet (Bytes)</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buNone/>
                        <a:tabLst>
                          <a:tab pos="137160" algn="l"/>
                        </a:tabLst>
                      </a:pPr>
                      <a:r>
                        <a:rPr lang="en-US" sz="1600" dirty="0">
                          <a:effectLst/>
                          <a:latin typeface="Times New Roman" panose="02020603050405020304" pitchFamily="18" charset="0"/>
                          <a:cs typeface="Times New Roman" panose="02020603050405020304" pitchFamily="18" charset="0"/>
                        </a:rPr>
                        <a:t>IPv6 Packet (Bytes)</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buNone/>
                        <a:tabLst>
                          <a:tab pos="137160" algn="l"/>
                        </a:tabLst>
                      </a:pPr>
                      <a:r>
                        <a:rPr lang="en-US" sz="1600" dirty="0">
                          <a:effectLst/>
                          <a:latin typeface="Times New Roman" panose="02020603050405020304" pitchFamily="18" charset="0"/>
                          <a:cs typeface="Times New Roman" panose="02020603050405020304" pitchFamily="18" charset="0"/>
                        </a:rPr>
                        <a:t>SCPS overhead (%)</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buNone/>
                        <a:tabLst>
                          <a:tab pos="137160" algn="l"/>
                        </a:tabLst>
                      </a:pPr>
                      <a:r>
                        <a:rPr lang="en-US" sz="1600" dirty="0">
                          <a:effectLst/>
                          <a:latin typeface="Times New Roman" panose="02020603050405020304" pitchFamily="18" charset="0"/>
                          <a:cs typeface="Times New Roman" panose="02020603050405020304" pitchFamily="18" charset="0"/>
                        </a:rPr>
                        <a:t>IPv6 overhead (%)</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87364340"/>
                  </a:ext>
                </a:extLst>
              </a:tr>
              <a:tr h="378348">
                <a:tc>
                  <a:txBody>
                    <a:bodyPr/>
                    <a:lstStyle/>
                    <a:p>
                      <a:pPr algn="just">
                        <a:buNone/>
                        <a:tabLst>
                          <a:tab pos="137160" algn="l"/>
                        </a:tabLst>
                      </a:pPr>
                      <a:r>
                        <a:rPr lang="en-US" sz="1600">
                          <a:effectLst/>
                          <a:latin typeface="Times New Roman" panose="02020603050405020304" pitchFamily="18" charset="0"/>
                          <a:cs typeface="Times New Roman" panose="02020603050405020304" pitchFamily="18" charset="0"/>
                        </a:rPr>
                        <a:t>16</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just">
                        <a:buNone/>
                        <a:tabLst>
                          <a:tab pos="137160" algn="l"/>
                        </a:tabLst>
                      </a:pPr>
                      <a:r>
                        <a:rPr lang="en-US" sz="1600" dirty="0">
                          <a:effectLst/>
                          <a:latin typeface="Times New Roman" panose="02020603050405020304" pitchFamily="18" charset="0"/>
                          <a:cs typeface="Times New Roman" panose="02020603050405020304" pitchFamily="18" charset="0"/>
                        </a:rPr>
                        <a:t>25</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just">
                        <a:buNone/>
                        <a:tabLst>
                          <a:tab pos="137160" algn="l"/>
                        </a:tabLst>
                      </a:pPr>
                      <a:r>
                        <a:rPr lang="en-US" sz="1600" dirty="0">
                          <a:effectLst/>
                          <a:latin typeface="Times New Roman" panose="02020603050405020304" pitchFamily="18" charset="0"/>
                          <a:cs typeface="Times New Roman" panose="02020603050405020304" pitchFamily="18" charset="0"/>
                        </a:rPr>
                        <a:t>65</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just">
                        <a:buNone/>
                        <a:tabLst>
                          <a:tab pos="137160" algn="l"/>
                        </a:tabLst>
                      </a:pPr>
                      <a:r>
                        <a:rPr lang="en-US" sz="1600" dirty="0">
                          <a:effectLst/>
                          <a:latin typeface="Times New Roman" panose="02020603050405020304" pitchFamily="18" charset="0"/>
                          <a:cs typeface="Times New Roman" panose="02020603050405020304" pitchFamily="18" charset="0"/>
                        </a:rPr>
                        <a:t>36.0</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just">
                        <a:buNone/>
                        <a:tabLst>
                          <a:tab pos="137160" algn="l"/>
                        </a:tabLst>
                      </a:pPr>
                      <a:r>
                        <a:rPr lang="en-US" sz="1600">
                          <a:effectLst/>
                          <a:latin typeface="Times New Roman" panose="02020603050405020304" pitchFamily="18" charset="0"/>
                          <a:cs typeface="Times New Roman" panose="02020603050405020304" pitchFamily="18" charset="0"/>
                        </a:rPr>
                        <a:t>61.5</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78191"/>
                  </a:ext>
                </a:extLst>
              </a:tr>
              <a:tr h="378348">
                <a:tc>
                  <a:txBody>
                    <a:bodyPr/>
                    <a:lstStyle/>
                    <a:p>
                      <a:pPr algn="just">
                        <a:buNone/>
                        <a:tabLst>
                          <a:tab pos="137160" algn="l"/>
                        </a:tabLst>
                      </a:pPr>
                      <a:r>
                        <a:rPr lang="en-US" sz="1600">
                          <a:effectLst/>
                          <a:latin typeface="Times New Roman" panose="02020603050405020304" pitchFamily="18" charset="0"/>
                          <a:cs typeface="Times New Roman" panose="02020603050405020304" pitchFamily="18" charset="0"/>
                        </a:rPr>
                        <a:t>64</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just">
                        <a:buNone/>
                        <a:tabLst>
                          <a:tab pos="137160" algn="l"/>
                        </a:tabLst>
                      </a:pPr>
                      <a:r>
                        <a:rPr lang="en-US" sz="1600" dirty="0">
                          <a:effectLst/>
                          <a:latin typeface="Times New Roman" panose="02020603050405020304" pitchFamily="18" charset="0"/>
                          <a:cs typeface="Times New Roman" panose="02020603050405020304" pitchFamily="18" charset="0"/>
                        </a:rPr>
                        <a:t>73</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just">
                        <a:buNone/>
                        <a:tabLst>
                          <a:tab pos="137160" algn="l"/>
                        </a:tabLst>
                      </a:pPr>
                      <a:r>
                        <a:rPr lang="en-US" sz="1600" dirty="0">
                          <a:effectLst/>
                          <a:latin typeface="Times New Roman" panose="02020603050405020304" pitchFamily="18" charset="0"/>
                          <a:cs typeface="Times New Roman" panose="02020603050405020304" pitchFamily="18" charset="0"/>
                        </a:rPr>
                        <a:t>113</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just">
                        <a:buNone/>
                        <a:tabLst>
                          <a:tab pos="137160" algn="l"/>
                        </a:tabLst>
                      </a:pPr>
                      <a:r>
                        <a:rPr lang="en-US" sz="1600" dirty="0">
                          <a:effectLst/>
                          <a:latin typeface="Times New Roman" panose="02020603050405020304" pitchFamily="18" charset="0"/>
                          <a:cs typeface="Times New Roman" panose="02020603050405020304" pitchFamily="18" charset="0"/>
                        </a:rPr>
                        <a:t>12.3</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just">
                        <a:buNone/>
                        <a:tabLst>
                          <a:tab pos="137160" algn="l"/>
                        </a:tabLst>
                      </a:pPr>
                      <a:r>
                        <a:rPr lang="en-US" sz="1600">
                          <a:effectLst/>
                          <a:latin typeface="Times New Roman" panose="02020603050405020304" pitchFamily="18" charset="0"/>
                          <a:cs typeface="Times New Roman" panose="02020603050405020304" pitchFamily="18" charset="0"/>
                        </a:rPr>
                        <a:t>35.4</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63449886"/>
                  </a:ext>
                </a:extLst>
              </a:tr>
              <a:tr h="378348">
                <a:tc>
                  <a:txBody>
                    <a:bodyPr/>
                    <a:lstStyle/>
                    <a:p>
                      <a:pPr algn="just">
                        <a:buNone/>
                        <a:tabLst>
                          <a:tab pos="137160" algn="l"/>
                        </a:tabLst>
                      </a:pPr>
                      <a:r>
                        <a:rPr lang="en-US" sz="1600">
                          <a:effectLst/>
                          <a:latin typeface="Times New Roman" panose="02020603050405020304" pitchFamily="18" charset="0"/>
                          <a:cs typeface="Times New Roman" panose="02020603050405020304" pitchFamily="18" charset="0"/>
                        </a:rPr>
                        <a:t>256</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just">
                        <a:buNone/>
                        <a:tabLst>
                          <a:tab pos="137160" algn="l"/>
                        </a:tabLst>
                      </a:pPr>
                      <a:r>
                        <a:rPr lang="en-US" sz="1600">
                          <a:effectLst/>
                          <a:latin typeface="Times New Roman" panose="02020603050405020304" pitchFamily="18" charset="0"/>
                          <a:cs typeface="Times New Roman" panose="02020603050405020304" pitchFamily="18" charset="0"/>
                        </a:rPr>
                        <a:t>256</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just">
                        <a:buNone/>
                        <a:tabLst>
                          <a:tab pos="137160" algn="l"/>
                        </a:tabLst>
                      </a:pPr>
                      <a:r>
                        <a:rPr lang="en-US" sz="1600">
                          <a:effectLst/>
                          <a:latin typeface="Times New Roman" panose="02020603050405020304" pitchFamily="18" charset="0"/>
                          <a:cs typeface="Times New Roman" panose="02020603050405020304" pitchFamily="18" charset="0"/>
                        </a:rPr>
                        <a:t>305</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just">
                        <a:buNone/>
                        <a:tabLst>
                          <a:tab pos="137160" algn="l"/>
                        </a:tabLst>
                      </a:pPr>
                      <a:r>
                        <a:rPr lang="en-US" sz="1600" dirty="0">
                          <a:effectLst/>
                          <a:latin typeface="Times New Roman" panose="02020603050405020304" pitchFamily="18" charset="0"/>
                          <a:cs typeface="Times New Roman" panose="02020603050405020304" pitchFamily="18" charset="0"/>
                        </a:rPr>
                        <a:t>3.4</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just">
                        <a:buNone/>
                        <a:tabLst>
                          <a:tab pos="137160" algn="l"/>
                        </a:tabLst>
                      </a:pPr>
                      <a:r>
                        <a:rPr lang="en-US" sz="1600" dirty="0">
                          <a:effectLst/>
                          <a:latin typeface="Times New Roman" panose="02020603050405020304" pitchFamily="18" charset="0"/>
                          <a:cs typeface="Times New Roman" panose="02020603050405020304" pitchFamily="18" charset="0"/>
                        </a:rPr>
                        <a:t>13.1</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93779291"/>
                  </a:ext>
                </a:extLst>
              </a:tr>
              <a:tr h="378348">
                <a:tc>
                  <a:txBody>
                    <a:bodyPr/>
                    <a:lstStyle/>
                    <a:p>
                      <a:pPr algn="just">
                        <a:buNone/>
                        <a:tabLst>
                          <a:tab pos="137160" algn="l"/>
                        </a:tabLst>
                      </a:pPr>
                      <a:r>
                        <a:rPr lang="en-US" sz="1600">
                          <a:effectLst/>
                          <a:latin typeface="Times New Roman" panose="02020603050405020304" pitchFamily="18" charset="0"/>
                          <a:cs typeface="Times New Roman" panose="02020603050405020304" pitchFamily="18" charset="0"/>
                        </a:rPr>
                        <a:t>1024</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just">
                        <a:buNone/>
                        <a:tabLst>
                          <a:tab pos="137160" algn="l"/>
                        </a:tabLst>
                      </a:pPr>
                      <a:r>
                        <a:rPr lang="en-US" sz="1600">
                          <a:effectLst/>
                          <a:latin typeface="Times New Roman" panose="02020603050405020304" pitchFamily="18" charset="0"/>
                          <a:cs typeface="Times New Roman" panose="02020603050405020304" pitchFamily="18" charset="0"/>
                        </a:rPr>
                        <a:t>1033</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just">
                        <a:buNone/>
                        <a:tabLst>
                          <a:tab pos="137160" algn="l"/>
                        </a:tabLst>
                      </a:pPr>
                      <a:r>
                        <a:rPr lang="en-US" sz="1600" dirty="0">
                          <a:effectLst/>
                          <a:latin typeface="Times New Roman" panose="02020603050405020304" pitchFamily="18" charset="0"/>
                          <a:cs typeface="Times New Roman" panose="02020603050405020304" pitchFamily="18" charset="0"/>
                        </a:rPr>
                        <a:t>1073</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just">
                        <a:buNone/>
                        <a:tabLst>
                          <a:tab pos="137160" algn="l"/>
                        </a:tabLst>
                      </a:pPr>
                      <a:r>
                        <a:rPr lang="en-US" sz="1600" dirty="0">
                          <a:effectLst/>
                          <a:latin typeface="Times New Roman" panose="02020603050405020304" pitchFamily="18" charset="0"/>
                          <a:cs typeface="Times New Roman" panose="02020603050405020304" pitchFamily="18" charset="0"/>
                        </a:rPr>
                        <a:t>0.9</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just">
                        <a:buNone/>
                        <a:tabLst>
                          <a:tab pos="137160" algn="l"/>
                        </a:tabLst>
                      </a:pPr>
                      <a:r>
                        <a:rPr lang="en-US" sz="1600" dirty="0">
                          <a:effectLst/>
                          <a:latin typeface="Times New Roman" panose="02020603050405020304" pitchFamily="18" charset="0"/>
                          <a:cs typeface="Times New Roman" panose="02020603050405020304" pitchFamily="18" charset="0"/>
                        </a:rPr>
                        <a:t>3.7</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83700329"/>
                  </a:ext>
                </a:extLst>
              </a:tr>
              <a:tr h="378348">
                <a:tc>
                  <a:txBody>
                    <a:bodyPr/>
                    <a:lstStyle/>
                    <a:p>
                      <a:pPr algn="just">
                        <a:buNone/>
                        <a:tabLst>
                          <a:tab pos="137160" algn="l"/>
                        </a:tabLst>
                      </a:pPr>
                      <a:r>
                        <a:rPr lang="en-US" sz="1600">
                          <a:effectLst/>
                          <a:latin typeface="Times New Roman" panose="02020603050405020304" pitchFamily="18" charset="0"/>
                          <a:cs typeface="Times New Roman" panose="02020603050405020304" pitchFamily="18" charset="0"/>
                        </a:rPr>
                        <a:t>4069</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buNone/>
                        <a:tabLst>
                          <a:tab pos="137160" algn="l"/>
                        </a:tabLst>
                      </a:pPr>
                      <a:r>
                        <a:rPr lang="en-US" sz="1600">
                          <a:effectLst/>
                          <a:latin typeface="Times New Roman" panose="02020603050405020304" pitchFamily="18" charset="0"/>
                          <a:cs typeface="Times New Roman" panose="02020603050405020304" pitchFamily="18" charset="0"/>
                        </a:rPr>
                        <a:t>4106</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buNone/>
                        <a:tabLst>
                          <a:tab pos="137160" algn="l"/>
                        </a:tabLst>
                      </a:pPr>
                      <a:r>
                        <a:rPr lang="en-US" sz="1600">
                          <a:effectLst/>
                          <a:latin typeface="Times New Roman" panose="02020603050405020304" pitchFamily="18" charset="0"/>
                          <a:cs typeface="Times New Roman" panose="02020603050405020304" pitchFamily="18" charset="0"/>
                        </a:rPr>
                        <a:t>4145</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buNone/>
                        <a:tabLst>
                          <a:tab pos="137160" algn="l"/>
                        </a:tabLst>
                      </a:pPr>
                      <a:r>
                        <a:rPr lang="en-US" sz="1600" dirty="0">
                          <a:effectLst/>
                          <a:latin typeface="Times New Roman" panose="02020603050405020304" pitchFamily="18" charset="0"/>
                          <a:cs typeface="Times New Roman" panose="02020603050405020304" pitchFamily="18" charset="0"/>
                        </a:rPr>
                        <a:t>0.2</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buNone/>
                        <a:tabLst>
                          <a:tab pos="137160" algn="l"/>
                        </a:tabLst>
                      </a:pPr>
                      <a:r>
                        <a:rPr lang="en-US" sz="1600" dirty="0">
                          <a:effectLst/>
                          <a:latin typeface="Times New Roman" panose="02020603050405020304" pitchFamily="18" charset="0"/>
                          <a:cs typeface="Times New Roman" panose="02020603050405020304" pitchFamily="18" charset="0"/>
                        </a:rPr>
                        <a:t>1.0</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24040186"/>
                  </a:ext>
                </a:extLst>
              </a:tr>
            </a:tbl>
          </a:graphicData>
        </a:graphic>
      </p:graphicFrame>
      <p:sp>
        <p:nvSpPr>
          <p:cNvPr id="8" name="TextBox 7">
            <a:extLst>
              <a:ext uri="{FF2B5EF4-FFF2-40B4-BE49-F238E27FC236}">
                <a16:creationId xmlns:a16="http://schemas.microsoft.com/office/drawing/2014/main" id="{96E2C842-2302-8005-2A8E-87BA2D0CC26D}"/>
              </a:ext>
            </a:extLst>
          </p:cNvPr>
          <p:cNvSpPr txBox="1"/>
          <p:nvPr/>
        </p:nvSpPr>
        <p:spPr>
          <a:xfrm>
            <a:off x="7476088" y="4912608"/>
            <a:ext cx="3424314" cy="326243"/>
          </a:xfrm>
          <a:prstGeom prst="rect">
            <a:avLst/>
          </a:prstGeom>
          <a:noFill/>
        </p:spPr>
        <p:txBody>
          <a:bodyPr wrap="square">
            <a:spAutoFit/>
          </a:bodyPr>
          <a:lstStyle/>
          <a:p>
            <a:pPr algn="ctr">
              <a:lnSpc>
                <a:spcPct val="95000"/>
              </a:lnSpc>
              <a:spcAft>
                <a:spcPts val="600"/>
              </a:spcAft>
              <a:tabLst>
                <a:tab pos="182880" algn="l"/>
              </a:tabLst>
            </a:pPr>
            <a:r>
              <a:rPr lang="en-US" sz="1600" dirty="0">
                <a:latin typeface="Times New Roman" panose="02020603050405020304" pitchFamily="18" charset="0"/>
                <a:ea typeface="Times New Roman" panose="02020603050405020304" pitchFamily="18" charset="0"/>
              </a:rPr>
              <a:t>Table III: SCPS/IPv6 overhead results</a:t>
            </a:r>
            <a:endParaRPr lang="en-IN" sz="1600" dirty="0">
              <a:effectLst/>
              <a:latin typeface="Times New Roman" panose="02020603050405020304" pitchFamily="18" charset="0"/>
              <a:ea typeface="Times New Roman" panose="02020603050405020304" pitchFamily="18" charset="0"/>
            </a:endParaRPr>
          </a:p>
        </p:txBody>
      </p:sp>
      <p:sp>
        <p:nvSpPr>
          <p:cNvPr id="9" name="Footer Placeholder 5">
            <a:extLst>
              <a:ext uri="{FF2B5EF4-FFF2-40B4-BE49-F238E27FC236}">
                <a16:creationId xmlns:a16="http://schemas.microsoft.com/office/drawing/2014/main" id="{17747BAE-C04C-DECB-DA98-E3C181106333}"/>
              </a:ext>
            </a:extLst>
          </p:cNvPr>
          <p:cNvSpPr>
            <a:spLocks noGrp="1"/>
          </p:cNvSpPr>
          <p:nvPr>
            <p:ph type="ftr" sz="quarter" idx="11"/>
          </p:nvPr>
        </p:nvSpPr>
        <p:spPr>
          <a:xfrm>
            <a:off x="4038600" y="6356350"/>
            <a:ext cx="4114800" cy="365125"/>
          </a:xfrm>
        </p:spPr>
        <p:txBody>
          <a:bodyPr/>
          <a:lstStyle/>
          <a:p>
            <a:r>
              <a:rPr lang="en-IN" dirty="0">
                <a:latin typeface="Arial" panose="020B0604020202020204" pitchFamily="34" charset="0"/>
                <a:cs typeface="Arial" panose="020B0604020202020204" pitchFamily="34" charset="0"/>
              </a:rPr>
              <a:t>SRM Institute of Science and Technology</a:t>
            </a:r>
          </a:p>
        </p:txBody>
      </p:sp>
    </p:spTree>
    <p:extLst>
      <p:ext uri="{BB962C8B-B14F-4D97-AF65-F5344CB8AC3E}">
        <p14:creationId xmlns:p14="http://schemas.microsoft.com/office/powerpoint/2010/main" val="12285655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F3468-6E76-351A-4D9E-C75FA28175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364067-6294-05D7-E299-B60F44DF5FD0}"/>
              </a:ext>
            </a:extLst>
          </p:cNvPr>
          <p:cNvSpPr>
            <a:spLocks noGrp="1"/>
          </p:cNvSpPr>
          <p:nvPr>
            <p:ph type="title"/>
          </p:nvPr>
        </p:nvSpPr>
        <p:spPr>
          <a:xfrm>
            <a:off x="838200" y="365125"/>
            <a:ext cx="10515600" cy="460785"/>
          </a:xfrm>
        </p:spPr>
        <p:txBody>
          <a:bodyPr>
            <a:normAutofit fontScale="90000"/>
          </a:bodyPr>
          <a:lstStyle/>
          <a:p>
            <a:pPr algn="ctr"/>
            <a:r>
              <a:rPr lang="en-US" sz="3200" b="1" dirty="0">
                <a:solidFill>
                  <a:srgbClr val="0000CC"/>
                </a:solidFill>
                <a:latin typeface="Times New Roman" panose="02020603050405020304" pitchFamily="18" charset="0"/>
                <a:cs typeface="Times New Roman" panose="02020603050405020304" pitchFamily="18" charset="0"/>
              </a:rPr>
              <a:t>SCPS-TP vs LTP Performance</a:t>
            </a:r>
            <a:endParaRPr lang="en-IN" sz="3200" b="1" dirty="0">
              <a:solidFill>
                <a:srgbClr val="0000CC"/>
              </a:solidFill>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515BE259-43EB-83C8-A4C3-CBCB1B783B30}"/>
              </a:ext>
            </a:extLst>
          </p:cNvPr>
          <p:cNvSpPr>
            <a:spLocks noGrp="1"/>
          </p:cNvSpPr>
          <p:nvPr>
            <p:ph type="sldNum" sz="quarter" idx="12"/>
          </p:nvPr>
        </p:nvSpPr>
        <p:spPr>
          <a:xfrm>
            <a:off x="8610600" y="6350630"/>
            <a:ext cx="2743200" cy="365125"/>
          </a:xfrm>
        </p:spPr>
        <p:txBody>
          <a:bodyPr/>
          <a:lstStyle/>
          <a:p>
            <a:pPr algn="ctr"/>
            <a:fld id="{5065FCC5-0D2C-40B6-BCDE-2689FBEDE705}" type="slidenum">
              <a:rPr lang="en-IN" smtClean="0">
                <a:latin typeface="Arial" panose="020B0604020202020204" pitchFamily="34" charset="0"/>
                <a:cs typeface="Arial" panose="020B0604020202020204" pitchFamily="34" charset="0"/>
              </a:rPr>
              <a:pPr algn="ctr"/>
              <a:t>8</a:t>
            </a:fld>
            <a:endParaRPr lang="en-IN" dirty="0">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113959BD-27FA-91C4-5C39-B44C73F08276}"/>
              </a:ext>
            </a:extLst>
          </p:cNvPr>
          <p:cNvPicPr>
            <a:picLocks noChangeAspect="1"/>
          </p:cNvPicPr>
          <p:nvPr/>
        </p:nvPicPr>
        <p:blipFill>
          <a:blip r:embed="rId2"/>
          <a:stretch>
            <a:fillRect/>
          </a:stretch>
        </p:blipFill>
        <p:spPr>
          <a:xfrm>
            <a:off x="1973882" y="3192999"/>
            <a:ext cx="3790447" cy="2831388"/>
          </a:xfrm>
          <a:prstGeom prst="rect">
            <a:avLst/>
          </a:prstGeom>
        </p:spPr>
      </p:pic>
      <p:pic>
        <p:nvPicPr>
          <p:cNvPr id="10" name="Picture 9">
            <a:extLst>
              <a:ext uri="{FF2B5EF4-FFF2-40B4-BE49-F238E27FC236}">
                <a16:creationId xmlns:a16="http://schemas.microsoft.com/office/drawing/2014/main" id="{32EB94B2-771E-B144-1805-8D15F517D039}"/>
              </a:ext>
            </a:extLst>
          </p:cNvPr>
          <p:cNvPicPr>
            <a:picLocks noChangeAspect="1"/>
          </p:cNvPicPr>
          <p:nvPr/>
        </p:nvPicPr>
        <p:blipFill>
          <a:blip r:embed="rId3"/>
          <a:stretch>
            <a:fillRect/>
          </a:stretch>
        </p:blipFill>
        <p:spPr>
          <a:xfrm>
            <a:off x="6258179" y="3242159"/>
            <a:ext cx="3959939" cy="2740987"/>
          </a:xfrm>
          <a:prstGeom prst="rect">
            <a:avLst/>
          </a:prstGeom>
        </p:spPr>
      </p:pic>
      <p:pic>
        <p:nvPicPr>
          <p:cNvPr id="6" name="Picture 5">
            <a:extLst>
              <a:ext uri="{FF2B5EF4-FFF2-40B4-BE49-F238E27FC236}">
                <a16:creationId xmlns:a16="http://schemas.microsoft.com/office/drawing/2014/main" id="{4CE8EB7E-387A-B733-434C-549D1779804E}"/>
              </a:ext>
            </a:extLst>
          </p:cNvPr>
          <p:cNvPicPr>
            <a:picLocks noChangeAspect="1"/>
          </p:cNvPicPr>
          <p:nvPr/>
        </p:nvPicPr>
        <p:blipFill>
          <a:blip r:embed="rId4"/>
          <a:stretch>
            <a:fillRect/>
          </a:stretch>
        </p:blipFill>
        <p:spPr>
          <a:xfrm>
            <a:off x="10579039" y="0"/>
            <a:ext cx="1549521" cy="884675"/>
          </a:xfrm>
          <a:prstGeom prst="rect">
            <a:avLst/>
          </a:prstGeom>
        </p:spPr>
      </p:pic>
      <p:sp>
        <p:nvSpPr>
          <p:cNvPr id="7" name="TextBox 6">
            <a:extLst>
              <a:ext uri="{FF2B5EF4-FFF2-40B4-BE49-F238E27FC236}">
                <a16:creationId xmlns:a16="http://schemas.microsoft.com/office/drawing/2014/main" id="{9466D926-487A-49D7-51A8-96FD2D1A0E34}"/>
              </a:ext>
            </a:extLst>
          </p:cNvPr>
          <p:cNvSpPr txBox="1"/>
          <p:nvPr/>
        </p:nvSpPr>
        <p:spPr>
          <a:xfrm>
            <a:off x="604683" y="884675"/>
            <a:ext cx="10982633" cy="2308324"/>
          </a:xfrm>
          <a:prstGeom prst="rect">
            <a:avLst/>
          </a:prstGeom>
          <a:noFill/>
        </p:spPr>
        <p:txBody>
          <a:bodyPr wrap="square" rtlCol="0">
            <a:spAutoFit/>
          </a:bodyPr>
          <a:lstStyle/>
          <a:p>
            <a:pPr algn="just"/>
            <a:r>
              <a:rPr lang="en-IN" sz="2400" b="1" dirty="0">
                <a:latin typeface="Times New Roman" panose="02020603050405020304" pitchFamily="18" charset="0"/>
                <a:cs typeface="Times New Roman" panose="02020603050405020304" pitchFamily="18" charset="0"/>
              </a:rPr>
              <a:t>Throughput Comparison (Fig. 5):</a:t>
            </a:r>
          </a:p>
          <a:p>
            <a:pPr algn="just"/>
            <a:r>
              <a:rPr lang="en-IN" sz="2400" dirty="0">
                <a:latin typeface="Times New Roman" panose="02020603050405020304" pitchFamily="18" charset="0"/>
                <a:cs typeface="Times New Roman" panose="02020603050405020304" pitchFamily="18" charset="0"/>
              </a:rPr>
              <a:t>SCPS-TP: 90,000-100,000 bytes/s, while LTP: 80,000 bytes/s. SCPS-TP more efficient for high-latency deep-space links.</a:t>
            </a:r>
          </a:p>
          <a:p>
            <a:pPr algn="just"/>
            <a:r>
              <a:rPr lang="en-IN" sz="2400" b="1" dirty="0">
                <a:latin typeface="Times New Roman" panose="02020603050405020304" pitchFamily="18" charset="0"/>
                <a:cs typeface="Times New Roman" panose="02020603050405020304" pitchFamily="18" charset="0"/>
              </a:rPr>
              <a:t>Congestion Window Growth (Fig. 6):</a:t>
            </a:r>
          </a:p>
          <a:p>
            <a:pPr algn="just"/>
            <a:r>
              <a:rPr lang="en-IN" sz="2400" dirty="0">
                <a:latin typeface="Times New Roman" panose="02020603050405020304" pitchFamily="18" charset="0"/>
                <a:cs typeface="Times New Roman" panose="02020603050405020304" pitchFamily="18" charset="0"/>
              </a:rPr>
              <a:t>SCPS-TP: 120,000 bytes at 70,000s while LTP: 100,000 bytes (20% smaller window). SCPS-TP utilizes available bandwidth more effectively.</a:t>
            </a:r>
          </a:p>
        </p:txBody>
      </p:sp>
      <p:sp>
        <p:nvSpPr>
          <p:cNvPr id="12" name="TextBox 11">
            <a:extLst>
              <a:ext uri="{FF2B5EF4-FFF2-40B4-BE49-F238E27FC236}">
                <a16:creationId xmlns:a16="http://schemas.microsoft.com/office/drawing/2014/main" id="{B2819D61-5111-829C-A3F4-29C100737DA9}"/>
              </a:ext>
            </a:extLst>
          </p:cNvPr>
          <p:cNvSpPr txBox="1"/>
          <p:nvPr/>
        </p:nvSpPr>
        <p:spPr>
          <a:xfrm>
            <a:off x="1969186" y="5983146"/>
            <a:ext cx="4126813" cy="297004"/>
          </a:xfrm>
          <a:prstGeom prst="rect">
            <a:avLst/>
          </a:prstGeom>
          <a:noFill/>
        </p:spPr>
        <p:txBody>
          <a:bodyPr wrap="square">
            <a:spAutoFit/>
          </a:bodyPr>
          <a:lstStyle/>
          <a:p>
            <a:pPr algn="ctr">
              <a:lnSpc>
                <a:spcPct val="95000"/>
              </a:lnSpc>
              <a:spcAft>
                <a:spcPts val="600"/>
              </a:spcAft>
              <a:tabLst>
                <a:tab pos="182880" algn="l"/>
              </a:tabLst>
            </a:pPr>
            <a:r>
              <a:rPr lang="en-US" sz="1400" dirty="0">
                <a:effectLst/>
                <a:latin typeface="Times New Roman" panose="02020603050405020304" pitchFamily="18" charset="0"/>
                <a:ea typeface="Times New Roman" panose="02020603050405020304" pitchFamily="18" charset="0"/>
              </a:rPr>
              <a:t>Fig. 5: Throughput vs File Transmission Time</a:t>
            </a:r>
            <a:endParaRPr lang="en-IN" sz="1400" dirty="0">
              <a:effectLst/>
              <a:latin typeface="Times New Roman" panose="02020603050405020304" pitchFamily="18" charset="0"/>
              <a:ea typeface="Times New Roman" panose="02020603050405020304" pitchFamily="18" charset="0"/>
            </a:endParaRPr>
          </a:p>
        </p:txBody>
      </p:sp>
      <p:sp>
        <p:nvSpPr>
          <p:cNvPr id="13" name="TextBox 12">
            <a:extLst>
              <a:ext uri="{FF2B5EF4-FFF2-40B4-BE49-F238E27FC236}">
                <a16:creationId xmlns:a16="http://schemas.microsoft.com/office/drawing/2014/main" id="{5A931F87-A77B-ACDB-1E62-C9CF9A31A571}"/>
              </a:ext>
            </a:extLst>
          </p:cNvPr>
          <p:cNvSpPr txBox="1"/>
          <p:nvPr/>
        </p:nvSpPr>
        <p:spPr>
          <a:xfrm>
            <a:off x="6017342" y="5986376"/>
            <a:ext cx="4643284" cy="297004"/>
          </a:xfrm>
          <a:prstGeom prst="rect">
            <a:avLst/>
          </a:prstGeom>
          <a:noFill/>
        </p:spPr>
        <p:txBody>
          <a:bodyPr wrap="square">
            <a:spAutoFit/>
          </a:bodyPr>
          <a:lstStyle/>
          <a:p>
            <a:pPr algn="ctr">
              <a:lnSpc>
                <a:spcPct val="95000"/>
              </a:lnSpc>
              <a:spcAft>
                <a:spcPts val="600"/>
              </a:spcAft>
              <a:tabLst>
                <a:tab pos="182880" algn="l"/>
              </a:tabLst>
            </a:pPr>
            <a:r>
              <a:rPr lang="en-US" sz="1400" dirty="0">
                <a:effectLst/>
                <a:latin typeface="Times New Roman" panose="02020603050405020304" pitchFamily="18" charset="0"/>
                <a:ea typeface="Times New Roman" panose="02020603050405020304" pitchFamily="18" charset="0"/>
              </a:rPr>
              <a:t>Fig. 6: Congestion Window vs File Transmission Time</a:t>
            </a:r>
            <a:endParaRPr lang="en-IN" sz="1400" dirty="0">
              <a:effectLst/>
              <a:latin typeface="Times New Roman" panose="02020603050405020304" pitchFamily="18" charset="0"/>
              <a:ea typeface="Times New Roman" panose="02020603050405020304" pitchFamily="18" charset="0"/>
            </a:endParaRPr>
          </a:p>
        </p:txBody>
      </p:sp>
      <p:sp>
        <p:nvSpPr>
          <p:cNvPr id="14" name="Footer Placeholder 5">
            <a:extLst>
              <a:ext uri="{FF2B5EF4-FFF2-40B4-BE49-F238E27FC236}">
                <a16:creationId xmlns:a16="http://schemas.microsoft.com/office/drawing/2014/main" id="{429E36F2-0394-065A-73EB-6B8A50DE894A}"/>
              </a:ext>
            </a:extLst>
          </p:cNvPr>
          <p:cNvSpPr>
            <a:spLocks noGrp="1"/>
          </p:cNvSpPr>
          <p:nvPr>
            <p:ph type="ftr" sz="quarter" idx="11"/>
          </p:nvPr>
        </p:nvSpPr>
        <p:spPr>
          <a:xfrm>
            <a:off x="4038600" y="6356350"/>
            <a:ext cx="4114800" cy="365125"/>
          </a:xfrm>
        </p:spPr>
        <p:txBody>
          <a:bodyPr/>
          <a:lstStyle/>
          <a:p>
            <a:r>
              <a:rPr lang="en-IN" dirty="0">
                <a:latin typeface="Arial" panose="020B0604020202020204" pitchFamily="34" charset="0"/>
                <a:cs typeface="Arial" panose="020B0604020202020204" pitchFamily="34" charset="0"/>
              </a:rPr>
              <a:t>SRM Institute of Science and Technology</a:t>
            </a:r>
          </a:p>
        </p:txBody>
      </p:sp>
    </p:spTree>
    <p:extLst>
      <p:ext uri="{BB962C8B-B14F-4D97-AF65-F5344CB8AC3E}">
        <p14:creationId xmlns:p14="http://schemas.microsoft.com/office/powerpoint/2010/main" val="32858628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D8BF8E-3BFD-6921-ABB4-D68F9CCC5D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BD0647-C175-79FC-2330-6CF694EF5B96}"/>
              </a:ext>
            </a:extLst>
          </p:cNvPr>
          <p:cNvSpPr>
            <a:spLocks noGrp="1"/>
          </p:cNvSpPr>
          <p:nvPr>
            <p:ph type="title"/>
          </p:nvPr>
        </p:nvSpPr>
        <p:spPr>
          <a:xfrm>
            <a:off x="838200" y="365125"/>
            <a:ext cx="10515600" cy="460785"/>
          </a:xfrm>
        </p:spPr>
        <p:txBody>
          <a:bodyPr>
            <a:normAutofit fontScale="90000"/>
          </a:bodyPr>
          <a:lstStyle/>
          <a:p>
            <a:pPr algn="ctr"/>
            <a:r>
              <a:rPr lang="en-US" sz="3200" b="1" dirty="0">
                <a:solidFill>
                  <a:srgbClr val="0000CC"/>
                </a:solidFill>
                <a:latin typeface="Times New Roman" panose="02020603050405020304" pitchFamily="18" charset="0"/>
                <a:cs typeface="Times New Roman" panose="02020603050405020304" pitchFamily="18" charset="0"/>
              </a:rPr>
              <a:t>Reinforcement Learning &amp; Anomaly Detection</a:t>
            </a:r>
            <a:endParaRPr lang="en-IN" sz="3200" b="1" dirty="0">
              <a:solidFill>
                <a:srgbClr val="0000CC"/>
              </a:solidFill>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8A690CA9-4089-C8FF-3002-E19B4B0CD1F2}"/>
              </a:ext>
            </a:extLst>
          </p:cNvPr>
          <p:cNvSpPr>
            <a:spLocks noGrp="1"/>
          </p:cNvSpPr>
          <p:nvPr>
            <p:ph type="sldNum" sz="quarter" idx="12"/>
          </p:nvPr>
        </p:nvSpPr>
        <p:spPr/>
        <p:txBody>
          <a:bodyPr/>
          <a:lstStyle/>
          <a:p>
            <a:pPr algn="ctr"/>
            <a:fld id="{5065FCC5-0D2C-40B6-BCDE-2689FBEDE705}" type="slidenum">
              <a:rPr lang="en-IN" smtClean="0">
                <a:latin typeface="Arial" panose="020B0604020202020204" pitchFamily="34" charset="0"/>
                <a:cs typeface="Arial" panose="020B0604020202020204" pitchFamily="34" charset="0"/>
              </a:rPr>
              <a:pPr algn="ctr"/>
              <a:t>9</a:t>
            </a:fld>
            <a:endParaRPr lang="en-IN"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3E7CD986-5652-C0FC-59BD-9C6AA598DC80}"/>
              </a:ext>
            </a:extLst>
          </p:cNvPr>
          <p:cNvPicPr>
            <a:picLocks noChangeAspect="1"/>
          </p:cNvPicPr>
          <p:nvPr/>
        </p:nvPicPr>
        <p:blipFill>
          <a:blip r:embed="rId2"/>
          <a:stretch>
            <a:fillRect/>
          </a:stretch>
        </p:blipFill>
        <p:spPr>
          <a:xfrm>
            <a:off x="10579039" y="0"/>
            <a:ext cx="1549521" cy="884675"/>
          </a:xfrm>
          <a:prstGeom prst="rect">
            <a:avLst/>
          </a:prstGeom>
        </p:spPr>
      </p:pic>
      <p:pic>
        <p:nvPicPr>
          <p:cNvPr id="3" name="Picture 2">
            <a:extLst>
              <a:ext uri="{FF2B5EF4-FFF2-40B4-BE49-F238E27FC236}">
                <a16:creationId xmlns:a16="http://schemas.microsoft.com/office/drawing/2014/main" id="{F1BD27E6-A1C4-FF7D-A53A-6B013C29F16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48790" y="945526"/>
            <a:ext cx="4463108" cy="1908784"/>
          </a:xfrm>
          <a:prstGeom prst="rect">
            <a:avLst/>
          </a:prstGeom>
        </p:spPr>
      </p:pic>
      <p:pic>
        <p:nvPicPr>
          <p:cNvPr id="7" name="Picture 6">
            <a:extLst>
              <a:ext uri="{FF2B5EF4-FFF2-40B4-BE49-F238E27FC236}">
                <a16:creationId xmlns:a16="http://schemas.microsoft.com/office/drawing/2014/main" id="{04F46398-74F4-1BD6-8764-DBDAF2C6F9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612247" y="3272498"/>
            <a:ext cx="3999651" cy="2228433"/>
          </a:xfrm>
          <a:prstGeom prst="rect">
            <a:avLst/>
          </a:prstGeom>
        </p:spPr>
      </p:pic>
      <p:sp>
        <p:nvSpPr>
          <p:cNvPr id="11" name="TextBox 10">
            <a:extLst>
              <a:ext uri="{FF2B5EF4-FFF2-40B4-BE49-F238E27FC236}">
                <a16:creationId xmlns:a16="http://schemas.microsoft.com/office/drawing/2014/main" id="{F46E596C-B8CD-9415-7A41-BA6FDAC26E8D}"/>
              </a:ext>
            </a:extLst>
          </p:cNvPr>
          <p:cNvSpPr txBox="1"/>
          <p:nvPr/>
        </p:nvSpPr>
        <p:spPr>
          <a:xfrm>
            <a:off x="7773250" y="2810804"/>
            <a:ext cx="3677643" cy="326243"/>
          </a:xfrm>
          <a:prstGeom prst="rect">
            <a:avLst/>
          </a:prstGeom>
          <a:noFill/>
        </p:spPr>
        <p:txBody>
          <a:bodyPr wrap="square">
            <a:spAutoFit/>
          </a:bodyPr>
          <a:lstStyle/>
          <a:p>
            <a:pPr algn="ctr">
              <a:lnSpc>
                <a:spcPct val="95000"/>
              </a:lnSpc>
              <a:spcAft>
                <a:spcPts val="600"/>
              </a:spcAft>
              <a:tabLst>
                <a:tab pos="182880" algn="l"/>
              </a:tabLst>
            </a:pPr>
            <a:r>
              <a:rPr lang="en-US" sz="1600" dirty="0">
                <a:effectLst/>
                <a:latin typeface="Times New Roman" panose="02020603050405020304" pitchFamily="18" charset="0"/>
                <a:ea typeface="Times New Roman" panose="02020603050405020304" pitchFamily="18" charset="0"/>
              </a:rPr>
              <a:t>Fig. 7: Learning curve of RL based DTN</a:t>
            </a:r>
            <a:endParaRPr lang="en-IN" sz="1600" dirty="0">
              <a:effectLst/>
              <a:latin typeface="Times New Roman" panose="02020603050405020304" pitchFamily="18" charset="0"/>
              <a:ea typeface="Times New Roman" panose="02020603050405020304" pitchFamily="18" charset="0"/>
            </a:endParaRPr>
          </a:p>
        </p:txBody>
      </p:sp>
      <p:sp>
        <p:nvSpPr>
          <p:cNvPr id="12" name="TextBox 11">
            <a:extLst>
              <a:ext uri="{FF2B5EF4-FFF2-40B4-BE49-F238E27FC236}">
                <a16:creationId xmlns:a16="http://schemas.microsoft.com/office/drawing/2014/main" id="{DF501FEB-2E22-6090-3436-AD2D3734FE80}"/>
              </a:ext>
            </a:extLst>
          </p:cNvPr>
          <p:cNvSpPr txBox="1"/>
          <p:nvPr/>
        </p:nvSpPr>
        <p:spPr>
          <a:xfrm>
            <a:off x="7339590" y="5555502"/>
            <a:ext cx="4544961" cy="326243"/>
          </a:xfrm>
          <a:prstGeom prst="rect">
            <a:avLst/>
          </a:prstGeom>
          <a:noFill/>
        </p:spPr>
        <p:txBody>
          <a:bodyPr wrap="square">
            <a:spAutoFit/>
          </a:bodyPr>
          <a:lstStyle/>
          <a:p>
            <a:pPr algn="ctr">
              <a:lnSpc>
                <a:spcPct val="95000"/>
              </a:lnSpc>
              <a:spcAft>
                <a:spcPts val="600"/>
              </a:spcAft>
              <a:tabLst>
                <a:tab pos="182880" algn="l"/>
              </a:tabLst>
            </a:pPr>
            <a:r>
              <a:rPr lang="en-US" sz="1600" dirty="0">
                <a:effectLst/>
                <a:latin typeface="Times New Roman" panose="02020603050405020304" pitchFamily="18" charset="0"/>
                <a:ea typeface="Times New Roman" panose="02020603050405020304" pitchFamily="18" charset="0"/>
              </a:rPr>
              <a:t>Fig. 8: Anomaly Detection in Communication delays</a:t>
            </a:r>
            <a:endParaRPr lang="en-IN" sz="1600" dirty="0">
              <a:effectLst/>
              <a:latin typeface="Times New Roman" panose="02020603050405020304" pitchFamily="18" charset="0"/>
              <a:ea typeface="Times New Roman" panose="02020603050405020304" pitchFamily="18" charset="0"/>
            </a:endParaRPr>
          </a:p>
        </p:txBody>
      </p:sp>
      <p:sp>
        <p:nvSpPr>
          <p:cNvPr id="13" name="Content Placeholder 2">
            <a:extLst>
              <a:ext uri="{FF2B5EF4-FFF2-40B4-BE49-F238E27FC236}">
                <a16:creationId xmlns:a16="http://schemas.microsoft.com/office/drawing/2014/main" id="{167B1951-9B44-1067-9F0C-A8442D79CB07}"/>
              </a:ext>
            </a:extLst>
          </p:cNvPr>
          <p:cNvSpPr>
            <a:spLocks noGrp="1"/>
          </p:cNvSpPr>
          <p:nvPr>
            <p:ph idx="1"/>
          </p:nvPr>
        </p:nvSpPr>
        <p:spPr>
          <a:xfrm>
            <a:off x="668594" y="899368"/>
            <a:ext cx="6056671" cy="4950826"/>
          </a:xfrm>
        </p:spPr>
        <p:txBody>
          <a:bodyPr>
            <a:noAutofit/>
          </a:bodyPr>
          <a:lstStyle/>
          <a:p>
            <a:pPr marL="0" indent="0" algn="just">
              <a:lnSpc>
                <a:spcPts val="2100"/>
              </a:lnSpc>
              <a:buNone/>
            </a:pPr>
            <a:br>
              <a:rPr lang="en-IN" sz="2400"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Reinforcement Learning for DTN:</a:t>
            </a:r>
          </a:p>
          <a:p>
            <a:pPr algn="just">
              <a:lnSpc>
                <a:spcPts val="2100"/>
              </a:lnSpc>
            </a:pPr>
            <a:r>
              <a:rPr lang="en-IN" sz="2400" b="0" i="0" dirty="0">
                <a:effectLst/>
                <a:latin typeface="Times New Roman" panose="02020603050405020304" pitchFamily="18" charset="0"/>
                <a:cs typeface="Times New Roman" panose="02020603050405020304" pitchFamily="18" charset="0"/>
              </a:rPr>
              <a:t>Modelled in Python, optimizes routing using a reward-penalty system.</a:t>
            </a:r>
          </a:p>
          <a:p>
            <a:pPr algn="just">
              <a:lnSpc>
                <a:spcPts val="2100"/>
              </a:lnSpc>
            </a:pPr>
            <a:r>
              <a:rPr lang="en-IN" sz="2400" dirty="0">
                <a:latin typeface="Times New Roman" panose="02020603050405020304" pitchFamily="18" charset="0"/>
                <a:cs typeface="Times New Roman" panose="02020603050405020304" pitchFamily="18" charset="0"/>
              </a:rPr>
              <a:t>Optimal paths earn rewards; suboptimal paths incur penalties.</a:t>
            </a:r>
          </a:p>
          <a:p>
            <a:pPr algn="just">
              <a:lnSpc>
                <a:spcPts val="2100"/>
              </a:lnSpc>
            </a:pPr>
            <a:r>
              <a:rPr lang="en-IN" sz="2400" b="0" i="0" dirty="0">
                <a:effectLst/>
                <a:latin typeface="Times New Roman" panose="02020603050405020304" pitchFamily="18" charset="0"/>
                <a:cs typeface="Times New Roman" panose="02020603050405020304" pitchFamily="18" charset="0"/>
              </a:rPr>
              <a:t>Early training: Inefficient route, highly negative reward.</a:t>
            </a:r>
          </a:p>
          <a:p>
            <a:pPr algn="just">
              <a:lnSpc>
                <a:spcPts val="2100"/>
              </a:lnSpc>
            </a:pPr>
            <a:r>
              <a:rPr lang="en-IN" sz="2400" dirty="0">
                <a:latin typeface="Times New Roman" panose="02020603050405020304" pitchFamily="18" charset="0"/>
                <a:cs typeface="Times New Roman" panose="02020603050405020304" pitchFamily="18" charset="0"/>
              </a:rPr>
              <a:t>Later episodes: Stabilized rewards.</a:t>
            </a:r>
          </a:p>
          <a:p>
            <a:pPr marL="0" indent="0" algn="just">
              <a:lnSpc>
                <a:spcPts val="2100"/>
              </a:lnSpc>
              <a:buNone/>
            </a:pPr>
            <a:endParaRPr lang="en-IN" sz="2400" dirty="0">
              <a:latin typeface="Times New Roman" panose="02020603050405020304" pitchFamily="18" charset="0"/>
              <a:cs typeface="Times New Roman" panose="02020603050405020304" pitchFamily="18" charset="0"/>
            </a:endParaRPr>
          </a:p>
          <a:p>
            <a:pPr marL="0" indent="0" algn="just">
              <a:lnSpc>
                <a:spcPts val="2100"/>
              </a:lnSpc>
              <a:buNone/>
            </a:pPr>
            <a:r>
              <a:rPr lang="en-IN" sz="2400" b="1" dirty="0">
                <a:latin typeface="Times New Roman" panose="02020603050405020304" pitchFamily="18" charset="0"/>
                <a:cs typeface="Times New Roman" panose="02020603050405020304" pitchFamily="18" charset="0"/>
              </a:rPr>
              <a:t>Anomaly Detection with Isolation Forest:</a:t>
            </a:r>
          </a:p>
          <a:p>
            <a:pPr algn="just">
              <a:lnSpc>
                <a:spcPts val="2100"/>
              </a:lnSpc>
            </a:pPr>
            <a:r>
              <a:rPr lang="en-IN" sz="2400" b="0" i="0" dirty="0">
                <a:effectLst/>
                <a:latin typeface="Times New Roman" panose="02020603050405020304" pitchFamily="18" charset="0"/>
                <a:cs typeface="Times New Roman" panose="02020603050405020304" pitchFamily="18" charset="0"/>
              </a:rPr>
              <a:t>Detects outliers in </a:t>
            </a:r>
            <a:r>
              <a:rPr lang="en-IN" sz="2400" dirty="0">
                <a:latin typeface="Times New Roman" panose="02020603050405020304" pitchFamily="18" charset="0"/>
                <a:cs typeface="Times New Roman" panose="02020603050405020304" pitchFamily="18" charset="0"/>
              </a:rPr>
              <a:t>communication delays.</a:t>
            </a:r>
          </a:p>
          <a:p>
            <a:pPr algn="just">
              <a:lnSpc>
                <a:spcPts val="2100"/>
              </a:lnSpc>
            </a:pPr>
            <a:r>
              <a:rPr lang="en-IN" sz="2400" b="0" i="0" dirty="0">
                <a:effectLst/>
                <a:latin typeface="Times New Roman" panose="02020603050405020304" pitchFamily="18" charset="0"/>
                <a:cs typeface="Times New Roman" panose="02020603050405020304" pitchFamily="18" charset="0"/>
              </a:rPr>
              <a:t>Identifies unusual spikes/dips in all 3 links.</a:t>
            </a:r>
          </a:p>
          <a:p>
            <a:pPr marL="0" indent="0" algn="just">
              <a:lnSpc>
                <a:spcPts val="2100"/>
              </a:lnSpc>
              <a:buNone/>
            </a:pPr>
            <a:endParaRPr lang="en-IN" sz="2400" b="0" i="0" dirty="0">
              <a:effectLst/>
              <a:latin typeface="Times New Roman" panose="02020603050405020304" pitchFamily="18" charset="0"/>
              <a:cs typeface="Times New Roman" panose="02020603050405020304" pitchFamily="18" charset="0"/>
            </a:endParaRPr>
          </a:p>
        </p:txBody>
      </p:sp>
      <p:sp>
        <p:nvSpPr>
          <p:cNvPr id="16" name="Footer Placeholder 5">
            <a:extLst>
              <a:ext uri="{FF2B5EF4-FFF2-40B4-BE49-F238E27FC236}">
                <a16:creationId xmlns:a16="http://schemas.microsoft.com/office/drawing/2014/main" id="{3AD5F815-3F0E-38D5-60A6-529B28A32062}"/>
              </a:ext>
            </a:extLst>
          </p:cNvPr>
          <p:cNvSpPr>
            <a:spLocks noGrp="1"/>
          </p:cNvSpPr>
          <p:nvPr>
            <p:ph type="ftr" sz="quarter" idx="11"/>
          </p:nvPr>
        </p:nvSpPr>
        <p:spPr>
          <a:xfrm>
            <a:off x="4038600" y="6356350"/>
            <a:ext cx="4114800" cy="365125"/>
          </a:xfrm>
        </p:spPr>
        <p:txBody>
          <a:bodyPr/>
          <a:lstStyle/>
          <a:p>
            <a:r>
              <a:rPr lang="en-IN" dirty="0">
                <a:latin typeface="Arial" panose="020B0604020202020204" pitchFamily="34" charset="0"/>
                <a:cs typeface="Arial" panose="020B0604020202020204" pitchFamily="34" charset="0"/>
              </a:rPr>
              <a:t>SRM Institute of Science and Technology</a:t>
            </a:r>
          </a:p>
        </p:txBody>
      </p:sp>
    </p:spTree>
    <p:extLst>
      <p:ext uri="{BB962C8B-B14F-4D97-AF65-F5344CB8AC3E}">
        <p14:creationId xmlns:p14="http://schemas.microsoft.com/office/powerpoint/2010/main" val="8818386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0E80B-6723-18C7-39C7-6F36B5E9D9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55C72A-915D-4983-A62C-86E3906285F4}"/>
              </a:ext>
            </a:extLst>
          </p:cNvPr>
          <p:cNvSpPr>
            <a:spLocks noGrp="1"/>
          </p:cNvSpPr>
          <p:nvPr>
            <p:ph type="title"/>
          </p:nvPr>
        </p:nvSpPr>
        <p:spPr>
          <a:xfrm>
            <a:off x="838200" y="365125"/>
            <a:ext cx="10515600" cy="460785"/>
          </a:xfrm>
        </p:spPr>
        <p:txBody>
          <a:bodyPr>
            <a:normAutofit fontScale="90000"/>
          </a:bodyPr>
          <a:lstStyle/>
          <a:p>
            <a:pPr algn="ctr"/>
            <a:r>
              <a:rPr lang="en-US" sz="3200" b="1" dirty="0">
                <a:solidFill>
                  <a:srgbClr val="0000CC"/>
                </a:solidFill>
                <a:latin typeface="Times New Roman" panose="02020603050405020304" pitchFamily="18" charset="0"/>
                <a:cs typeface="Times New Roman" panose="02020603050405020304" pitchFamily="18" charset="0"/>
              </a:rPr>
              <a:t>Comparison of DTN protocols</a:t>
            </a:r>
            <a:endParaRPr lang="en-IN" sz="3200" b="1" dirty="0">
              <a:solidFill>
                <a:srgbClr val="0000CC"/>
              </a:solidFill>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CCF3CD88-6D45-12E6-7127-BF5B17383494}"/>
              </a:ext>
            </a:extLst>
          </p:cNvPr>
          <p:cNvSpPr>
            <a:spLocks noGrp="1"/>
          </p:cNvSpPr>
          <p:nvPr>
            <p:ph type="sldNum" sz="quarter" idx="12"/>
          </p:nvPr>
        </p:nvSpPr>
        <p:spPr/>
        <p:txBody>
          <a:bodyPr/>
          <a:lstStyle/>
          <a:p>
            <a:pPr algn="ctr"/>
            <a:fld id="{5065FCC5-0D2C-40B6-BCDE-2689FBEDE705}" type="slidenum">
              <a:rPr lang="en-IN" smtClean="0">
                <a:latin typeface="Arial" panose="020B0604020202020204" pitchFamily="34" charset="0"/>
                <a:cs typeface="Arial" panose="020B0604020202020204" pitchFamily="34" charset="0"/>
              </a:rPr>
              <a:pPr algn="ctr"/>
              <a:t>10</a:t>
            </a:fld>
            <a:endParaRPr lang="en-IN"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BF2D5EAC-9526-8448-52B9-2C46423A162B}"/>
              </a:ext>
            </a:extLst>
          </p:cNvPr>
          <p:cNvPicPr>
            <a:picLocks noChangeAspect="1"/>
          </p:cNvPicPr>
          <p:nvPr/>
        </p:nvPicPr>
        <p:blipFill>
          <a:blip r:embed="rId2"/>
          <a:stretch>
            <a:fillRect/>
          </a:stretch>
        </p:blipFill>
        <p:spPr>
          <a:xfrm>
            <a:off x="10579039" y="0"/>
            <a:ext cx="1549521" cy="884675"/>
          </a:xfrm>
          <a:prstGeom prst="rect">
            <a:avLst/>
          </a:prstGeom>
        </p:spPr>
      </p:pic>
      <p:pic>
        <p:nvPicPr>
          <p:cNvPr id="8" name="Picture 7">
            <a:extLst>
              <a:ext uri="{FF2B5EF4-FFF2-40B4-BE49-F238E27FC236}">
                <a16:creationId xmlns:a16="http://schemas.microsoft.com/office/drawing/2014/main" id="{6CCA0D60-A351-5A55-F39D-81A19812414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81135" y="1801104"/>
            <a:ext cx="5365957" cy="2711901"/>
          </a:xfrm>
          <a:prstGeom prst="rect">
            <a:avLst/>
          </a:prstGeom>
        </p:spPr>
      </p:pic>
      <p:sp>
        <p:nvSpPr>
          <p:cNvPr id="9" name="Content Placeholder 2">
            <a:extLst>
              <a:ext uri="{FF2B5EF4-FFF2-40B4-BE49-F238E27FC236}">
                <a16:creationId xmlns:a16="http://schemas.microsoft.com/office/drawing/2014/main" id="{220BCE41-5B1E-A1CF-3FF9-E095AC1CB5FC}"/>
              </a:ext>
            </a:extLst>
          </p:cNvPr>
          <p:cNvSpPr>
            <a:spLocks noGrp="1"/>
          </p:cNvSpPr>
          <p:nvPr>
            <p:ph idx="1"/>
          </p:nvPr>
        </p:nvSpPr>
        <p:spPr>
          <a:xfrm>
            <a:off x="668594" y="899368"/>
            <a:ext cx="5830530" cy="4950826"/>
          </a:xfrm>
        </p:spPr>
        <p:txBody>
          <a:bodyPr>
            <a:noAutofit/>
          </a:bodyPr>
          <a:lstStyle/>
          <a:p>
            <a:pPr marL="0" indent="0" algn="just">
              <a:lnSpc>
                <a:spcPts val="2100"/>
              </a:lnSpc>
              <a:buNone/>
            </a:pPr>
            <a:r>
              <a:rPr lang="en-IN" sz="2400" b="1" i="0" dirty="0">
                <a:effectLst/>
                <a:latin typeface="Times New Roman" panose="02020603050405020304" pitchFamily="18" charset="0"/>
                <a:cs typeface="Times New Roman" panose="02020603050405020304" pitchFamily="18" charset="0"/>
              </a:rPr>
              <a:t>Packet Delivery Ratio (PDR) &amp; Overhead Ratio Analysis:</a:t>
            </a:r>
          </a:p>
          <a:p>
            <a:pPr algn="just">
              <a:lnSpc>
                <a:spcPts val="2100"/>
              </a:lnSpc>
            </a:pPr>
            <a:r>
              <a:rPr lang="en-IN" sz="2400" b="0" i="0" dirty="0">
                <a:effectLst/>
                <a:latin typeface="Times New Roman" panose="02020603050405020304" pitchFamily="18" charset="0"/>
                <a:cs typeface="Times New Roman" panose="02020603050405020304" pitchFamily="18" charset="0"/>
              </a:rPr>
              <a:t>CGR: Contact graph routing Maximum PDR, negligible overhead because of deterministic contact scheduling. </a:t>
            </a:r>
          </a:p>
          <a:p>
            <a:pPr algn="just">
              <a:lnSpc>
                <a:spcPts val="2100"/>
              </a:lnSpc>
            </a:pPr>
            <a:r>
              <a:rPr lang="en-IN" sz="2400" b="0" i="0" dirty="0">
                <a:effectLst/>
                <a:latin typeface="Times New Roman" panose="02020603050405020304" pitchFamily="18" charset="0"/>
                <a:cs typeface="Times New Roman" panose="02020603050405020304" pitchFamily="18" charset="0"/>
              </a:rPr>
              <a:t>CDT: Nearly optimal delivery at low overhead, needs ample training data.</a:t>
            </a:r>
          </a:p>
          <a:p>
            <a:pPr algn="just">
              <a:lnSpc>
                <a:spcPts val="2100"/>
              </a:lnSpc>
            </a:pPr>
            <a:r>
              <a:rPr lang="en-IN" sz="2400" b="0" i="0" dirty="0">
                <a:effectLst/>
                <a:latin typeface="Times New Roman" panose="02020603050405020304" pitchFamily="18" charset="0"/>
                <a:cs typeface="Times New Roman" panose="02020603050405020304" pitchFamily="18" charset="0"/>
              </a:rPr>
              <a:t>Epidemic: Minimum PDR, maximum         overhead because of inefficient flooding.</a:t>
            </a:r>
          </a:p>
          <a:p>
            <a:pPr algn="just">
              <a:lnSpc>
                <a:spcPts val="2100"/>
              </a:lnSpc>
            </a:pPr>
            <a:r>
              <a:rPr lang="en-IN" sz="2400" b="0" i="0" dirty="0" err="1">
                <a:effectLst/>
                <a:latin typeface="Times New Roman" panose="02020603050405020304" pitchFamily="18" charset="0"/>
                <a:cs typeface="Times New Roman" panose="02020603050405020304" pitchFamily="18" charset="0"/>
              </a:rPr>
              <a:t>PRoPHET</a:t>
            </a:r>
            <a:r>
              <a:rPr lang="en-IN" sz="2400" b="0" i="0" dirty="0">
                <a:effectLst/>
                <a:latin typeface="Times New Roman" panose="02020603050405020304" pitchFamily="18" charset="0"/>
                <a:cs typeface="Times New Roman" panose="02020603050405020304" pitchFamily="18" charset="0"/>
              </a:rPr>
              <a:t>: Better than Epidemic but still has considerable overhead.</a:t>
            </a:r>
          </a:p>
          <a:p>
            <a:pPr algn="just">
              <a:lnSpc>
                <a:spcPts val="2100"/>
              </a:lnSpc>
            </a:pPr>
            <a:r>
              <a:rPr lang="en-IN" sz="2400" b="0" i="0" dirty="0">
                <a:effectLst/>
                <a:latin typeface="Times New Roman" panose="02020603050405020304" pitchFamily="18" charset="0"/>
                <a:cs typeface="Times New Roman" panose="02020603050405020304" pitchFamily="18" charset="0"/>
              </a:rPr>
              <a:t>RL-DTN: Balanced performance, better than Epidemic &amp; </a:t>
            </a:r>
            <a:r>
              <a:rPr lang="en-IN" sz="2400" b="0" i="0" dirty="0" err="1">
                <a:effectLst/>
                <a:latin typeface="Times New Roman" panose="02020603050405020304" pitchFamily="18" charset="0"/>
                <a:cs typeface="Times New Roman" panose="02020603050405020304" pitchFamily="18" charset="0"/>
              </a:rPr>
              <a:t>PRoPHET</a:t>
            </a:r>
            <a:r>
              <a:rPr lang="en-IN" sz="2400" b="0" i="0" dirty="0">
                <a:effectLst/>
                <a:latin typeface="Times New Roman" panose="02020603050405020304" pitchFamily="18" charset="0"/>
                <a:cs typeface="Times New Roman" panose="02020603050405020304" pitchFamily="18" charset="0"/>
              </a:rPr>
              <a:t> in both areas.</a:t>
            </a:r>
          </a:p>
          <a:p>
            <a:pPr algn="just">
              <a:lnSpc>
                <a:spcPts val="2100"/>
              </a:lnSpc>
            </a:pPr>
            <a:r>
              <a:rPr lang="en-IN" sz="2400" dirty="0">
                <a:latin typeface="Times New Roman" panose="02020603050405020304" pitchFamily="18" charset="0"/>
                <a:cs typeface="Times New Roman" panose="02020603050405020304" pitchFamily="18" charset="0"/>
              </a:rPr>
              <a:t>RL-DTN</a:t>
            </a:r>
            <a:r>
              <a:rPr lang="en-IN" sz="2400" b="0" i="0" dirty="0">
                <a:effectLst/>
                <a:latin typeface="Times New Roman" panose="02020603050405020304" pitchFamily="18" charset="0"/>
                <a:cs typeface="Times New Roman" panose="02020603050405020304" pitchFamily="18" charset="0"/>
              </a:rPr>
              <a:t> is efficient without rigid scheduling (CGR) or vast labelled data (CDT).</a:t>
            </a:r>
          </a:p>
          <a:p>
            <a:pPr algn="just">
              <a:buNone/>
            </a:pPr>
            <a:br>
              <a:rPr lang="en-IN" sz="2400" dirty="0">
                <a:latin typeface="Times New Roman" panose="02020603050405020304" pitchFamily="18" charset="0"/>
                <a:cs typeface="Times New Roman" panose="02020603050405020304" pitchFamily="18" charset="0"/>
              </a:rPr>
            </a:br>
            <a:endParaRPr lang="en-IN" sz="2400" b="0" i="0" dirty="0">
              <a:effectLst/>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124D3BE5-D821-0365-BBE3-56CB942F2F1C}"/>
              </a:ext>
            </a:extLst>
          </p:cNvPr>
          <p:cNvSpPr txBox="1"/>
          <p:nvPr/>
        </p:nvSpPr>
        <p:spPr>
          <a:xfrm>
            <a:off x="6602265" y="4692235"/>
            <a:ext cx="5252982" cy="326243"/>
          </a:xfrm>
          <a:prstGeom prst="rect">
            <a:avLst/>
          </a:prstGeom>
          <a:noFill/>
        </p:spPr>
        <p:txBody>
          <a:bodyPr wrap="square">
            <a:spAutoFit/>
          </a:bodyPr>
          <a:lstStyle/>
          <a:p>
            <a:pPr algn="ctr">
              <a:lnSpc>
                <a:spcPct val="95000"/>
              </a:lnSpc>
              <a:spcAft>
                <a:spcPts val="600"/>
              </a:spcAft>
              <a:tabLst>
                <a:tab pos="182880" algn="l"/>
              </a:tabLst>
            </a:pPr>
            <a:r>
              <a:rPr lang="en-US" sz="1600" dirty="0">
                <a:effectLst/>
                <a:latin typeface="Times New Roman" panose="02020603050405020304" pitchFamily="18" charset="0"/>
                <a:ea typeface="Times New Roman" panose="02020603050405020304" pitchFamily="18" charset="0"/>
              </a:rPr>
              <a:t>Fig. 9: Comparison of RL-DTN against existing models</a:t>
            </a:r>
            <a:endParaRPr lang="en-IN" sz="1600" dirty="0">
              <a:effectLst/>
              <a:latin typeface="Times New Roman" panose="02020603050405020304" pitchFamily="18" charset="0"/>
              <a:ea typeface="Times New Roman" panose="02020603050405020304" pitchFamily="18" charset="0"/>
            </a:endParaRPr>
          </a:p>
        </p:txBody>
      </p:sp>
      <p:sp>
        <p:nvSpPr>
          <p:cNvPr id="11" name="Footer Placeholder 5">
            <a:extLst>
              <a:ext uri="{FF2B5EF4-FFF2-40B4-BE49-F238E27FC236}">
                <a16:creationId xmlns:a16="http://schemas.microsoft.com/office/drawing/2014/main" id="{C03D94A7-2DC9-DE79-6560-E69E407ABEFC}"/>
              </a:ext>
            </a:extLst>
          </p:cNvPr>
          <p:cNvSpPr>
            <a:spLocks noGrp="1"/>
          </p:cNvSpPr>
          <p:nvPr>
            <p:ph type="ftr" sz="quarter" idx="11"/>
          </p:nvPr>
        </p:nvSpPr>
        <p:spPr>
          <a:xfrm>
            <a:off x="4038600" y="6356350"/>
            <a:ext cx="4114800" cy="365125"/>
          </a:xfrm>
        </p:spPr>
        <p:txBody>
          <a:bodyPr/>
          <a:lstStyle/>
          <a:p>
            <a:r>
              <a:rPr lang="en-IN" dirty="0">
                <a:latin typeface="Arial" panose="020B0604020202020204" pitchFamily="34" charset="0"/>
                <a:cs typeface="Arial" panose="020B0604020202020204" pitchFamily="34" charset="0"/>
              </a:rPr>
              <a:t>SRM Institute of Science and Technology</a:t>
            </a:r>
          </a:p>
        </p:txBody>
      </p:sp>
    </p:spTree>
    <p:extLst>
      <p:ext uri="{BB962C8B-B14F-4D97-AF65-F5344CB8AC3E}">
        <p14:creationId xmlns:p14="http://schemas.microsoft.com/office/powerpoint/2010/main" val="7601882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96BAF-B4C5-EB70-0E51-B65C87E4C2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13A083-E7F0-5BD9-6ADA-7588E4C32D0D}"/>
              </a:ext>
            </a:extLst>
          </p:cNvPr>
          <p:cNvSpPr>
            <a:spLocks noGrp="1"/>
          </p:cNvSpPr>
          <p:nvPr>
            <p:ph type="title"/>
          </p:nvPr>
        </p:nvSpPr>
        <p:spPr>
          <a:xfrm>
            <a:off x="838200" y="365125"/>
            <a:ext cx="10515600" cy="460785"/>
          </a:xfrm>
        </p:spPr>
        <p:txBody>
          <a:bodyPr>
            <a:normAutofit fontScale="90000"/>
          </a:bodyPr>
          <a:lstStyle/>
          <a:p>
            <a:pPr algn="ctr"/>
            <a:r>
              <a:rPr lang="en-US" sz="3200" b="1" dirty="0">
                <a:solidFill>
                  <a:srgbClr val="0000CC"/>
                </a:solidFill>
                <a:latin typeface="Times New Roman" panose="02020603050405020304" pitchFamily="18" charset="0"/>
                <a:cs typeface="Times New Roman" panose="02020603050405020304" pitchFamily="18" charset="0"/>
              </a:rPr>
              <a:t>Comparison of DTN protocols</a:t>
            </a:r>
            <a:endParaRPr lang="en-IN" sz="3200" b="1" dirty="0">
              <a:solidFill>
                <a:srgbClr val="0000CC"/>
              </a:solidFill>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635EF7D3-62AE-1382-FDC0-DDBB2B9DD4F6}"/>
              </a:ext>
            </a:extLst>
          </p:cNvPr>
          <p:cNvSpPr>
            <a:spLocks noGrp="1"/>
          </p:cNvSpPr>
          <p:nvPr>
            <p:ph type="sldNum" sz="quarter" idx="12"/>
          </p:nvPr>
        </p:nvSpPr>
        <p:spPr/>
        <p:txBody>
          <a:bodyPr/>
          <a:lstStyle/>
          <a:p>
            <a:pPr algn="ctr"/>
            <a:fld id="{5065FCC5-0D2C-40B6-BCDE-2689FBEDE705}" type="slidenum">
              <a:rPr lang="en-IN" smtClean="0">
                <a:latin typeface="Arial" panose="020B0604020202020204" pitchFamily="34" charset="0"/>
                <a:cs typeface="Arial" panose="020B0604020202020204" pitchFamily="34" charset="0"/>
              </a:rPr>
              <a:pPr algn="ctr"/>
              <a:t>11</a:t>
            </a:fld>
            <a:endParaRPr lang="en-IN"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970F5421-9E6E-4B4E-204B-B6FD384B1788}"/>
              </a:ext>
            </a:extLst>
          </p:cNvPr>
          <p:cNvPicPr>
            <a:picLocks noChangeAspect="1"/>
          </p:cNvPicPr>
          <p:nvPr/>
        </p:nvPicPr>
        <p:blipFill>
          <a:blip r:embed="rId2"/>
          <a:stretch>
            <a:fillRect/>
          </a:stretch>
        </p:blipFill>
        <p:spPr>
          <a:xfrm>
            <a:off x="10579039" y="0"/>
            <a:ext cx="1549521" cy="884675"/>
          </a:xfrm>
          <a:prstGeom prst="rect">
            <a:avLst/>
          </a:prstGeom>
        </p:spPr>
      </p:pic>
      <mc:AlternateContent xmlns:mc="http://schemas.openxmlformats.org/markup-compatibility/2006" xmlns:a14="http://schemas.microsoft.com/office/drawing/2010/main">
        <mc:Choice Requires="a14">
          <p:sp>
            <p:nvSpPr>
              <p:cNvPr id="9" name="Content Placeholder 2">
                <a:extLst>
                  <a:ext uri="{FF2B5EF4-FFF2-40B4-BE49-F238E27FC236}">
                    <a16:creationId xmlns:a16="http://schemas.microsoft.com/office/drawing/2014/main" id="{F6C45217-9153-881D-FF45-06E3ED454220}"/>
                  </a:ext>
                </a:extLst>
              </p:cNvPr>
              <p:cNvSpPr>
                <a:spLocks noGrp="1"/>
              </p:cNvSpPr>
              <p:nvPr>
                <p:ph idx="1"/>
              </p:nvPr>
            </p:nvSpPr>
            <p:spPr>
              <a:xfrm>
                <a:off x="668593" y="958360"/>
                <a:ext cx="6243484" cy="4950826"/>
              </a:xfrm>
            </p:spPr>
            <p:txBody>
              <a:bodyPr>
                <a:noAutofit/>
              </a:bodyPr>
              <a:lstStyle/>
              <a:p>
                <a:pPr marL="0" indent="0" algn="just">
                  <a:lnSpc>
                    <a:spcPts val="2100"/>
                  </a:lnSpc>
                  <a:buNone/>
                </a:pPr>
                <a:r>
                  <a:rPr lang="en-US" sz="2400" b="1" dirty="0">
                    <a:latin typeface="Times New Roman" panose="02020603050405020304" pitchFamily="18" charset="0"/>
                    <a:cs typeface="Times New Roman" panose="02020603050405020304" pitchFamily="18" charset="0"/>
                  </a:rPr>
                  <a:t>Hamming Loss</a:t>
                </a:r>
                <a:r>
                  <a:rPr lang="en-US" sz="2400" dirty="0">
                    <a:latin typeface="Times New Roman" panose="02020603050405020304" pitchFamily="18" charset="0"/>
                    <a:cs typeface="Times New Roman" panose="02020603050405020304" pitchFamily="18" charset="0"/>
                  </a:rPr>
                  <a:t> evaluates how often forwarding decisions are incorrect in DTNs.</a:t>
                </a:r>
              </a:p>
              <a:p>
                <a:pPr marL="0" indent="0" algn="just">
                  <a:lnSpc>
                    <a:spcPts val="2100"/>
                  </a:lnSpc>
                  <a:buNone/>
                </a:pPr>
                <a:r>
                  <a:rPr lang="en-US" sz="2400" dirty="0">
                    <a:latin typeface="Times New Roman" panose="02020603050405020304" pitchFamily="18" charset="0"/>
                    <a:cs typeface="Times New Roman" panose="02020603050405020304" pitchFamily="18" charset="0"/>
                  </a:rPr>
                  <a:t>Lower Hamming Loss = Smarter, More Efficient Routing</a:t>
                </a:r>
                <a:endParaRPr lang="en-IN" sz="1800" i="1" kern="100" dirty="0">
                  <a:solidFill>
                    <a:srgbClr val="000000"/>
                  </a:solidFill>
                  <a:latin typeface="Cambria Math" panose="02040503050406030204" pitchFamily="18" charset="0"/>
                  <a:ea typeface="Calibri" panose="020F0502020204030204" pitchFamily="34" charset="0"/>
                  <a:cs typeface="Times New Roman" panose="02020603050405020304" pitchFamily="18" charset="0"/>
                </a:endParaRPr>
              </a:p>
              <a:p>
                <a:pPr marL="0" indent="0" algn="just">
                  <a:lnSpc>
                    <a:spcPts val="2100"/>
                  </a:lnSpc>
                  <a:buNone/>
                </a:pPr>
                <a:endParaRPr lang="en-IN" sz="1800" i="1" kern="100" dirty="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endParaRPr>
              </a:p>
              <a:p>
                <a:pPr marL="0" indent="0" algn="just">
                  <a:lnSpc>
                    <a:spcPts val="2100"/>
                  </a:lnSpc>
                  <a:buNone/>
                </a:pPr>
                <a14:m>
                  <m:oMathPara xmlns:m="http://schemas.openxmlformats.org/officeDocument/2006/math">
                    <m:oMathParaPr>
                      <m:jc m:val="left"/>
                    </m:oMathParaPr>
                    <m:oMath>
                      <m:sSub>
                        <m:sSubPr>
                          <m:ctrlPr>
                            <a:rPr lang="en-IN" sz="1800" i="1" kern="1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IN" sz="1800" i="1" kern="1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𝐿</m:t>
                          </m:r>
                        </m:e>
                        <m:sub>
                          <m:r>
                            <a:rPr lang="en-IN" sz="1800" i="1" kern="1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𝐻</m:t>
                          </m:r>
                        </m:sub>
                      </m:sSub>
                      <m:r>
                        <a:rPr lang="en-IN" sz="1800" i="1" kern="1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IN" sz="1800" i="1" kern="1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IN" sz="1800" i="1" kern="1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𝑦</m:t>
                          </m:r>
                        </m:e>
                        <m:sub>
                          <m:r>
                            <a:rPr lang="en-IN" sz="1800" i="1" kern="1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ub>
                      </m:sSub>
                      <m:r>
                        <a:rPr lang="en-IN" sz="1800" i="1" kern="1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 </m:t>
                      </m:r>
                      <m:r>
                        <a:rPr lang="en-IN" sz="1800" i="1" kern="1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ℎ</m:t>
                      </m:r>
                      <m:d>
                        <m:dPr>
                          <m:ctrlPr>
                            <a:rPr lang="en-IN" sz="1800" i="1" kern="1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dPr>
                        <m:e>
                          <m:r>
                            <a:rPr lang="en-IN" sz="1800" i="1" kern="1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𝑥</m:t>
                          </m:r>
                        </m:e>
                      </m:d>
                      <m:r>
                        <a:rPr lang="en-IN" sz="1800" i="1" kern="1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 </m:t>
                      </m:r>
                      <m:f>
                        <m:fPr>
                          <m:ctrlPr>
                            <a:rPr lang="en-IN" sz="1800" i="1" kern="1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IN" sz="1800" i="1" kern="1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num>
                        <m:den>
                          <m:r>
                            <a:rPr lang="en-IN" sz="1800" i="1" kern="1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m:t>
                          </m:r>
                        </m:den>
                      </m:f>
                      <m:r>
                        <a:rPr lang="en-IN" sz="1800" i="1" kern="1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 </m:t>
                      </m:r>
                      <m:nary>
                        <m:naryPr>
                          <m:chr m:val="∑"/>
                          <m:ctrlPr>
                            <a:rPr lang="en-IN" sz="1800" i="1" kern="1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naryPr>
                        <m:sub>
                          <m:r>
                            <a:rPr lang="en-IN" sz="1800" i="1" kern="1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𝑖</m:t>
                          </m:r>
                          <m:r>
                            <a:rPr lang="en-IN" sz="1800" i="1" kern="1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sub>
                        <m:sup>
                          <m:r>
                            <a:rPr lang="en-IN" sz="1800" i="1" kern="1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m:t>
                          </m:r>
                        </m:sup>
                        <m:e>
                          <m:r>
                            <a:rPr lang="en-IN" sz="1800" i="1" kern="1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e>
                      </m:nary>
                      <m:r>
                        <a:rPr lang="en-IN" sz="1800" i="1" kern="1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IN" sz="1800" i="1" kern="1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IN" sz="1800" i="1" kern="1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𝑦</m:t>
                          </m:r>
                        </m:e>
                        <m:sub>
                          <m:r>
                            <a:rPr lang="en-IN" sz="1800" i="1" kern="1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𝑖</m:t>
                          </m:r>
                        </m:sub>
                      </m:sSub>
                      <m:r>
                        <a:rPr lang="en-IN" sz="1800" i="1" kern="1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IN" sz="1800" i="1" kern="1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IN" sz="1800" i="1" kern="1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ℎ</m:t>
                          </m:r>
                        </m:e>
                        <m:sub>
                          <m:r>
                            <a:rPr lang="en-IN" sz="1800" i="1" kern="1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𝑖</m:t>
                          </m:r>
                        </m:sub>
                      </m:sSub>
                      <m:d>
                        <m:dPr>
                          <m:ctrlPr>
                            <a:rPr lang="en-IN" sz="1800" i="1" kern="1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dPr>
                        <m:e>
                          <m:r>
                            <a:rPr lang="en-IN" sz="1800" i="1" kern="1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𝑥</m:t>
                          </m:r>
                        </m:e>
                      </m:d>
                      <m:r>
                        <a:rPr lang="en-IN" sz="1800" i="1" kern="1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IN" sz="1800" kern="100" dirty="0">
                  <a:solidFill>
                    <a:srgbClr val="000000"/>
                  </a:solidFill>
                  <a:effectLst/>
                  <a:latin typeface="Calibri" panose="020F0502020204030204" pitchFamily="34" charset="0"/>
                  <a:ea typeface="Calibri" panose="020F0502020204030204" pitchFamily="34" charset="0"/>
                </a:endParaRPr>
              </a:p>
              <a:p>
                <a:pPr marL="0" indent="0" algn="just">
                  <a:lnSpc>
                    <a:spcPts val="2100"/>
                  </a:lnSpc>
                  <a:buNone/>
                </a:pPr>
                <a:endParaRPr lang="en-IN" sz="1800" i="1" kern="100" dirty="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endParaRPr>
              </a:p>
              <a:p>
                <a:pPr marL="0" indent="0" algn="just">
                  <a:lnSpc>
                    <a:spcPts val="2100"/>
                  </a:lnSpc>
                  <a:buNone/>
                </a:pPr>
                <a14:m>
                  <m:oMathPara xmlns:m="http://schemas.openxmlformats.org/officeDocument/2006/math">
                    <m:oMathParaPr>
                      <m:jc m:val="left"/>
                    </m:oMathParaPr>
                    <m:oMath>
                      <m:sSub>
                        <m:sSubPr>
                          <m:ctrlPr>
                            <a:rPr lang="en-GB" sz="1800" i="1" kern="1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GB" sz="1800" i="1" kern="1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𝐿</m:t>
                          </m:r>
                        </m:e>
                        <m:sub>
                          <m:r>
                            <a:rPr lang="en-GB" sz="1800" i="1" kern="1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𝑠</m:t>
                          </m:r>
                        </m:sub>
                      </m:sSub>
                      <m:d>
                        <m:dPr>
                          <m:ctrlPr>
                            <a:rPr lang="en-GB" sz="1800" i="1" kern="1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dPr>
                        <m:e>
                          <m:r>
                            <a:rPr lang="en-GB" sz="1800" i="1" kern="1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𝑦</m:t>
                          </m:r>
                          <m:r>
                            <a:rPr lang="en-GB" sz="1800" i="1" kern="1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 </m:t>
                          </m:r>
                          <m:r>
                            <a:rPr lang="en-GB" sz="1800" i="1" kern="1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ℎ</m:t>
                          </m:r>
                          <m:d>
                            <m:dPr>
                              <m:ctrlPr>
                                <a:rPr lang="en-GB" sz="1800" i="1" kern="1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dPr>
                            <m:e>
                              <m:r>
                                <a:rPr lang="en-GB" sz="1800" i="1" kern="1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𝑥</m:t>
                              </m:r>
                            </m:e>
                          </m:d>
                        </m:e>
                      </m:d>
                      <m:r>
                        <a:rPr lang="en-GB" sz="1800" i="1" kern="1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r>
                        <a:rPr lang="en-GB" sz="1800" i="1" kern="1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𝑦</m:t>
                      </m:r>
                      <m:r>
                        <a:rPr lang="en-GB" sz="1800" i="1" kern="1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GB" sz="1800" i="1" kern="1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ℎ</m:t>
                      </m:r>
                      <m:d>
                        <m:dPr>
                          <m:ctrlPr>
                            <a:rPr lang="en-GB" sz="1800" i="1" kern="1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dPr>
                        <m:e>
                          <m:r>
                            <a:rPr lang="en-GB" sz="1800" i="1" kern="1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𝑥</m:t>
                          </m:r>
                        </m:e>
                      </m:d>
                      <m:r>
                        <a:rPr lang="en-GB" sz="1800" i="1" kern="1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IN" sz="1800" kern="100" dirty="0">
                  <a:solidFill>
                    <a:srgbClr val="000000"/>
                  </a:solidFill>
                  <a:effectLst/>
                  <a:latin typeface="Calibri" panose="020F0502020204030204" pitchFamily="34" charset="0"/>
                  <a:ea typeface="Calibri" panose="020F0502020204030204" pitchFamily="34" charset="0"/>
                </a:endParaRPr>
              </a:p>
              <a:p>
                <a:pPr marL="0" indent="0" algn="just">
                  <a:lnSpc>
                    <a:spcPts val="2100"/>
                  </a:lnSpc>
                  <a:buNone/>
                </a:pPr>
                <a:endParaRPr lang="en-IN" sz="2400" b="0" i="0" dirty="0">
                  <a:effectLst/>
                  <a:latin typeface="Times New Roman" panose="02020603050405020304" pitchFamily="18" charset="0"/>
                  <a:cs typeface="Times New Roman" panose="02020603050405020304" pitchFamily="18" charset="0"/>
                </a:endParaRPr>
              </a:p>
              <a:p>
                <a:pPr marL="0" indent="0" algn="just">
                  <a:lnSpc>
                    <a:spcPts val="2100"/>
                  </a:lnSpc>
                  <a:buNone/>
                </a:pPr>
                <a:r>
                  <a:rPr lang="en-US" sz="2400" b="1" dirty="0">
                    <a:latin typeface="Times New Roman" panose="02020603050405020304" pitchFamily="18" charset="0"/>
                    <a:cs typeface="Times New Roman" panose="02020603050405020304" pitchFamily="18" charset="0"/>
                  </a:rPr>
                  <a:t>RL-DTN (Proposed)</a:t>
                </a:r>
                <a:r>
                  <a:rPr lang="en-US" sz="2400" dirty="0">
                    <a:latin typeface="Times New Roman" panose="02020603050405020304" pitchFamily="18" charset="0"/>
                    <a:cs typeface="Times New Roman" panose="02020603050405020304" pitchFamily="18" charset="0"/>
                  </a:rPr>
                  <a:t> – Strong performance (0.22) via adaptive reinforcement learning.</a:t>
                </a:r>
              </a:p>
              <a:p>
                <a:pPr marL="0" indent="0" algn="just">
                  <a:lnSpc>
                    <a:spcPts val="2100"/>
                  </a:lnSpc>
                  <a:buNone/>
                </a:pPr>
                <a:r>
                  <a:rPr lang="en-GB" sz="2400" kern="100" dirty="0">
                    <a:solidFill>
                      <a:srgbClr val="000000"/>
                    </a:solidFill>
                    <a:latin typeface="Times New Roman" panose="02020603050405020304" pitchFamily="18" charset="0"/>
                    <a:ea typeface="Calibri" panose="020F0502020204030204" pitchFamily="34" charset="0"/>
                  </a:rPr>
                  <a:t>A</a:t>
                </a:r>
                <a:r>
                  <a:rPr lang="en-GB" sz="2400" kern="100" dirty="0">
                    <a:solidFill>
                      <a:srgbClr val="000000"/>
                    </a:solidFill>
                    <a:effectLst/>
                    <a:latin typeface="Times New Roman" panose="02020603050405020304" pitchFamily="18" charset="0"/>
                    <a:ea typeface="Calibri" panose="020F0502020204030204" pitchFamily="34" charset="0"/>
                  </a:rPr>
                  <a:t>daptive, learning-driven strategy can come surprisingly close to the performance of schedule-aware methods even without knowing future contact opportunities in advance.</a:t>
                </a:r>
                <a:endParaRPr lang="en-IN" sz="2400" kern="100" dirty="0">
                  <a:solidFill>
                    <a:srgbClr val="000000"/>
                  </a:solidFill>
                  <a:effectLst/>
                  <a:latin typeface="Calibri" panose="020F0502020204030204" pitchFamily="34" charset="0"/>
                  <a:ea typeface="Calibri" panose="020F0502020204030204" pitchFamily="34" charset="0"/>
                </a:endParaRPr>
              </a:p>
              <a:p>
                <a:pPr marL="0" indent="0" algn="just">
                  <a:lnSpc>
                    <a:spcPts val="2100"/>
                  </a:lnSpc>
                  <a:buNone/>
                </a:pPr>
                <a:endParaRPr lang="en-IN" sz="2400" b="0" i="0" dirty="0">
                  <a:effectLst/>
                  <a:latin typeface="Times New Roman" panose="02020603050405020304" pitchFamily="18" charset="0"/>
                  <a:cs typeface="Times New Roman" panose="02020603050405020304" pitchFamily="18" charset="0"/>
                </a:endParaRPr>
              </a:p>
            </p:txBody>
          </p:sp>
        </mc:Choice>
        <mc:Fallback xmlns="">
          <p:sp>
            <p:nvSpPr>
              <p:cNvPr id="9" name="Content Placeholder 2">
                <a:extLst>
                  <a:ext uri="{FF2B5EF4-FFF2-40B4-BE49-F238E27FC236}">
                    <a16:creationId xmlns:a16="http://schemas.microsoft.com/office/drawing/2014/main" id="{F6C45217-9153-881D-FF45-06E3ED454220}"/>
                  </a:ext>
                </a:extLst>
              </p:cNvPr>
              <p:cNvSpPr>
                <a:spLocks noGrp="1" noRot="1" noChangeAspect="1" noMove="1" noResize="1" noEditPoints="1" noAdjustHandles="1" noChangeArrowheads="1" noChangeShapeType="1" noTextEdit="1"/>
              </p:cNvSpPr>
              <p:nvPr>
                <p:ph idx="1"/>
              </p:nvPr>
            </p:nvSpPr>
            <p:spPr>
              <a:xfrm>
                <a:off x="668593" y="958360"/>
                <a:ext cx="6243484" cy="4950826"/>
              </a:xfrm>
              <a:blipFill>
                <a:blip r:embed="rId3"/>
                <a:stretch>
                  <a:fillRect l="-1563" t="-2833" r="-1465" b="-985"/>
                </a:stretch>
              </a:blipFill>
            </p:spPr>
            <p:txBody>
              <a:bodyPr/>
              <a:lstStyle/>
              <a:p>
                <a:r>
                  <a:rPr lang="en-IN">
                    <a:noFill/>
                  </a:rPr>
                  <a:t> </a:t>
                </a:r>
              </a:p>
            </p:txBody>
          </p:sp>
        </mc:Fallback>
      </mc:AlternateContent>
      <p:sp>
        <p:nvSpPr>
          <p:cNvPr id="10" name="TextBox 9">
            <a:extLst>
              <a:ext uri="{FF2B5EF4-FFF2-40B4-BE49-F238E27FC236}">
                <a16:creationId xmlns:a16="http://schemas.microsoft.com/office/drawing/2014/main" id="{B1B0ADFE-233F-BE53-817E-1443D81B062F}"/>
              </a:ext>
            </a:extLst>
          </p:cNvPr>
          <p:cNvSpPr txBox="1"/>
          <p:nvPr/>
        </p:nvSpPr>
        <p:spPr>
          <a:xfrm>
            <a:off x="6826679" y="4693754"/>
            <a:ext cx="5252982" cy="326243"/>
          </a:xfrm>
          <a:prstGeom prst="rect">
            <a:avLst/>
          </a:prstGeom>
          <a:noFill/>
        </p:spPr>
        <p:txBody>
          <a:bodyPr wrap="square">
            <a:spAutoFit/>
          </a:bodyPr>
          <a:lstStyle/>
          <a:p>
            <a:pPr algn="ctr">
              <a:lnSpc>
                <a:spcPct val="95000"/>
              </a:lnSpc>
              <a:spcAft>
                <a:spcPts val="600"/>
              </a:spcAft>
              <a:tabLst>
                <a:tab pos="182880" algn="l"/>
              </a:tabLst>
            </a:pPr>
            <a:r>
              <a:rPr lang="en-US" sz="1600" dirty="0">
                <a:effectLst/>
                <a:latin typeface="Times New Roman" panose="02020603050405020304" pitchFamily="18" charset="0"/>
                <a:ea typeface="Times New Roman" panose="02020603050405020304" pitchFamily="18" charset="0"/>
              </a:rPr>
              <a:t>Fig. 9: Comparison of RL-DTN against existing models</a:t>
            </a:r>
            <a:endParaRPr lang="en-IN" sz="1600" dirty="0">
              <a:effectLst/>
              <a:latin typeface="Times New Roman" panose="02020603050405020304" pitchFamily="18" charset="0"/>
              <a:ea typeface="Times New Roman" panose="02020603050405020304" pitchFamily="18" charset="0"/>
            </a:endParaRPr>
          </a:p>
        </p:txBody>
      </p:sp>
      <p:sp>
        <p:nvSpPr>
          <p:cNvPr id="11" name="Footer Placeholder 5">
            <a:extLst>
              <a:ext uri="{FF2B5EF4-FFF2-40B4-BE49-F238E27FC236}">
                <a16:creationId xmlns:a16="http://schemas.microsoft.com/office/drawing/2014/main" id="{C046F8EB-CDA1-464A-D0C0-B8E4C604BA18}"/>
              </a:ext>
            </a:extLst>
          </p:cNvPr>
          <p:cNvSpPr>
            <a:spLocks noGrp="1"/>
          </p:cNvSpPr>
          <p:nvPr>
            <p:ph type="ftr" sz="quarter" idx="11"/>
          </p:nvPr>
        </p:nvSpPr>
        <p:spPr>
          <a:xfrm>
            <a:off x="4038600" y="6356350"/>
            <a:ext cx="4114800" cy="365125"/>
          </a:xfrm>
        </p:spPr>
        <p:txBody>
          <a:bodyPr/>
          <a:lstStyle/>
          <a:p>
            <a:r>
              <a:rPr lang="en-IN" dirty="0">
                <a:latin typeface="Arial" panose="020B0604020202020204" pitchFamily="34" charset="0"/>
                <a:cs typeface="Arial" panose="020B0604020202020204" pitchFamily="34" charset="0"/>
              </a:rPr>
              <a:t>SRM Institute of Science and Technology</a:t>
            </a:r>
          </a:p>
        </p:txBody>
      </p:sp>
      <p:pic>
        <p:nvPicPr>
          <p:cNvPr id="3" name="Picture 2">
            <a:extLst>
              <a:ext uri="{FF2B5EF4-FFF2-40B4-BE49-F238E27FC236}">
                <a16:creationId xmlns:a16="http://schemas.microsoft.com/office/drawing/2014/main" id="{0B4D8DB8-5D50-8CBD-BB15-4D95B72F5F54}"/>
              </a:ext>
            </a:extLst>
          </p:cNvPr>
          <p:cNvPicPr>
            <a:picLocks noChangeAspect="1"/>
          </p:cNvPicPr>
          <p:nvPr/>
        </p:nvPicPr>
        <p:blipFill>
          <a:blip r:embed="rId4"/>
          <a:stretch>
            <a:fillRect/>
          </a:stretch>
        </p:blipFill>
        <p:spPr>
          <a:xfrm>
            <a:off x="7082508" y="1141365"/>
            <a:ext cx="4549052" cy="3361810"/>
          </a:xfrm>
          <a:prstGeom prst="rect">
            <a:avLst/>
          </a:prstGeom>
        </p:spPr>
      </p:pic>
    </p:spTree>
    <p:extLst>
      <p:ext uri="{BB962C8B-B14F-4D97-AF65-F5344CB8AC3E}">
        <p14:creationId xmlns:p14="http://schemas.microsoft.com/office/powerpoint/2010/main" val="9459341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CEB9D-D0F4-5628-DF3B-7F9FDAC2EA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E6C75B-7386-7D75-3913-B3C6903E0EBF}"/>
              </a:ext>
            </a:extLst>
          </p:cNvPr>
          <p:cNvSpPr>
            <a:spLocks noGrp="1"/>
          </p:cNvSpPr>
          <p:nvPr>
            <p:ph type="title"/>
          </p:nvPr>
        </p:nvSpPr>
        <p:spPr>
          <a:xfrm>
            <a:off x="838200" y="365125"/>
            <a:ext cx="10515600" cy="460785"/>
          </a:xfrm>
        </p:spPr>
        <p:txBody>
          <a:bodyPr>
            <a:normAutofit fontScale="90000"/>
          </a:bodyPr>
          <a:lstStyle/>
          <a:p>
            <a:pPr algn="ctr"/>
            <a:r>
              <a:rPr lang="en-US" sz="3200" b="1" dirty="0">
                <a:solidFill>
                  <a:srgbClr val="0000CC"/>
                </a:solidFill>
                <a:latin typeface="Times New Roman" panose="02020603050405020304" pitchFamily="18" charset="0"/>
                <a:cs typeface="Times New Roman" panose="02020603050405020304" pitchFamily="18" charset="0"/>
              </a:rPr>
              <a:t>Conclusion and Future work</a:t>
            </a:r>
            <a:endParaRPr lang="en-IN" sz="3200" b="1" dirty="0">
              <a:solidFill>
                <a:srgbClr val="0000CC"/>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678C83C-B40C-BD56-E08D-DF67D328F256}"/>
              </a:ext>
            </a:extLst>
          </p:cNvPr>
          <p:cNvSpPr>
            <a:spLocks noGrp="1"/>
          </p:cNvSpPr>
          <p:nvPr>
            <p:ph idx="1"/>
          </p:nvPr>
        </p:nvSpPr>
        <p:spPr>
          <a:xfrm>
            <a:off x="838200" y="1253331"/>
            <a:ext cx="10515600" cy="4351338"/>
          </a:xfrm>
        </p:spPr>
        <p:txBody>
          <a:bodyPr>
            <a:noAutofit/>
          </a:bodyPr>
          <a:lstStyle/>
          <a:p>
            <a:pPr marL="0" indent="0" algn="just">
              <a:lnSpc>
                <a:spcPct val="100000"/>
              </a:lnSpc>
              <a:buNone/>
            </a:pPr>
            <a:r>
              <a:rPr lang="en-US" sz="2400" dirty="0">
                <a:effectLst/>
                <a:latin typeface="Times New Roman" panose="02020603050405020304" pitchFamily="18" charset="0"/>
                <a:ea typeface="Times New Roman" panose="02020603050405020304" pitchFamily="18" charset="0"/>
              </a:rPr>
              <a:t>This paper presents a comprehensive analysis of a Ka-Band and IP Stack based communication system which utilizes reinforcement learning and isolation forest algorithms for optimal routing and anomaly detection. The Monte Carlo simulations carried out on MATLAB prove the high gain antenna to be a suitable system. The RL model is proven to be able to train itself to find the most optimal routes. The isolation forest algorithm is successfully able to isolate and detection anomalies in the synthetic dataset.  IPv6 and SCPS TP protocols were successfully demonstrated with SCPS-TP performing better than LTP in deep space conditions and RL-DTN is shown to be a balance between existing DTN protocols.</a:t>
            </a:r>
            <a:endParaRPr lang="en-IN" sz="2400" dirty="0">
              <a:effectLst/>
              <a:latin typeface="Times New Roman" panose="02020603050405020304" pitchFamily="18" charset="0"/>
              <a:ea typeface="Times New Roman" panose="02020603050405020304" pitchFamily="18" charset="0"/>
            </a:endParaRPr>
          </a:p>
          <a:p>
            <a:pPr marL="0" indent="0" algn="ctr">
              <a:lnSpc>
                <a:spcPct val="100000"/>
              </a:lnSpc>
              <a:buNone/>
            </a:pPr>
            <a:endParaRPr lang="en-US" sz="2400"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8C9AB87F-D682-19C3-80D8-F79F5E139CB8}"/>
              </a:ext>
            </a:extLst>
          </p:cNvPr>
          <p:cNvSpPr>
            <a:spLocks noGrp="1"/>
          </p:cNvSpPr>
          <p:nvPr>
            <p:ph type="sldNum" sz="quarter" idx="12"/>
          </p:nvPr>
        </p:nvSpPr>
        <p:spPr/>
        <p:txBody>
          <a:bodyPr/>
          <a:lstStyle/>
          <a:p>
            <a:pPr algn="ctr"/>
            <a:fld id="{5065FCC5-0D2C-40B6-BCDE-2689FBEDE705}" type="slidenum">
              <a:rPr lang="en-IN" smtClean="0">
                <a:latin typeface="Arial" panose="020B0604020202020204" pitchFamily="34" charset="0"/>
                <a:cs typeface="Arial" panose="020B0604020202020204" pitchFamily="34" charset="0"/>
              </a:rPr>
              <a:pPr algn="ctr"/>
              <a:t>12</a:t>
            </a:fld>
            <a:endParaRPr lang="en-IN"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96187910-700A-1C3E-58A7-F0BF9B61D5F1}"/>
              </a:ext>
            </a:extLst>
          </p:cNvPr>
          <p:cNvPicPr>
            <a:picLocks noChangeAspect="1"/>
          </p:cNvPicPr>
          <p:nvPr/>
        </p:nvPicPr>
        <p:blipFill>
          <a:blip r:embed="rId2"/>
          <a:stretch>
            <a:fillRect/>
          </a:stretch>
        </p:blipFill>
        <p:spPr>
          <a:xfrm>
            <a:off x="10579039" y="0"/>
            <a:ext cx="1549521" cy="884675"/>
          </a:xfrm>
          <a:prstGeom prst="rect">
            <a:avLst/>
          </a:prstGeom>
        </p:spPr>
      </p:pic>
      <p:sp>
        <p:nvSpPr>
          <p:cNvPr id="8" name="Footer Placeholder 5">
            <a:extLst>
              <a:ext uri="{FF2B5EF4-FFF2-40B4-BE49-F238E27FC236}">
                <a16:creationId xmlns:a16="http://schemas.microsoft.com/office/drawing/2014/main" id="{E3E6ABCE-734D-C434-4AE3-6A0A43C78CA6}"/>
              </a:ext>
            </a:extLst>
          </p:cNvPr>
          <p:cNvSpPr>
            <a:spLocks noGrp="1"/>
          </p:cNvSpPr>
          <p:nvPr>
            <p:ph type="ftr" sz="quarter" idx="11"/>
          </p:nvPr>
        </p:nvSpPr>
        <p:spPr>
          <a:xfrm>
            <a:off x="4038600" y="6356350"/>
            <a:ext cx="4114800" cy="365125"/>
          </a:xfrm>
        </p:spPr>
        <p:txBody>
          <a:bodyPr/>
          <a:lstStyle/>
          <a:p>
            <a:r>
              <a:rPr lang="en-IN" dirty="0">
                <a:latin typeface="Arial" panose="020B0604020202020204" pitchFamily="34" charset="0"/>
                <a:cs typeface="Arial" panose="020B0604020202020204" pitchFamily="34" charset="0"/>
              </a:rPr>
              <a:t>SRM Institute of Science and Technology</a:t>
            </a:r>
          </a:p>
        </p:txBody>
      </p:sp>
    </p:spTree>
    <p:extLst>
      <p:ext uri="{BB962C8B-B14F-4D97-AF65-F5344CB8AC3E}">
        <p14:creationId xmlns:p14="http://schemas.microsoft.com/office/powerpoint/2010/main" val="18697543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7DC9FD-5D3B-8D7C-04F3-8731F9E26A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0DF6C5-BFA2-3A99-E315-6B38A833E287}"/>
              </a:ext>
            </a:extLst>
          </p:cNvPr>
          <p:cNvSpPr>
            <a:spLocks noGrp="1"/>
          </p:cNvSpPr>
          <p:nvPr>
            <p:ph type="title"/>
          </p:nvPr>
        </p:nvSpPr>
        <p:spPr>
          <a:xfrm>
            <a:off x="838200" y="365125"/>
            <a:ext cx="10515600" cy="460785"/>
          </a:xfrm>
        </p:spPr>
        <p:txBody>
          <a:bodyPr>
            <a:normAutofit fontScale="90000"/>
          </a:bodyPr>
          <a:lstStyle/>
          <a:p>
            <a:pPr algn="ctr"/>
            <a:r>
              <a:rPr lang="en-US" sz="3200" b="1" dirty="0">
                <a:solidFill>
                  <a:srgbClr val="0000CC"/>
                </a:solidFill>
                <a:latin typeface="Times New Roman" panose="02020603050405020304" pitchFamily="18" charset="0"/>
                <a:cs typeface="Times New Roman" panose="02020603050405020304" pitchFamily="18" charset="0"/>
              </a:rPr>
              <a:t>References</a:t>
            </a:r>
            <a:endParaRPr lang="en-IN" sz="3200" b="1" dirty="0">
              <a:solidFill>
                <a:srgbClr val="0000CC"/>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182D52C-C072-F4AF-C5A1-A533277DECD3}"/>
              </a:ext>
            </a:extLst>
          </p:cNvPr>
          <p:cNvSpPr>
            <a:spLocks noGrp="1"/>
          </p:cNvSpPr>
          <p:nvPr>
            <p:ph idx="1"/>
          </p:nvPr>
        </p:nvSpPr>
        <p:spPr>
          <a:xfrm>
            <a:off x="838200" y="1002890"/>
            <a:ext cx="10515600" cy="5102942"/>
          </a:xfrm>
        </p:spPr>
        <p:txBody>
          <a:bodyPr>
            <a:noAutofit/>
          </a:bodyPr>
          <a:lstStyle/>
          <a:p>
            <a:pPr marL="0" lvl="0" indent="0" algn="just">
              <a:lnSpc>
                <a:spcPct val="75000"/>
              </a:lnSpc>
              <a:spcBef>
                <a:spcPts val="0"/>
              </a:spcBef>
              <a:buSzPts val="800"/>
              <a:buNone/>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[1] M. Blanchet and </a:t>
            </a:r>
            <a:r>
              <a:rPr lang="en-US" sz="1400" dirty="0" err="1">
                <a:effectLst/>
                <a:latin typeface="Times New Roman" panose="02020603050405020304" pitchFamily="18" charset="0"/>
                <a:ea typeface="Times New Roman" panose="02020603050405020304" pitchFamily="18" charset="0"/>
                <a:cs typeface="Times New Roman" panose="02020603050405020304" pitchFamily="18" charset="0"/>
              </a:rPr>
              <a:t>Viagénie</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 “Beyond Earth: Exploring the Future of Deep Space Communications”, IEEE CTN, May 2024</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lvl="0" indent="0" algn="just">
              <a:lnSpc>
                <a:spcPct val="75000"/>
              </a:lnSpc>
              <a:spcBef>
                <a:spcPts val="0"/>
              </a:spcBef>
              <a:buSzPts val="800"/>
              <a:buNone/>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[2] M. Blanchet, C. Huitema, and D. Bogdanovic, “Revisiting the Use of the IP Protocol Stack in Deep Space: Assessment and Possible Solutions,”Ietf.org,Sep.10,2024. https://www.ietf.org/archive/id/draft-many-deepspace-ip-assessment-02.html (accessed Mar. 07, 2025).</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lvl="0" indent="0" algn="just">
              <a:lnSpc>
                <a:spcPct val="75000"/>
              </a:lnSpc>
              <a:spcBef>
                <a:spcPts val="0"/>
              </a:spcBef>
              <a:buSzPts val="800"/>
              <a:buNone/>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[3] M. </a:t>
            </a:r>
            <a:r>
              <a:rPr lang="en-US" sz="1400" dirty="0" err="1">
                <a:effectLst/>
                <a:latin typeface="Times New Roman" panose="02020603050405020304" pitchFamily="18" charset="0"/>
                <a:ea typeface="Times New Roman" panose="02020603050405020304" pitchFamily="18" charset="0"/>
                <a:cs typeface="Times New Roman" panose="02020603050405020304" pitchFamily="18" charset="0"/>
              </a:rPr>
              <a:t>Adalier</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 et al., “Efficient and Secure Autonomous Communications for Deep Space Missions.” 2020 IEEE Aerospace Conference. IEEE, August 2020, pp. 1-15, </a:t>
            </a:r>
            <a:r>
              <a:rPr lang="en-US" sz="1400" dirty="0" err="1">
                <a:effectLst/>
                <a:latin typeface="Times New Roman" panose="02020603050405020304" pitchFamily="18" charset="0"/>
                <a:ea typeface="Times New Roman" panose="02020603050405020304" pitchFamily="18" charset="0"/>
                <a:cs typeface="Times New Roman" panose="02020603050405020304" pitchFamily="18" charset="0"/>
              </a:rPr>
              <a:t>doi</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 10.1109/AERO47225.2020.9172776.</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lvl="0" indent="0" algn="just">
              <a:lnSpc>
                <a:spcPct val="75000"/>
              </a:lnSpc>
              <a:spcBef>
                <a:spcPts val="0"/>
              </a:spcBef>
              <a:buSzPts val="800"/>
              <a:buNone/>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[4] W. Jiang, Y. Zhan, X. Xiao and G. Sha, “Network Simulators for Satellite-Terrestrial Integrated Networks: A Survey.” IEEE, IEEE Access vol. 11, pp. 98269-98292, September 2023, </a:t>
            </a:r>
            <a:r>
              <a:rPr lang="en-US" sz="1400" dirty="0" err="1">
                <a:effectLst/>
                <a:latin typeface="Times New Roman" panose="02020603050405020304" pitchFamily="18" charset="0"/>
                <a:ea typeface="Times New Roman" panose="02020603050405020304" pitchFamily="18" charset="0"/>
                <a:cs typeface="Times New Roman" panose="02020603050405020304" pitchFamily="18" charset="0"/>
              </a:rPr>
              <a:t>doi</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 10.1109/ACCESS.2023.3313229</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lvl="0" indent="0" algn="just">
              <a:lnSpc>
                <a:spcPct val="75000"/>
              </a:lnSpc>
              <a:spcBef>
                <a:spcPts val="0"/>
              </a:spcBef>
              <a:buSzPts val="800"/>
              <a:buNone/>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[5] I. Mehdi, J. Siles, C. Chen and J. Jornet, “THz technology for space communications.” 2018 Asia-Pacific Microwave Conference (APMC). IEEE, November 2018.</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lvl="0" indent="0" algn="just">
              <a:lnSpc>
                <a:spcPct val="75000"/>
              </a:lnSpc>
              <a:spcBef>
                <a:spcPts val="0"/>
              </a:spcBef>
              <a:buSzPts val="800"/>
              <a:buNone/>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[6] S. Manoj, P. Mushahary and R. R. T, "Ka-Band Transmission Link Analysis for Earth-Mars Satellite Communications," </a:t>
            </a:r>
            <a:r>
              <a:rPr lang="en-US" sz="1400" i="1" dirty="0">
                <a:effectLst/>
                <a:latin typeface="Times New Roman" panose="02020603050405020304" pitchFamily="18" charset="0"/>
                <a:ea typeface="Times New Roman" panose="02020603050405020304" pitchFamily="18" charset="0"/>
                <a:cs typeface="Times New Roman" panose="02020603050405020304" pitchFamily="18" charset="0"/>
              </a:rPr>
              <a:t>2024 First International Conference on Innovations in Communications, Electrical and Computer Engineering (ICICEC)</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 Davangere, India, 2024, pp. 1-5, </a:t>
            </a:r>
            <a:r>
              <a:rPr lang="en-US" sz="1400" dirty="0" err="1">
                <a:effectLst/>
                <a:latin typeface="Times New Roman" panose="02020603050405020304" pitchFamily="18" charset="0"/>
                <a:ea typeface="Times New Roman" panose="02020603050405020304" pitchFamily="18" charset="0"/>
                <a:cs typeface="Times New Roman" panose="02020603050405020304" pitchFamily="18" charset="0"/>
              </a:rPr>
              <a:t>doi</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 10.1109/ICICEC62498.2024.10808668.</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lvl="0" indent="0" algn="just">
              <a:lnSpc>
                <a:spcPct val="75000"/>
              </a:lnSpc>
              <a:spcBef>
                <a:spcPts val="0"/>
              </a:spcBef>
              <a:buSzPts val="800"/>
              <a:buNone/>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[7] A. Guidotti, A. Vanelli-</a:t>
            </a:r>
            <a:r>
              <a:rPr lang="en-US" sz="1400" dirty="0" err="1">
                <a:effectLst/>
                <a:latin typeface="Times New Roman" panose="02020603050405020304" pitchFamily="18" charset="0"/>
                <a:ea typeface="Times New Roman" panose="02020603050405020304" pitchFamily="18" charset="0"/>
                <a:cs typeface="Times New Roman" panose="02020603050405020304" pitchFamily="18" charset="0"/>
              </a:rPr>
              <a:t>Coralli</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 A. Mengali, and S. Cioni, “Non-Terrestrial Networks: Link Budget Analysis,” ICC 2020 - 2020 IEEE International Conference on Communications (ICC), Jun. 2020, </a:t>
            </a:r>
            <a:r>
              <a:rPr lang="en-US" sz="1400" dirty="0" err="1">
                <a:effectLst/>
                <a:latin typeface="Times New Roman" panose="02020603050405020304" pitchFamily="18" charset="0"/>
                <a:ea typeface="Times New Roman" panose="02020603050405020304" pitchFamily="18" charset="0"/>
                <a:cs typeface="Times New Roman" panose="02020603050405020304" pitchFamily="18" charset="0"/>
              </a:rPr>
              <a:t>doi</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 https://doi.org/10.1109/icc40277.2020.9149179.</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lvl="0" indent="0" algn="just">
              <a:lnSpc>
                <a:spcPct val="75000"/>
              </a:lnSpc>
              <a:spcBef>
                <a:spcPts val="0"/>
              </a:spcBef>
              <a:buSzPts val="800"/>
              <a:buNone/>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[8] N. Kanth, R. Matthew and R. Mallik, “Wireless quantum key distribution at terahertz frequencies: Opportunities and challenges.” IET Quantum Communication 2024, vol. 4, pp. 450-461 January 2024,</a:t>
            </a:r>
            <a:r>
              <a:rPr lang="en-US" sz="1400" dirty="0">
                <a:solidFill>
                  <a:srgbClr val="2C3E50"/>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ea typeface="Times New Roman" panose="02020603050405020304" pitchFamily="18" charset="0"/>
                <a:cs typeface="Times New Roman" panose="02020603050405020304" pitchFamily="18" charset="0"/>
              </a:rPr>
              <a:t>doi</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 https://doi.org/10.1049/qtc2.12085.</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lvl="0" indent="0" algn="just">
              <a:lnSpc>
                <a:spcPct val="75000"/>
              </a:lnSpc>
              <a:spcBef>
                <a:spcPts val="0"/>
              </a:spcBef>
              <a:buSzPts val="800"/>
              <a:buNone/>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[9] J.-G. Ren </a:t>
            </a:r>
            <a:r>
              <a:rPr lang="en-US" sz="1400" i="1" dirty="0">
                <a:effectLst/>
                <a:latin typeface="Times New Roman" panose="02020603050405020304" pitchFamily="18" charset="0"/>
                <a:ea typeface="Times New Roman" panose="02020603050405020304" pitchFamily="18" charset="0"/>
                <a:cs typeface="Times New Roman" panose="02020603050405020304" pitchFamily="18" charset="0"/>
              </a:rPr>
              <a:t>et al.</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 “Ground-to-satellite quantum teleportation,” </a:t>
            </a:r>
            <a:r>
              <a:rPr lang="en-US" sz="1400" i="1" dirty="0">
                <a:effectLst/>
                <a:latin typeface="Times New Roman" panose="02020603050405020304" pitchFamily="18" charset="0"/>
                <a:ea typeface="Times New Roman" panose="02020603050405020304" pitchFamily="18" charset="0"/>
                <a:cs typeface="Times New Roman" panose="02020603050405020304" pitchFamily="18" charset="0"/>
              </a:rPr>
              <a:t>Nature</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 vol. 549, no. 7670, pp. 70–73, Aug. 2017, </a:t>
            </a:r>
            <a:r>
              <a:rPr lang="en-US" sz="1400" dirty="0" err="1">
                <a:effectLst/>
                <a:latin typeface="Times New Roman" panose="02020603050405020304" pitchFamily="18" charset="0"/>
                <a:ea typeface="Times New Roman" panose="02020603050405020304" pitchFamily="18" charset="0"/>
                <a:cs typeface="Times New Roman" panose="02020603050405020304" pitchFamily="18" charset="0"/>
              </a:rPr>
              <a:t>doi</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 https://doi.org/10.1038/nature23675.</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lvl="0" indent="0" algn="just">
              <a:lnSpc>
                <a:spcPct val="75000"/>
              </a:lnSpc>
              <a:spcBef>
                <a:spcPts val="0"/>
              </a:spcBef>
              <a:buSzPts val="800"/>
              <a:buNone/>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[10] Baker, Cameron, </a:t>
            </a:r>
            <a:r>
              <a:rPr lang="en-US" sz="1400" dirty="0" err="1">
                <a:effectLst/>
                <a:latin typeface="Times New Roman" panose="02020603050405020304" pitchFamily="18" charset="0"/>
                <a:ea typeface="Times New Roman" panose="02020603050405020304" pitchFamily="18" charset="0"/>
                <a:cs typeface="Times New Roman" panose="02020603050405020304" pitchFamily="18" charset="0"/>
              </a:rPr>
              <a:t>Kholidy</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 and A. Hisham, “Cyber Security Advantages of Optical Communications in SATCOM Networks.” SUNY Polytechnic Institute, December 2020</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lvl="0" indent="0" algn="just">
              <a:lnSpc>
                <a:spcPct val="75000"/>
              </a:lnSpc>
              <a:spcBef>
                <a:spcPts val="0"/>
              </a:spcBef>
              <a:buSzPts val="800"/>
              <a:buNone/>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[11] N. </a:t>
            </a:r>
            <a:r>
              <a:rPr lang="en-US" sz="1400" dirty="0" err="1">
                <a:effectLst/>
                <a:latin typeface="Times New Roman" panose="02020603050405020304" pitchFamily="18" charset="0"/>
                <a:ea typeface="Times New Roman" panose="02020603050405020304" pitchFamily="18" charset="0"/>
                <a:cs typeface="Times New Roman" panose="02020603050405020304" pitchFamily="18" charset="0"/>
              </a:rPr>
              <a:t>Virushabadoss</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 N. Mahjabeen, H. Singh, and R. Henderson, “Design of X-and Ka-Band </a:t>
            </a:r>
            <a:r>
              <a:rPr lang="en-US" sz="1400" dirty="0" err="1">
                <a:effectLst/>
                <a:latin typeface="Times New Roman" panose="02020603050405020304" pitchFamily="18" charset="0"/>
                <a:ea typeface="Times New Roman" panose="02020603050405020304" pitchFamily="18" charset="0"/>
                <a:cs typeface="Times New Roman" panose="02020603050405020304" pitchFamily="18" charset="0"/>
              </a:rPr>
              <a:t>Reflectarray</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 Antennas for </a:t>
            </a:r>
            <a:r>
              <a:rPr lang="en-US" sz="1400" dirty="0" err="1">
                <a:effectLst/>
                <a:latin typeface="Times New Roman" panose="02020603050405020304" pitchFamily="18" charset="0"/>
                <a:ea typeface="Times New Roman" panose="02020603050405020304" pitchFamily="18" charset="0"/>
                <a:cs typeface="Times New Roman" panose="02020603050405020304" pitchFamily="18" charset="0"/>
              </a:rPr>
              <a:t>Intercelestial</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 Communication Using CubeSat Relay,” </a:t>
            </a:r>
            <a:r>
              <a:rPr lang="en-US" sz="1400" i="1" dirty="0">
                <a:effectLst/>
                <a:latin typeface="Times New Roman" panose="02020603050405020304" pitchFamily="18" charset="0"/>
                <a:ea typeface="Times New Roman" panose="02020603050405020304" pitchFamily="18" charset="0"/>
                <a:cs typeface="Times New Roman" panose="02020603050405020304" pitchFamily="18" charset="0"/>
              </a:rPr>
              <a:t>2021 IEEE Space Hardware and Radio Conference (</a:t>
            </a:r>
            <a:r>
              <a:rPr lang="en-US" sz="1400" i="1" dirty="0" err="1">
                <a:effectLst/>
                <a:latin typeface="Times New Roman" panose="02020603050405020304" pitchFamily="18" charset="0"/>
                <a:ea typeface="Times New Roman" panose="02020603050405020304" pitchFamily="18" charset="0"/>
                <a:cs typeface="Times New Roman" panose="02020603050405020304" pitchFamily="18" charset="0"/>
              </a:rPr>
              <a:t>SHaRC</a:t>
            </a:r>
            <a:r>
              <a:rPr lang="en-US" sz="1400" i="1"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 pp. 31–34, Jan. 2021, </a:t>
            </a:r>
            <a:r>
              <a:rPr lang="en-US" sz="1400" dirty="0" err="1">
                <a:effectLst/>
                <a:latin typeface="Times New Roman" panose="02020603050405020304" pitchFamily="18" charset="0"/>
                <a:ea typeface="Times New Roman" panose="02020603050405020304" pitchFamily="18" charset="0"/>
                <a:cs typeface="Times New Roman" panose="02020603050405020304" pitchFamily="18" charset="0"/>
              </a:rPr>
              <a:t>doi</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 https://doi.org/10.1109/SHaRC51853.2021.9375885.</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lvl="0" indent="0" algn="just">
              <a:lnSpc>
                <a:spcPct val="75000"/>
              </a:lnSpc>
              <a:spcBef>
                <a:spcPts val="0"/>
              </a:spcBef>
              <a:buSzPts val="800"/>
              <a:buNone/>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[12] G. Amendola, et al., “Low-Earth Orbit User Segment in the Ku and Ka-Band: An Overview of Antennas and RF Front-End Technologies,” IEEE Microwave Magazine, vol. 24, no.2, pp. 32-48, February 2023, </a:t>
            </a:r>
            <a:r>
              <a:rPr lang="en-US" sz="1400" dirty="0" err="1">
                <a:effectLst/>
                <a:latin typeface="Times New Roman" panose="02020603050405020304" pitchFamily="18" charset="0"/>
                <a:ea typeface="Times New Roman" panose="02020603050405020304" pitchFamily="18" charset="0"/>
                <a:cs typeface="Times New Roman" panose="02020603050405020304" pitchFamily="18" charset="0"/>
              </a:rPr>
              <a:t>doi</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 10.1109/MMM.2022.3217961.</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lvl="0" indent="0" algn="just">
              <a:lnSpc>
                <a:spcPct val="75000"/>
              </a:lnSpc>
              <a:spcBef>
                <a:spcPts val="0"/>
              </a:spcBef>
              <a:buSzPts val="800"/>
              <a:buNone/>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[13] R. Dudukovich and C. Papachristou, “Delay tolerant network routing as a machine learning classification problem.” 2018 NASA/ESA Conference on Adaptive Hardware and Systems (AHS). IEEE, pp. 96-103, November 2018,</a:t>
            </a:r>
            <a:r>
              <a:rPr lang="en-US" sz="1400" dirty="0">
                <a:solidFill>
                  <a:srgbClr val="2C3E50"/>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ea typeface="Times New Roman" panose="02020603050405020304" pitchFamily="18" charset="0"/>
                <a:cs typeface="Times New Roman" panose="02020603050405020304" pitchFamily="18" charset="0"/>
              </a:rPr>
              <a:t>doi</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 https://doi.org/10.1109/ahs.2018.8541460.</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lvl="0" indent="0" algn="just">
              <a:lnSpc>
                <a:spcPct val="75000"/>
              </a:lnSpc>
              <a:spcBef>
                <a:spcPts val="0"/>
              </a:spcBef>
              <a:buSzPts val="800"/>
              <a:buNone/>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[14] R. Wang, and S. Horan. "Protocol testing of SCPS-TP over NASA's ACTS asymmetric links." IEEE Transactions on Aerospace and Electronic Systems vol 45, no, pp. 790-798, April 2009, </a:t>
            </a:r>
            <a:r>
              <a:rPr lang="en-US" sz="1400" dirty="0" err="1">
                <a:effectLst/>
                <a:latin typeface="Times New Roman" panose="02020603050405020304" pitchFamily="18" charset="0"/>
                <a:ea typeface="Times New Roman" panose="02020603050405020304" pitchFamily="18" charset="0"/>
                <a:cs typeface="Times New Roman" panose="02020603050405020304" pitchFamily="18" charset="0"/>
              </a:rPr>
              <a:t>doi</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 10.1109/TAES.2009.5089562.</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lvl="0" indent="0" algn="just">
              <a:lnSpc>
                <a:spcPct val="75000"/>
              </a:lnSpc>
              <a:spcBef>
                <a:spcPts val="0"/>
              </a:spcBef>
              <a:buSzPts val="800"/>
              <a:buNone/>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[15] R. S. Sutton, “Reinforcement Learning: An Introduction: An Introduction”. Cambridge, Massachusetts: The Mit Press, 2018.</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lnSpc>
                <a:spcPct val="100000"/>
              </a:lnSpc>
              <a:spcBef>
                <a:spcPts val="0"/>
              </a:spcBef>
              <a:buNone/>
            </a:pPr>
            <a:endParaRPr lang="en-US" sz="1400"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97F4FFF1-8128-45AE-8E0C-AC045E8F8B17}"/>
              </a:ext>
            </a:extLst>
          </p:cNvPr>
          <p:cNvSpPr>
            <a:spLocks noGrp="1"/>
          </p:cNvSpPr>
          <p:nvPr>
            <p:ph type="sldNum" sz="quarter" idx="12"/>
          </p:nvPr>
        </p:nvSpPr>
        <p:spPr/>
        <p:txBody>
          <a:bodyPr/>
          <a:lstStyle/>
          <a:p>
            <a:pPr algn="ctr"/>
            <a:fld id="{5065FCC5-0D2C-40B6-BCDE-2689FBEDE705}" type="slidenum">
              <a:rPr lang="en-IN" smtClean="0">
                <a:latin typeface="Arial" panose="020B0604020202020204" pitchFamily="34" charset="0"/>
                <a:cs typeface="Arial" panose="020B0604020202020204" pitchFamily="34" charset="0"/>
              </a:rPr>
              <a:pPr algn="ctr"/>
              <a:t>13</a:t>
            </a:fld>
            <a:endParaRPr lang="en-IN"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29BEF7B7-C2F6-F90F-D94E-8217083B7C4C}"/>
              </a:ext>
            </a:extLst>
          </p:cNvPr>
          <p:cNvPicPr>
            <a:picLocks noChangeAspect="1"/>
          </p:cNvPicPr>
          <p:nvPr/>
        </p:nvPicPr>
        <p:blipFill>
          <a:blip r:embed="rId2"/>
          <a:stretch>
            <a:fillRect/>
          </a:stretch>
        </p:blipFill>
        <p:spPr>
          <a:xfrm>
            <a:off x="10579039" y="0"/>
            <a:ext cx="1549521" cy="884675"/>
          </a:xfrm>
          <a:prstGeom prst="rect">
            <a:avLst/>
          </a:prstGeom>
        </p:spPr>
      </p:pic>
      <p:sp>
        <p:nvSpPr>
          <p:cNvPr id="8" name="Footer Placeholder 5">
            <a:extLst>
              <a:ext uri="{FF2B5EF4-FFF2-40B4-BE49-F238E27FC236}">
                <a16:creationId xmlns:a16="http://schemas.microsoft.com/office/drawing/2014/main" id="{AB296C80-2A4C-2C98-5BE2-818A7AED7F9F}"/>
              </a:ext>
            </a:extLst>
          </p:cNvPr>
          <p:cNvSpPr>
            <a:spLocks noGrp="1"/>
          </p:cNvSpPr>
          <p:nvPr>
            <p:ph type="ftr" sz="quarter" idx="11"/>
          </p:nvPr>
        </p:nvSpPr>
        <p:spPr>
          <a:xfrm>
            <a:off x="4038600" y="6356350"/>
            <a:ext cx="4114800" cy="365125"/>
          </a:xfrm>
        </p:spPr>
        <p:txBody>
          <a:bodyPr/>
          <a:lstStyle/>
          <a:p>
            <a:r>
              <a:rPr lang="en-IN" dirty="0">
                <a:latin typeface="Arial" panose="020B0604020202020204" pitchFamily="34" charset="0"/>
                <a:cs typeface="Arial" panose="020B0604020202020204" pitchFamily="34" charset="0"/>
              </a:rPr>
              <a:t>SRM Institute of Science and Technology</a:t>
            </a:r>
          </a:p>
        </p:txBody>
      </p:sp>
    </p:spTree>
    <p:extLst>
      <p:ext uri="{BB962C8B-B14F-4D97-AF65-F5344CB8AC3E}">
        <p14:creationId xmlns:p14="http://schemas.microsoft.com/office/powerpoint/2010/main" val="32426760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DAE5B-AAB8-0921-33C1-750CDA4008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99613E-2F34-9475-A49A-D00CA60D0CA5}"/>
              </a:ext>
            </a:extLst>
          </p:cNvPr>
          <p:cNvSpPr>
            <a:spLocks noGrp="1"/>
          </p:cNvSpPr>
          <p:nvPr>
            <p:ph type="title"/>
          </p:nvPr>
        </p:nvSpPr>
        <p:spPr>
          <a:xfrm>
            <a:off x="838200" y="365125"/>
            <a:ext cx="10515600" cy="460785"/>
          </a:xfrm>
        </p:spPr>
        <p:txBody>
          <a:bodyPr>
            <a:normAutofit fontScale="90000"/>
          </a:bodyPr>
          <a:lstStyle/>
          <a:p>
            <a:pPr algn="ctr"/>
            <a:r>
              <a:rPr lang="en-US" sz="3200" b="1" dirty="0">
                <a:solidFill>
                  <a:srgbClr val="0000CC"/>
                </a:solidFill>
                <a:latin typeface="Times New Roman" panose="02020603050405020304" pitchFamily="18" charset="0"/>
                <a:cs typeface="Times New Roman" panose="02020603050405020304" pitchFamily="18" charset="0"/>
              </a:rPr>
              <a:t>Publication Details</a:t>
            </a:r>
            <a:endParaRPr lang="en-IN" sz="3200" b="1" dirty="0">
              <a:solidFill>
                <a:srgbClr val="0000CC"/>
              </a:solidFill>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DEB21A43-C6F1-7ACD-BAF5-31B08EAC7ECA}"/>
              </a:ext>
            </a:extLst>
          </p:cNvPr>
          <p:cNvSpPr>
            <a:spLocks noGrp="1"/>
          </p:cNvSpPr>
          <p:nvPr>
            <p:ph type="sldNum" sz="quarter" idx="12"/>
          </p:nvPr>
        </p:nvSpPr>
        <p:spPr/>
        <p:txBody>
          <a:bodyPr/>
          <a:lstStyle/>
          <a:p>
            <a:pPr algn="ctr"/>
            <a:fld id="{5065FCC5-0D2C-40B6-BCDE-2689FBEDE705}" type="slidenum">
              <a:rPr lang="en-IN" smtClean="0">
                <a:latin typeface="Arial" panose="020B0604020202020204" pitchFamily="34" charset="0"/>
                <a:cs typeface="Arial" panose="020B0604020202020204" pitchFamily="34" charset="0"/>
              </a:rPr>
              <a:pPr algn="ctr"/>
              <a:t>14</a:t>
            </a:fld>
            <a:endParaRPr lang="en-IN"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7CFE6A48-BC10-79A1-F4D2-4F8ED0379319}"/>
              </a:ext>
            </a:extLst>
          </p:cNvPr>
          <p:cNvPicPr>
            <a:picLocks noChangeAspect="1"/>
          </p:cNvPicPr>
          <p:nvPr/>
        </p:nvPicPr>
        <p:blipFill>
          <a:blip r:embed="rId2"/>
          <a:stretch>
            <a:fillRect/>
          </a:stretch>
        </p:blipFill>
        <p:spPr>
          <a:xfrm>
            <a:off x="10579039" y="0"/>
            <a:ext cx="1549521" cy="884675"/>
          </a:xfrm>
          <a:prstGeom prst="rect">
            <a:avLst/>
          </a:prstGeom>
        </p:spPr>
      </p:pic>
      <p:sp>
        <p:nvSpPr>
          <p:cNvPr id="8" name="Footer Placeholder 5">
            <a:extLst>
              <a:ext uri="{FF2B5EF4-FFF2-40B4-BE49-F238E27FC236}">
                <a16:creationId xmlns:a16="http://schemas.microsoft.com/office/drawing/2014/main" id="{EEBE59A0-F38C-EB9D-A26B-9C8F2141E242}"/>
              </a:ext>
            </a:extLst>
          </p:cNvPr>
          <p:cNvSpPr>
            <a:spLocks noGrp="1"/>
          </p:cNvSpPr>
          <p:nvPr>
            <p:ph type="ftr" sz="quarter" idx="11"/>
          </p:nvPr>
        </p:nvSpPr>
        <p:spPr>
          <a:xfrm>
            <a:off x="4038600" y="6356350"/>
            <a:ext cx="4114800" cy="365125"/>
          </a:xfrm>
        </p:spPr>
        <p:txBody>
          <a:bodyPr/>
          <a:lstStyle/>
          <a:p>
            <a:r>
              <a:rPr lang="en-IN" dirty="0">
                <a:latin typeface="Arial" panose="020B0604020202020204" pitchFamily="34" charset="0"/>
                <a:cs typeface="Arial" panose="020B0604020202020204" pitchFamily="34" charset="0"/>
              </a:rPr>
              <a:t>SRM Institute of Science and Technology</a:t>
            </a:r>
          </a:p>
        </p:txBody>
      </p:sp>
      <p:pic>
        <p:nvPicPr>
          <p:cNvPr id="9" name="Picture 8">
            <a:extLst>
              <a:ext uri="{FF2B5EF4-FFF2-40B4-BE49-F238E27FC236}">
                <a16:creationId xmlns:a16="http://schemas.microsoft.com/office/drawing/2014/main" id="{4A07DCF0-0C16-C402-8A7E-197FD700EC16}"/>
              </a:ext>
            </a:extLst>
          </p:cNvPr>
          <p:cNvPicPr>
            <a:picLocks noChangeAspect="1"/>
          </p:cNvPicPr>
          <p:nvPr/>
        </p:nvPicPr>
        <p:blipFill>
          <a:blip r:embed="rId3"/>
          <a:stretch>
            <a:fillRect/>
          </a:stretch>
        </p:blipFill>
        <p:spPr>
          <a:xfrm>
            <a:off x="474186" y="1867232"/>
            <a:ext cx="5816599" cy="3885285"/>
          </a:xfrm>
          <a:prstGeom prst="rect">
            <a:avLst/>
          </a:prstGeom>
        </p:spPr>
      </p:pic>
      <p:pic>
        <p:nvPicPr>
          <p:cNvPr id="10" name="Picture 9">
            <a:extLst>
              <a:ext uri="{FF2B5EF4-FFF2-40B4-BE49-F238E27FC236}">
                <a16:creationId xmlns:a16="http://schemas.microsoft.com/office/drawing/2014/main" id="{53412B23-AA55-2A0D-992C-86DB36A7977C}"/>
              </a:ext>
            </a:extLst>
          </p:cNvPr>
          <p:cNvPicPr>
            <a:picLocks noChangeAspect="1"/>
          </p:cNvPicPr>
          <p:nvPr/>
        </p:nvPicPr>
        <p:blipFill>
          <a:blip r:embed="rId4"/>
          <a:stretch>
            <a:fillRect/>
          </a:stretch>
        </p:blipFill>
        <p:spPr>
          <a:xfrm>
            <a:off x="7040182" y="1701673"/>
            <a:ext cx="3140836" cy="2080810"/>
          </a:xfrm>
          <a:prstGeom prst="rect">
            <a:avLst/>
          </a:prstGeom>
        </p:spPr>
      </p:pic>
      <p:sp>
        <p:nvSpPr>
          <p:cNvPr id="11" name="TextBox 10">
            <a:extLst>
              <a:ext uri="{FF2B5EF4-FFF2-40B4-BE49-F238E27FC236}">
                <a16:creationId xmlns:a16="http://schemas.microsoft.com/office/drawing/2014/main" id="{D74618B8-8387-057C-A6A0-601B6BB6F5C1}"/>
              </a:ext>
            </a:extLst>
          </p:cNvPr>
          <p:cNvSpPr txBox="1"/>
          <p:nvPr/>
        </p:nvSpPr>
        <p:spPr>
          <a:xfrm>
            <a:off x="362653" y="884906"/>
            <a:ext cx="11466694" cy="923330"/>
          </a:xfrm>
          <a:prstGeom prst="rect">
            <a:avLst/>
          </a:prstGeom>
          <a:noFill/>
        </p:spPr>
        <p:txBody>
          <a:bodyPr wrap="square" rtlCol="0">
            <a:spAutoFit/>
          </a:bodyPr>
          <a:lstStyle/>
          <a:p>
            <a:r>
              <a:rPr lang="en-GB" sz="1800" kern="100" dirty="0">
                <a:solidFill>
                  <a:srgbClr val="000000"/>
                </a:solidFill>
                <a:effectLst/>
                <a:latin typeface="Times New Roman" panose="02020603050405020304" pitchFamily="18" charset="0"/>
                <a:ea typeface="Calibri" panose="020F0502020204030204" pitchFamily="34" charset="0"/>
              </a:rPr>
              <a:t>Our paper entitled ‘Deep Space Communication utilizing IP Stack and Reinforcement Learning Algorithm’ was presented at </a:t>
            </a:r>
            <a:r>
              <a:rPr lang="en-IN" sz="1800" kern="100" dirty="0">
                <a:solidFill>
                  <a:srgbClr val="000000"/>
                </a:solidFill>
                <a:effectLst/>
                <a:latin typeface="Times New Roman" panose="02020603050405020304" pitchFamily="18" charset="0"/>
                <a:ea typeface="Calibri" panose="020F0502020204030204" pitchFamily="34" charset="0"/>
              </a:rPr>
              <a:t>IEEE co-sponsored International Conference on Wireless Communications, Signal Processing and Networking (WISPNET) 2025 on 22</a:t>
            </a:r>
            <a:r>
              <a:rPr lang="en-IN" sz="1800" kern="100" baseline="30000" dirty="0">
                <a:solidFill>
                  <a:srgbClr val="000000"/>
                </a:solidFill>
                <a:effectLst/>
                <a:latin typeface="Times New Roman" panose="02020603050405020304" pitchFamily="18" charset="0"/>
                <a:ea typeface="Calibri" panose="020F0502020204030204" pitchFamily="34" charset="0"/>
              </a:rPr>
              <a:t>nd</a:t>
            </a:r>
            <a:r>
              <a:rPr lang="en-IN" sz="1800" kern="100" dirty="0">
                <a:solidFill>
                  <a:srgbClr val="000000"/>
                </a:solidFill>
                <a:effectLst/>
                <a:latin typeface="Times New Roman" panose="02020603050405020304" pitchFamily="18" charset="0"/>
                <a:ea typeface="Calibri" panose="020F0502020204030204" pitchFamily="34" charset="0"/>
              </a:rPr>
              <a:t> March 2025. </a:t>
            </a:r>
            <a:endParaRPr lang="en-IN" sz="1800" kern="100" dirty="0">
              <a:solidFill>
                <a:srgbClr val="000000"/>
              </a:solidFill>
              <a:effectLst/>
              <a:latin typeface="Calibri" panose="020F0502020204030204" pitchFamily="34" charset="0"/>
              <a:ea typeface="Calibri" panose="020F0502020204030204" pitchFamily="34" charset="0"/>
            </a:endParaRPr>
          </a:p>
        </p:txBody>
      </p:sp>
      <p:pic>
        <p:nvPicPr>
          <p:cNvPr id="4" name="Picture 3">
            <a:extLst>
              <a:ext uri="{FF2B5EF4-FFF2-40B4-BE49-F238E27FC236}">
                <a16:creationId xmlns:a16="http://schemas.microsoft.com/office/drawing/2014/main" id="{8FB04EDA-B4AC-4C01-3795-264D88E72689}"/>
              </a:ext>
            </a:extLst>
          </p:cNvPr>
          <p:cNvPicPr>
            <a:picLocks noChangeAspect="1"/>
          </p:cNvPicPr>
          <p:nvPr/>
        </p:nvPicPr>
        <p:blipFill>
          <a:blip r:embed="rId5">
            <a:extLst>
              <a:ext uri="{28A0092B-C50C-407E-A947-70E740481C1C}">
                <a14:useLocalDpi xmlns:a14="http://schemas.microsoft.com/office/drawing/2010/main" val="0"/>
              </a:ext>
            </a:extLst>
          </a:blip>
          <a:srcRect l="5189" t="5662" r="2981" b="2634"/>
          <a:stretch>
            <a:fillRect/>
          </a:stretch>
        </p:blipFill>
        <p:spPr>
          <a:xfrm>
            <a:off x="7040182" y="3892284"/>
            <a:ext cx="3216886" cy="2080810"/>
          </a:xfrm>
          <a:prstGeom prst="rect">
            <a:avLst/>
          </a:prstGeom>
        </p:spPr>
      </p:pic>
    </p:spTree>
    <p:extLst>
      <p:ext uri="{BB962C8B-B14F-4D97-AF65-F5344CB8AC3E}">
        <p14:creationId xmlns:p14="http://schemas.microsoft.com/office/powerpoint/2010/main" val="9364456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41E3A7F-3665-1277-C600-5585BA1BE18F}"/>
              </a:ext>
            </a:extLst>
          </p:cNvPr>
          <p:cNvPicPr>
            <a:picLocks noChangeAspect="1"/>
          </p:cNvPicPr>
          <p:nvPr/>
        </p:nvPicPr>
        <p:blipFill>
          <a:blip r:embed="rId2"/>
          <a:stretch>
            <a:fillRect/>
          </a:stretch>
        </p:blipFill>
        <p:spPr>
          <a:xfrm>
            <a:off x="4724401" y="1828800"/>
            <a:ext cx="2475191" cy="2213040"/>
          </a:xfrm>
          <a:prstGeom prst="rect">
            <a:avLst/>
          </a:prstGeom>
        </p:spPr>
      </p:pic>
      <p:sp>
        <p:nvSpPr>
          <p:cNvPr id="4" name="Slide Number Placeholder 3">
            <a:extLst>
              <a:ext uri="{FF2B5EF4-FFF2-40B4-BE49-F238E27FC236}">
                <a16:creationId xmlns:a16="http://schemas.microsoft.com/office/drawing/2014/main" id="{2F4C6513-0F1A-520F-1A00-A33A2F5CB1C6}"/>
              </a:ext>
            </a:extLst>
          </p:cNvPr>
          <p:cNvSpPr>
            <a:spLocks noGrp="1"/>
          </p:cNvSpPr>
          <p:nvPr>
            <p:ph type="sldNum" sz="quarter" idx="12"/>
          </p:nvPr>
        </p:nvSpPr>
        <p:spPr>
          <a:xfrm>
            <a:off x="8567522" y="6356350"/>
            <a:ext cx="2844800" cy="365125"/>
          </a:xfrm>
        </p:spPr>
        <p:txBody>
          <a:bodyPr/>
          <a:lstStyle/>
          <a:p>
            <a:fld id="{E375ED0F-F618-4291-A2C2-B9BB086914EB}" type="slidenum">
              <a:rPr lang="en-US" smtClean="0"/>
              <a:pPr/>
              <a:t>15</a:t>
            </a:fld>
            <a:endParaRPr lang="en-US" dirty="0"/>
          </a:p>
        </p:txBody>
      </p:sp>
      <p:pic>
        <p:nvPicPr>
          <p:cNvPr id="5" name="Picture 4">
            <a:extLst>
              <a:ext uri="{FF2B5EF4-FFF2-40B4-BE49-F238E27FC236}">
                <a16:creationId xmlns:a16="http://schemas.microsoft.com/office/drawing/2014/main" id="{2FB3F473-2FD3-E3DB-24E8-478188129767}"/>
              </a:ext>
            </a:extLst>
          </p:cNvPr>
          <p:cNvPicPr>
            <a:picLocks noChangeAspect="1"/>
          </p:cNvPicPr>
          <p:nvPr/>
        </p:nvPicPr>
        <p:blipFill>
          <a:blip r:embed="rId3"/>
          <a:stretch>
            <a:fillRect/>
          </a:stretch>
        </p:blipFill>
        <p:spPr>
          <a:xfrm>
            <a:off x="10579039" y="0"/>
            <a:ext cx="1549521" cy="884675"/>
          </a:xfrm>
          <a:prstGeom prst="rect">
            <a:avLst/>
          </a:prstGeom>
        </p:spPr>
      </p:pic>
      <p:sp>
        <p:nvSpPr>
          <p:cNvPr id="6" name="Footer Placeholder 5">
            <a:extLst>
              <a:ext uri="{FF2B5EF4-FFF2-40B4-BE49-F238E27FC236}">
                <a16:creationId xmlns:a16="http://schemas.microsoft.com/office/drawing/2014/main" id="{9700679C-09B2-630A-9A52-15F12C180FE7}"/>
              </a:ext>
            </a:extLst>
          </p:cNvPr>
          <p:cNvSpPr>
            <a:spLocks noGrp="1"/>
          </p:cNvSpPr>
          <p:nvPr>
            <p:ph type="ftr" sz="quarter" idx="11"/>
          </p:nvPr>
        </p:nvSpPr>
        <p:spPr>
          <a:xfrm>
            <a:off x="4038600" y="6356350"/>
            <a:ext cx="4114800" cy="365125"/>
          </a:xfrm>
        </p:spPr>
        <p:txBody>
          <a:bodyPr/>
          <a:lstStyle/>
          <a:p>
            <a:r>
              <a:rPr lang="en-IN" dirty="0">
                <a:latin typeface="Arial" panose="020B0604020202020204" pitchFamily="34" charset="0"/>
                <a:cs typeface="Arial" panose="020B0604020202020204" pitchFamily="34" charset="0"/>
              </a:rPr>
              <a:t>SRM Institute of Science and Technology</a:t>
            </a:r>
          </a:p>
        </p:txBody>
      </p:sp>
    </p:spTree>
    <p:extLst>
      <p:ext uri="{BB962C8B-B14F-4D97-AF65-F5344CB8AC3E}">
        <p14:creationId xmlns:p14="http://schemas.microsoft.com/office/powerpoint/2010/main" val="31062971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2825</TotalTime>
  <Words>2123</Words>
  <Application>Microsoft Office PowerPoint</Application>
  <PresentationFormat>Widescreen</PresentationFormat>
  <Paragraphs>256</Paragraphs>
  <Slides>15</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Aptos</vt:lpstr>
      <vt:lpstr>Aptos Display</vt:lpstr>
      <vt:lpstr>Arial</vt:lpstr>
      <vt:lpstr>Calibri</vt:lpstr>
      <vt:lpstr>Cambria Math</vt:lpstr>
      <vt:lpstr>Times New Roman</vt:lpstr>
      <vt:lpstr>Office Theme</vt:lpstr>
      <vt:lpstr>PowerPoint Presentation</vt:lpstr>
      <vt:lpstr>Introduction &amp; Motivation</vt:lpstr>
      <vt:lpstr>Research Methodology</vt:lpstr>
      <vt:lpstr>Research Methodology</vt:lpstr>
      <vt:lpstr>Results &amp; Discussion</vt:lpstr>
      <vt:lpstr>Results &amp; Discussion</vt:lpstr>
      <vt:lpstr>SCPS/IPv6 Implementation</vt:lpstr>
      <vt:lpstr>SCPS-TP vs LTP Performance</vt:lpstr>
      <vt:lpstr>Reinforcement Learning &amp; Anomaly Detection</vt:lpstr>
      <vt:lpstr>Comparison of DTN protocols</vt:lpstr>
      <vt:lpstr>Comparison of DTN protocols</vt:lpstr>
      <vt:lpstr>Conclusion and Future work</vt:lpstr>
      <vt:lpstr>References</vt:lpstr>
      <vt:lpstr>Publication Details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 Hemalatha</dc:creator>
  <cp:lastModifiedBy>Philius M</cp:lastModifiedBy>
  <cp:revision>22</cp:revision>
  <dcterms:created xsi:type="dcterms:W3CDTF">2025-03-09T12:57:14Z</dcterms:created>
  <dcterms:modified xsi:type="dcterms:W3CDTF">2026-09-30T14:10:48Z</dcterms:modified>
</cp:coreProperties>
</file>